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5"/>
    <p:sldId id="257" r:id="rId3"/>
    <p:sldId id="258" r:id="rId11"/>
    <p:sldId id="259" r:id="rId12"/>
    <p:sldId id="260" r:id="rId13"/>
    <p:sldId id="261" r:id="rId14"/>
    <p:sldId id="262" r:id="rId15"/>
    <p:sldId id="263" r:id="rId16"/>
    <p:sldId id="264" r:id="rId17"/>
    <p:sldId id="265" r:id="rId18"/>
    <p:sldId id="266" r:id="rId19"/>
    <p:sldId id="2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6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9876C2-3A24-4D4E-A368-9EFC76731DD5}" v="1" dt="2026-08-09T03:36:03.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a:t>
            </a:r>
          </a:p>
          <a:p/>
          <a:p>
            <a:r>
              <a:t>Here's a claim you have heard a hundred times. Pretrained networks beat training from scratch.</a:t>
            </a:r>
          </a:p>
          <a:p/>
          <a:p>
            <a:r>
              <a:t>It's true. It is also confounded, and almost nobody checks.</a:t>
            </a:r>
          </a:p>
          <a:p/>
          <a:p>
            <a:r>
              <a:t>[pause]</a:t>
            </a:r>
          </a:p>
          <a:p/>
          <a:p>
            <a:r>
              <a:t>Because the moment you freeze the early layers of a pretrained network, you have changed two things at the same time. You get better features. You also get a smaller optimization problem. Every paper that reports that comparison is reporting both effects as a single number, and then attributing the whole thing to the features.</a:t>
            </a:r>
          </a:p>
          <a:p/>
          <a:p>
            <a:r>
              <a:t>So I built the experiment that pulls them apart. ResNet-18, six-class scene classification, three conditions. One of those conditions is a model that nobody would ever deploy on purpose, and that useless model is where the entire answer comes from.</a:t>
            </a:r>
          </a:p>
          <a:p/>
          <a:p>
            <a:r>
              <a:t>I'm Shri. The short version is that it really is mostly the features, and by the end of this I can put a number on exactly how much.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Agenda and Introduction</a:t>
            </a:r>
          </a:p>
          <a:p/>
          <a:p>
            <a:r>
              <a:t>Quick map. Problem, objectives, prior work, method, then three slides of results, then what it means and what it doesn't.</a:t>
            </a:r>
          </a:p>
          <a:p/>
          <a:p>
            <a:r>
              <a:t>[point: the three blocks]</a:t>
            </a:r>
          </a:p>
          <a:p/>
          <a:p>
            <a:r>
              <a:t>Here's the setup. Loading ImageNet weights into a backbone, freezing the early layers and fine-tuning the tail is what essentially everyone does below a few thousand images. It is not a technique so much as a default.</a:t>
            </a:r>
          </a:p>
          <a:p/>
          <a:p>
            <a:r>
              <a:t>The task is six-class natural scenes. Buildings, forest, glacier, mountain, sea, street. Fourteen thousand training images, three thousand held completely out.</a:t>
            </a:r>
          </a:p>
          <a:p/>
          <a:p>
            <a:r>
              <a:t>And the default demonstrably works. My question is what makes it work. Genuinely better features, or just a smaller problem for the optimizer to solve?</a:t>
            </a:r>
          </a:p>
          <a:p/>
          <a:p>
            <a:r>
              <a:t>[pause]</a:t>
            </a:r>
          </a:p>
          <a:p/>
          <a:p>
            <a:r>
              <a:t>Both answers predict the same headline number. That's the whole difficulty, and it's what the next slide is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Problem Statement and Research Objectives</a:t>
            </a:r>
          </a:p>
          <a:p/>
          <a:p>
            <a:r>
              <a:t>Let me make the trap concrete.</a:t>
            </a:r>
          </a:p>
          <a:p/>
          <a:p>
            <a:r>
              <a:t>[point: the observed band]</a:t>
            </a:r>
          </a:p>
          <a:p/>
          <a:p>
            <a:r>
              <a:t>This is the observation everyone reports. A pretrained, partly frozen network beats one trained from scratch. Now, two completely different explanations sit underneath it.</a:t>
            </a:r>
          </a:p>
          <a:p/>
          <a:p>
            <a:r>
              <a:t>[point: Factor A]</a:t>
            </a:r>
          </a:p>
          <a:p/>
          <a:p>
            <a:r>
              <a:t>Factor A is feature quality. Those frozen weights already encode edges, textures and shapes learned from a million labeled images, before your data ever arrives.</a:t>
            </a:r>
          </a:p>
          <a:p/>
          <a:p>
            <a:r>
              <a:t>[point: Factor B]</a:t>
            </a:r>
          </a:p>
          <a:p/>
          <a:p>
            <a:r>
              <a:t>Factor B is trainable capacity. Freezing also shrinks how many parameters the optimizer can move, and on fourteen thousand images a smaller model is simply easier to fit, whether the frozen weights are meaningful or complete noise.</a:t>
            </a:r>
          </a:p>
          <a:p/>
          <a:p>
            <a:r>
              <a:t>[pause]</a:t>
            </a:r>
          </a:p>
          <a:p/>
          <a:p>
            <a:r>
              <a:t>Both predict a win. So when the pretrained model wins, you cannot say which one earned it. The goal is a design that moves one at a time.</a:t>
            </a:r>
          </a:p>
          <a:p/>
          <a:p>
            <a:r>
              <a:t>[point: objectives]</a:t>
            </a:r>
          </a:p>
          <a:p/>
          <a:p>
            <a:r>
              <a:t>Hence four objectives. O1 measures feature quality with capacity nailed down. O2 measures capacity alone. O3 asks where fine-tuning stops paying. O4 asks how far up the influence of the first convolution reaches.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Literature Review</a:t>
            </a:r>
          </a:p>
          <a:p/>
          <a:p>
            <a:r>
              <a:t>Four things are already established. One thing isn't.</a:t>
            </a:r>
          </a:p>
          <a:p/>
          <a:p>
            <a:r>
              <a:t>Frozen pretrained features plus a linear classifier is a strong baseline across tasks, and ImageNet accuracy predicts transfer accuracy. Razavian and Kornblith.</a:t>
            </a:r>
          </a:p>
          <a:p/>
          <a:p>
            <a:r>
              <a:t>Transferability is layer-dependent. Early layers learn generic edge and texture filters that transfer almost anywhere; later layers specialize to whatever they were trained on. Yosinski.</a:t>
            </a:r>
          </a:p>
          <a:p/>
          <a:p>
            <a:r>
              <a:t>Random weights are a legitimate baseline, not a strawman. Untrained filters still produce usable representations, because the architecture itself does real work. Jarrett and Saxe. That result is what licenses my control condition.</a:t>
            </a:r>
          </a:p>
          <a:p/>
          <a:p>
            <a:r>
              <a:t>And transfer gains can be over-parameterization rather than feature reuse. Raghu found precisely that in medical imaging. That is the closest prior work to what I'm doing.</a:t>
            </a:r>
          </a:p>
          <a:p/>
          <a:p>
            <a:r>
              <a:t>[pause]</a:t>
            </a:r>
          </a:p>
          <a:p/>
          <a:p>
            <a:r>
              <a:t>[point: Gap]</a:t>
            </a:r>
          </a:p>
          <a:p/>
          <a:p>
            <a:r>
              <a:t>And here is what nobody has done. No study holds trainable capacity fixed while varying only the quality of the frozen features, on one architecture. That gap is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Methodology</a:t>
            </a:r>
          </a:p>
          <a:p/>
          <a:p>
            <a:r>
              <a:t>The way you close that gap is by adding a condition that makes no sense on its own.</a:t>
            </a:r>
          </a:p>
          <a:p/>
          <a:p>
            <a:r>
              <a:t>[point: table rows]</a:t>
            </a:r>
          </a:p>
          <a:p/>
          <a:p>
            <a:r>
              <a:t>Pretrained-Frozen: ImageNet weights, frozen, train the tail. Random-Full: everything random, everything trainable.</a:t>
            </a:r>
          </a:p>
          <a:p/>
          <a:p>
            <a:r>
              <a:t>And then the strange one in the middle. Random-Frozen. Random weights up front, frozen at their random values, with the exact same trainable tail as the pretrained model. You are deliberately freezing garbage and training a classifier on top of it. Nobody would ever ship this.</a:t>
            </a:r>
          </a:p>
          <a:p/>
          <a:p>
            <a:r>
              <a:t>[point: the share bars]</a:t>
            </a:r>
          </a:p>
          <a:p/>
          <a:p>
            <a:r>
              <a:t>But look at those two bars. The top two have identical trainable parameters, down to the individual weight. So Pretrained-Frozen against Random-Frozen isolates feature quality. And Random-Frozen against Random-Full isolates capacity.</a:t>
            </a:r>
          </a:p>
          <a:p/>
          <a:p>
            <a:r>
              <a:t>Two comparisons. One variable each.</a:t>
            </a:r>
          </a:p>
          <a:p/>
          <a:p>
            <a:r>
              <a:t>[point: layer strip]</a:t>
            </a:r>
          </a:p>
          <a:p/>
          <a:p>
            <a:r>
              <a:t>Concretely the cut is conv1 through layer3 frozen, layer4 and the classifier trainable.</a:t>
            </a:r>
          </a:p>
          <a:p/>
          <a:p>
            <a:r>
              <a:t>[slow]</a:t>
            </a:r>
          </a:p>
          <a:p/>
          <a:p>
            <a:r>
              <a:t>And one detail here nearly cost me the study. Setting requires_grad to False does not freeze batch normalization. The running statistics keep updating on every forward pass, so a block you believe is frozen is quietly drifting underneath you. Both frozen conditions hold batch norm in eval mode for the entire run.</a:t>
            </a:r>
          </a:p>
          <a:p/>
          <a:p>
            <a:r>
              <a:t>[point: protocol]</a:t>
            </a:r>
          </a:p>
          <a:p/>
          <a:p>
            <a:r>
              <a:t>Everything else is constant, and the test set is opened exactly once, after every decision has already been made.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Results I</a:t>
            </a:r>
          </a:p>
          <a:p/>
          <a:p>
            <a:r>
              <a:t>Here is the payoff.</a:t>
            </a:r>
          </a:p>
          <a:p/>
          <a:p>
            <a:r>
              <a:t>[point: bars]</a:t>
            </a:r>
          </a:p>
          <a:p/>
          <a:p>
            <a:r>
              <a:t>Pretrained-Frozen, 93.3 percent. Trained from scratch, 84.7. And the control, frozen random features, 66.5.</a:t>
            </a:r>
          </a:p>
          <a:p/>
          <a:p>
            <a:r>
              <a:t>Now the comparison this entire design was built for. Pretrained-Frozen against Random-Frozen. Identical trainable parameters, identical data, identical recipe, identical everything. The only difference between those two runs is whether the frozen weights came from ImageNet or from a random number generator.</a:t>
            </a:r>
          </a:p>
          <a:p/>
          <a:p>
            <a:r>
              <a:t>[pause]</a:t>
            </a:r>
          </a:p>
          <a:p/>
          <a:p>
            <a:r>
              <a:t>Twenty-six point seven points.</a:t>
            </a:r>
          </a:p>
          <a:p/>
          <a:p>
            <a:r>
              <a:t>[pause]</a:t>
            </a:r>
          </a:p>
          <a:p/>
          <a:p>
            <a:r>
              <a:t>That number is pretraining by itself, with capacity held fixed. No naive comparison can produce it, which is the point.</a:t>
            </a:r>
          </a:p>
          <a:p/>
          <a:p>
            <a:r>
              <a:t>The second comparison, 66.5 climbing to 84.7, is capacity on its own. About eighteen points. So capacity is real. It's just the smaller of the two effects.</a:t>
            </a:r>
          </a:p>
          <a:p/>
          <a:p>
            <a:r>
              <a:t>[point: cost table]</a:t>
            </a:r>
          </a:p>
          <a:p/>
          <a:p>
            <a:r>
              <a:t>And it isn't free either. Scratch needs fifteen epochs against eight, roughly four times the wall clock, and still finishes nine points short.</a:t>
            </a:r>
          </a:p>
          <a:p/>
          <a:p>
            <a:r>
              <a:t>[point: curves]</a:t>
            </a:r>
          </a:p>
          <a:p/>
          <a:p>
            <a:r>
              <a:t>The curves show why the gap opens so fast. Pretrained-Frozen is already above 93 percent at epoch one, before it has learned anything worth mentioning, and it's flat by epoch four. Random-Full grinds upward for twelve to seventeen epochs to a lower plateau. Random-Frozen is the noisy band along the bottom that never settles: plenty of capacity, nothing useful to work with.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Results II</a:t>
            </a:r>
          </a:p>
          <a:p/>
          <a:p>
            <a:r>
              <a:t>So why are the pretrained features better? Rather than argue about it, let's look at them.</a:t>
            </a:r>
          </a:p>
          <a:p/>
          <a:p>
            <a:r>
              <a:t>[point: left panel]</a:t>
            </a:r>
          </a:p>
          <a:p/>
          <a:p>
            <a:r>
              <a:t>These are the 512-dimensional activations from the layer just before the classifier, projected down to two dimensions. On the left, pretrained-frozen. Six clean clusters, and remember, this is before the classifier does anything at all.</a:t>
            </a:r>
          </a:p>
          <a:p/>
          <a:p>
            <a:r>
              <a:t>Now look at which clusters touch. Glacier, mountain and sea bleed together here. Buildings and street bleed together there. Hold that thought.</a:t>
            </a:r>
          </a:p>
          <a:p/>
          <a:p>
            <a:r>
              <a:t>[point: right panel]</a:t>
            </a:r>
          </a:p>
          <a:p/>
          <a:p>
            <a:r>
              <a:t>On the right, random-frozen. Same projection, same images. Forest pulls away slightly, which is fair, it's the most distinctive class. Everything else is one undifferentiated cloud. One classifier is handed structure. The other is handed mush and asked to draw boundaries in it.</a:t>
            </a:r>
          </a:p>
          <a:p/>
          <a:p>
            <a:r>
              <a:t>[point: matrix]</a:t>
            </a:r>
          </a:p>
          <a:p/>
          <a:p>
            <a:r>
              <a:t>And here's the payoff. Two clusters carry almost all of the error. Glacier confused with mountain, 71 one way and 28 back. Buildings with street, about 27 each direction. Every other cell is essentially empty.</a:t>
            </a:r>
          </a:p>
          <a:p/>
          <a:p>
            <a:r>
              <a:t>Those are exactly the pairs that overlapped in the feature space. The representation predicted the failure modes before the classifier ever ran. And the same two clusters dominate in all three conditions, just far larger under random init, which tells me the errors track genuine visual ambiguity in the data rather than a broken training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Results III</a:t>
            </a:r>
          </a:p>
          <a:p/>
          <a:p>
            <a:r>
              <a:t>Two follow-up experiments.</a:t>
            </a:r>
          </a:p>
          <a:p/>
          <a:p>
            <a:r>
              <a:t>[point: left plot]</a:t>
            </a:r>
          </a:p>
          <a:p/>
          <a:p>
            <a:r>
              <a:t>The first. I cut at layer4 because that's standard practice, and standard practice is not evidence, so I swept it. Far left is a bare linear probe: three thousand trainable parameters, everything else frozen, already at 91.3 percent. Unfreezing layer4 buys the last point and a half.</a:t>
            </a:r>
          </a:p>
          <a:p/>
          <a:p>
            <a:r>
              <a:t>And then the curve simply stops. layer3, layer2, the whole network, all landing on the same number at three and a half times the parameters. The elbow is exactly where I cut, and nearly all of pretraining's value is available with almost no fine-tuning.</a:t>
            </a:r>
          </a:p>
          <a:p/>
          <a:p>
            <a:r>
              <a:t>[point: right plot]</a:t>
            </a:r>
          </a:p>
          <a:p/>
          <a:p>
            <a:r>
              <a:t>The second came from a question Professor Maxwell asked. Suppose you don't learn the first layer at all. I replaced conv1 with a fixed Gabor bank, froze it permanently, and asked how far up the network re-adaptation has to reach before the damage is absorbed.</a:t>
            </a:r>
          </a:p>
          <a:p/>
          <a:p>
            <a:r>
              <a:t>A read-out alone sits ten points low. Unfreeze just the very next stage, layer1, and five of those points come straight back. Then nothing: layer2, layer3, layer4 add essentially zero. So the first layer's influence reaches about one stage up and is absorbed there.</a:t>
            </a:r>
          </a:p>
          <a:p/>
          <a:p>
            <a:r>
              <a:t>[slow]</a:t>
            </a:r>
          </a:p>
          <a:p/>
          <a:p>
            <a:r>
              <a:t>But here's the part I did not expect. Seven points never come back. Even with every single layer above conv1 free to retrain, the entire rest of the network is allowed to compensate, and it cannot.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Discussion and Limitations</a:t>
            </a:r>
          </a:p>
          <a:p/>
          <a:p>
            <a:r>
              <a:t>So what does this mean.</a:t>
            </a:r>
          </a:p>
          <a:p/>
          <a:p>
            <a:r>
              <a:t>Feature quality outweighs capacity: 26.7 points against 18. Both are real. The representation is the bigger lever.</a:t>
            </a:r>
          </a:p>
          <a:p/>
          <a:p>
            <a:r>
              <a:t>The value sits in the generic early layers. A linear probe gets 91.3 percent and unfreezing past layer4 adds nothing, which is the layer-dependence Yosinski reported, now measured with capacity controlled.</a:t>
            </a:r>
          </a:p>
          <a:p/>
          <a:p>
            <a:r>
              <a:t>And the learned first-layer filters are not reconstructible. That seven-point gap qualifies Jarrett and Saxe at greater depth than they tested. Fixed filters get you a long way, not all the way.</a:t>
            </a:r>
          </a:p>
          <a:p/>
          <a:p>
            <a:r>
              <a:t>Practically: small dataset, tight budget, freeze deep and fine-tune little.</a:t>
            </a:r>
          </a:p>
          <a:p/>
          <a:p>
            <a:r>
              <a:t>[point: limitations]</a:t>
            </a:r>
          </a:p>
          <a:p/>
          <a:p>
            <a:r>
              <a:t>Now what this does not establish. One dataset and one architecture, so the 26.7 figure is a measurement here, not a law. Three seeds with no significance test, though the gaps far exceed the spread. No augmentation, deliberately, which puts my absolute numbers below tuned baselines. The ablation ran on a 40 percent subset, so read the shape of that curve and not its values. The Gabor bank is untuned, so seven points is an upper bound on that gap. And the control is a control. It is not a method.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Conclusion and Future Work</a:t>
            </a:r>
          </a:p>
          <a:p/>
          <a:p>
            <a:r>
              <a:t>Three findings.</a:t>
            </a:r>
          </a:p>
          <a:p/>
          <a:p>
            <a:r>
              <a:t>One. Pretraining is feature quality, not parameter count. Capacity-matched, plus 26.7 points.</a:t>
            </a:r>
          </a:p>
          <a:p/>
          <a:p>
            <a:r>
              <a:t>Two. Capacity helps, and it cannot close the gap. Full capacity from scratch gets you to 84.7 percent. Nine points short, at four times the compute.</a:t>
            </a:r>
          </a:p>
          <a:p/>
          <a:p>
            <a:r>
              <a:t>Three. For small data on a tight budget, transfer learning wins outright, on accuracy and on speed, and the ablation says you barely have to fine-tune to collect most of it.</a:t>
            </a:r>
          </a:p>
          <a:p/>
          <a:p>
            <a:r>
              <a:t>[pause]</a:t>
            </a:r>
          </a:p>
          <a:p/>
          <a:p>
            <a:r>
              <a:t>And the reason the first of those is a number instead of an opinion is a condition nobody would ever deploy. Freezing random garbage is a useless model. It was the single most valuable run in the study.</a:t>
            </a:r>
          </a:p>
          <a:p/>
          <a:p>
            <a:r>
              <a:t>[point: future work]</a:t>
            </a:r>
          </a:p>
          <a:p/>
          <a:p>
            <a:r>
              <a:t>Four extensions. The one that matters most is testing that ratio off-distribution, on a domain far from ImageNet, because that is precisely where Raghu found model size dominating instead. The others separate depth from capacity, scale the pretraining corpus, and push on whether that first-layer gap is specific to Gabor filters or true of fixed bases in general.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Acknowledgments and References</a:t>
            </a:r>
          </a:p>
          <a:p/>
          <a:p>
            <a:r>
              <a:t>Quick thanks. Professor Maxwell, whose question about how far the first layer's influence reaches turned into the Gabor experiment you just saw. The Intel scenes dataset, distributed publicly through Kaggle. And PyTorch and torchvision for the backbone and the pretrained weights.</a:t>
            </a:r>
          </a:p>
          <a:p/>
          <a:p>
            <a:r>
              <a:t>References are on screen, all peer-reviewed venues.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Q&amp;A</a:t>
            </a:r>
          </a:p>
          <a:p/>
          <a:p>
            <a:r>
              <a:t>That's the talk.</a:t>
            </a:r>
          </a:p>
          <a:p/>
          <a:p>
            <a:r>
              <a:t>Capacity-matched, pretrained features are worth 26.7 accuracy points. And the thing that lets me say that as a measurement rather than an impression is a model nobody would ever deploy.</a:t>
            </a:r>
          </a:p>
          <a:p/>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04763-C3DC-0467-D492-7B4353AC9D1B}"/>
              </a:ext>
            </a:extLst>
          </p:cNvPr>
          <p:cNvSpPr>
            <a:spLocks noGrp="1"/>
          </p:cNvSpPr>
          <p:nvPr>
            <p:ph type="ctrTitle" hasCustomPrompt="1"/>
          </p:nvPr>
        </p:nvSpPr>
        <p:spPr>
          <a:xfrm>
            <a:off x="1401791" y="445754"/>
            <a:ext cx="9388415" cy="1537614"/>
          </a:xfrm>
        </p:spPr>
        <p:txBody>
          <a:bodyPr anchor="b">
            <a:normAutofit/>
          </a:bodyPr>
          <a:lstStyle>
            <a:lvl1pPr algn="ctr">
              <a:defRPr sz="4000"/>
            </a:lvl1pPr>
          </a:lstStyle>
          <a:p>
            <a:r>
              <a:rPr lang="en-US"/>
              <a:t>Paper Title</a:t>
            </a:r>
          </a:p>
        </p:txBody>
      </p:sp>
      <p:sp>
        <p:nvSpPr>
          <p:cNvPr id="3" name="Subtitle 2">
            <a:extLst>
              <a:ext uri="{FF2B5EF4-FFF2-40B4-BE49-F238E27FC236}">
                <a16:creationId xmlns:a16="http://schemas.microsoft.com/office/drawing/2014/main" id="{6F49FC8F-7B19-0ABB-38CD-4020032D5C7F}"/>
              </a:ext>
            </a:extLst>
          </p:cNvPr>
          <p:cNvSpPr>
            <a:spLocks noGrp="1"/>
          </p:cNvSpPr>
          <p:nvPr>
            <p:ph type="subTitle" idx="1" hasCustomPrompt="1"/>
          </p:nvPr>
        </p:nvSpPr>
        <p:spPr>
          <a:xfrm>
            <a:off x="1401791" y="2124001"/>
            <a:ext cx="9388415" cy="781914"/>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First Author, et al. </a:t>
            </a:r>
            <a:br>
              <a:rPr lang="en-US"/>
            </a:br>
            <a:r>
              <a:rPr lang="en-US"/>
              <a:t>Publication, Year</a:t>
            </a:r>
          </a:p>
        </p:txBody>
      </p:sp>
      <p:sp>
        <p:nvSpPr>
          <p:cNvPr id="8" name="Rectangle 7">
            <a:extLst>
              <a:ext uri="{FF2B5EF4-FFF2-40B4-BE49-F238E27FC236}">
                <a16:creationId xmlns:a16="http://schemas.microsoft.com/office/drawing/2014/main" id="{D30E8C4F-EF06-C21D-609F-9A52B04037B3}"/>
              </a:ext>
            </a:extLst>
          </p:cNvPr>
          <p:cNvSpPr/>
          <p:nvPr userDrawn="1"/>
        </p:nvSpPr>
        <p:spPr>
          <a:xfrm>
            <a:off x="0" y="3429001"/>
            <a:ext cx="12192000" cy="3429000"/>
          </a:xfrm>
          <a:prstGeom prst="rect">
            <a:avLst/>
          </a:prstGeom>
          <a:solidFill>
            <a:srgbClr val="0069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3A5BC35C-0559-1E38-63D7-08137818AA90}"/>
              </a:ext>
            </a:extLst>
          </p:cNvPr>
          <p:cNvSpPr>
            <a:spLocks noGrp="1"/>
          </p:cNvSpPr>
          <p:nvPr>
            <p:ph type="body" sz="quarter" idx="10" hasCustomPrompt="1"/>
          </p:nvPr>
        </p:nvSpPr>
        <p:spPr>
          <a:xfrm>
            <a:off x="1401791" y="3712718"/>
            <a:ext cx="9388415" cy="419100"/>
          </a:xfrm>
        </p:spPr>
        <p:txBody>
          <a:bodyPr>
            <a:noAutofit/>
          </a:bodyPr>
          <a:lstStyle>
            <a:lvl1pPr marL="0" indent="0" algn="ctr">
              <a:buNone/>
              <a:defRPr sz="2000">
                <a:solidFill>
                  <a:schemeClr val="bg1"/>
                </a:solidFill>
              </a:defRPr>
            </a:lvl1pPr>
          </a:lstStyle>
          <a:p>
            <a:pPr lvl="0"/>
            <a:r>
              <a:rPr lang="en-US"/>
              <a:t>Your Name</a:t>
            </a:r>
          </a:p>
        </p:txBody>
      </p:sp>
      <p:sp>
        <p:nvSpPr>
          <p:cNvPr id="13" name="Text Placeholder 11">
            <a:extLst>
              <a:ext uri="{FF2B5EF4-FFF2-40B4-BE49-F238E27FC236}">
                <a16:creationId xmlns:a16="http://schemas.microsoft.com/office/drawing/2014/main" id="{19076509-2FAB-FE12-55CC-74FE03BB2E93}"/>
              </a:ext>
            </a:extLst>
          </p:cNvPr>
          <p:cNvSpPr>
            <a:spLocks noGrp="1"/>
          </p:cNvSpPr>
          <p:nvPr>
            <p:ph type="body" sz="quarter" idx="11" hasCustomPrompt="1"/>
          </p:nvPr>
        </p:nvSpPr>
        <p:spPr>
          <a:xfrm>
            <a:off x="1401791" y="4351548"/>
            <a:ext cx="9388415" cy="2230407"/>
          </a:xfrm>
        </p:spPr>
        <p:txBody>
          <a:bodyPr>
            <a:noAutofit/>
          </a:bodyPr>
          <a:lstStyle>
            <a:lvl1pPr marL="0" indent="0" algn="ctr">
              <a:buNone/>
              <a:defRPr sz="2000">
                <a:solidFill>
                  <a:schemeClr val="bg1"/>
                </a:solidFill>
              </a:defRPr>
            </a:lvl1pPr>
          </a:lstStyle>
          <a:p>
            <a:r>
              <a:rPr lang="en-US">
                <a:solidFill>
                  <a:schemeClr val="bg1"/>
                </a:solidFill>
              </a:rPr>
              <a:t>Aspect of the paper implemented</a:t>
            </a:r>
          </a:p>
        </p:txBody>
      </p:sp>
    </p:spTree>
    <p:extLst>
      <p:ext uri="{BB962C8B-B14F-4D97-AF65-F5344CB8AC3E}">
        <p14:creationId xmlns:p14="http://schemas.microsoft.com/office/powerpoint/2010/main" val="3633434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61EE-92DA-BECE-9F7A-71508933F3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F03FB0-6A97-B316-1E89-ADA755DC7F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747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018A8-0D09-1809-E7EE-FFB990E848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84529B-C466-4DB8-55CA-67B1FE8FBD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323803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F274-10A7-C7E5-0BD2-31C43CDFA8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710772-5329-FFD3-E651-29C57B723A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6AF120-D09E-F1B1-D2CF-89DC671D4C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5167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EBBEA-0F67-469A-556F-C8D9D3D6FE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27F3F8-0264-18B9-0157-84AD89FEE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A30E95-73B0-3C8A-FD8B-92AC27B780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305DF8-4849-054E-58B2-D7AC0882E7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67F09C-C5FA-4FED-88B0-5E71BE6D97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1599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F5E39-026A-27A8-C74C-07A48769A17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69266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5980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0BF0-B578-0442-24B7-757543F560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509BB7-D615-FE44-602E-1D66C768FA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879745-DC76-E9CD-FFB5-D322B05CD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381695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5A0CC42F-8F77-4C3C-B4A0-F1C5B49E4D1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9554" t="28182"/>
          <a:stretch/>
        </p:blipFill>
        <p:spPr>
          <a:xfrm>
            <a:off x="9883215" y="47812"/>
            <a:ext cx="1464236" cy="644874"/>
          </a:xfrm>
          <a:prstGeom prst="rect">
            <a:avLst/>
          </a:prstGeom>
        </p:spPr>
      </p:pic>
    </p:spTree>
    <p:extLst>
      <p:ext uri="{BB962C8B-B14F-4D97-AF65-F5344CB8AC3E}">
        <p14:creationId xmlns:p14="http://schemas.microsoft.com/office/powerpoint/2010/main" val="3757216065"/>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ea typeface="Lato" panose="020F0502020204030203" pitchFamily="34" charset="0"/>
                <a:cs typeface="Lato" panose="020F0502020204030203"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n-lt"/>
                <a:ea typeface="Lato" panose="020F0502020204030203" pitchFamily="34" charset="0"/>
                <a:cs typeface="Lato" panose="020F0502020204030203" pitchFamily="34" charset="0"/>
              </a:defRPr>
            </a:lvl1pPr>
            <a:lvl2pPr>
              <a:defRPr>
                <a:latin typeface="+mn-lt"/>
                <a:ea typeface="Lato" panose="020F0502020204030203" pitchFamily="34" charset="0"/>
                <a:cs typeface="Lato" panose="020F0502020204030203" pitchFamily="34" charset="0"/>
              </a:defRPr>
            </a:lvl2pPr>
            <a:lvl3pPr>
              <a:defRPr>
                <a:latin typeface="+mn-lt"/>
                <a:ea typeface="Lato" panose="020F0502020204030203" pitchFamily="34" charset="0"/>
                <a:cs typeface="Lato" panose="020F0502020204030203" pitchFamily="34" charset="0"/>
              </a:defRPr>
            </a:lvl3pPr>
            <a:lvl4pPr>
              <a:defRPr>
                <a:latin typeface="+mn-lt"/>
                <a:ea typeface="Lato" panose="020F0502020204030203" pitchFamily="34" charset="0"/>
                <a:cs typeface="Lato" panose="020F0502020204030203" pitchFamily="34" charset="0"/>
              </a:defRPr>
            </a:lvl4pPr>
            <a:lvl5pPr>
              <a:defRPr>
                <a:latin typeface="+mn-lt"/>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descr="Logo&#10;&#10;Description automatically generated">
            <a:extLst>
              <a:ext uri="{FF2B5EF4-FFF2-40B4-BE49-F238E27FC236}">
                <a16:creationId xmlns:a16="http://schemas.microsoft.com/office/drawing/2014/main" id="{C612D7B2-EAD8-4037-A557-8E162F170C8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9554" t="28182"/>
          <a:stretch/>
        </p:blipFill>
        <p:spPr>
          <a:xfrm>
            <a:off x="9883215" y="47812"/>
            <a:ext cx="1464236" cy="644874"/>
          </a:xfrm>
          <a:prstGeom prst="rect">
            <a:avLst/>
          </a:prstGeom>
        </p:spPr>
      </p:pic>
    </p:spTree>
    <p:extLst>
      <p:ext uri="{BB962C8B-B14F-4D97-AF65-F5344CB8AC3E}">
        <p14:creationId xmlns:p14="http://schemas.microsoft.com/office/powerpoint/2010/main" val="137852695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theme" Target="../theme/theme2.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7EA200-2A79-F4D1-968E-B8D888F715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AAE569-0FCE-FEE2-1892-D5ADD86A55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6683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90213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1" y="2432021"/>
            <a:ext cx="10515600" cy="409169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p:cNvSpPr/>
          <p:nvPr userDrawn="1"/>
        </p:nvSpPr>
        <p:spPr>
          <a:xfrm rot="5400000">
            <a:off x="5744677" y="-5744679"/>
            <a:ext cx="702644" cy="12192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7"/>
          </a:p>
        </p:txBody>
      </p:sp>
      <p:cxnSp>
        <p:nvCxnSpPr>
          <p:cNvPr id="14" name="Straight Connector 13"/>
          <p:cNvCxnSpPr/>
          <p:nvPr userDrawn="1"/>
        </p:nvCxnSpPr>
        <p:spPr>
          <a:xfrm flipH="1">
            <a:off x="-2" y="702642"/>
            <a:ext cx="12192002" cy="35022"/>
          </a:xfrm>
          <a:prstGeom prst="line">
            <a:avLst/>
          </a:prstGeom>
          <a:ln w="76200">
            <a:solidFill>
              <a:srgbClr val="00696B"/>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A1448222-7E1F-4ED4-A16E-9ECDF9489DDF}"/>
              </a:ext>
            </a:extLst>
          </p:cNvPr>
          <p:cNvPicPr>
            <a:picLocks noChangeAspect="1"/>
          </p:cNvPicPr>
          <p:nvPr userDrawn="1"/>
        </p:nvPicPr>
        <p:blipFill>
          <a:blip r:embed="rId4">
            <a:duotone>
              <a:prstClr val="black"/>
              <a:srgbClr val="FF0000">
                <a:tint val="45000"/>
                <a:satMod val="400000"/>
              </a:srgbClr>
            </a:duotone>
          </a:blip>
          <a:stretch>
            <a:fillRect/>
          </a:stretch>
        </p:blipFill>
        <p:spPr>
          <a:xfrm>
            <a:off x="10274300" y="5692923"/>
            <a:ext cx="1079500" cy="830792"/>
          </a:xfrm>
          <a:prstGeom prst="rect">
            <a:avLst/>
          </a:prstGeom>
        </p:spPr>
      </p:pic>
    </p:spTree>
    <p:extLst>
      <p:ext uri="{BB962C8B-B14F-4D97-AF65-F5344CB8AC3E}">
        <p14:creationId xmlns:p14="http://schemas.microsoft.com/office/powerpoint/2010/main" val="1854995625"/>
      </p:ext>
    </p:extLst>
  </p:cSld>
  <p:clrMap bg1="lt1" tx1="dk1" bg2="lt2" tx2="dk2" accent1="accent1" accent2="accent2" accent3="accent3" accent4="accent4" accent5="accent5" accent6="accent6" hlink="hlink" folHlink="folHlink"/>
  <p:sldLayoutIdLst>
    <p:sldLayoutId id="2147483666" r:id="rId1"/>
    <p:sldLayoutId id="2147483661" r:id="rId2"/>
  </p:sldLayoutIdLst>
  <p:transition spd="slow">
    <p:push dir="u"/>
  </p:transition>
  <p:hf hdr="0" ftr="0" dt="0"/>
  <p:txStyles>
    <p:titleStyle>
      <a:lvl1pPr algn="l" defTabSz="685800" rtl="0" eaLnBrk="1" latinLnBrk="0" hangingPunct="1">
        <a:lnSpc>
          <a:spcPct val="90000"/>
        </a:lnSpc>
        <a:spcBef>
          <a:spcPct val="0"/>
        </a:spcBef>
        <a:buNone/>
        <a:defRPr sz="3300" kern="1200">
          <a:solidFill>
            <a:schemeClr val="tx1"/>
          </a:solidFill>
          <a:latin typeface="+mn-lt"/>
          <a:ea typeface="Lato" panose="020F0502020204030203" pitchFamily="34" charset="0"/>
          <a:cs typeface="Lato" panose="020F0502020204030203"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Lato" panose="020F0502020204030203" pitchFamily="34" charset="0"/>
          <a:cs typeface="Lato" panose="020F0502020204030203"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Lato" panose="020F0502020204030203" pitchFamily="34" charset="0"/>
          <a:cs typeface="Lato" panose="020F0502020204030203"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Lato" panose="020F0502020204030203" pitchFamily="34" charset="0"/>
          <a:cs typeface="Lato" panose="020F0502020204030203"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Lato" panose="020F0502020204030203" pitchFamily="34" charset="0"/>
          <a:cs typeface="Lato"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Transfer Learning versus Random Initialization</a:t>
            </a:r>
          </a:p>
        </p:txBody>
      </p:sp>
      <p:sp>
        <p:nvSpPr>
          <p:cNvPr id="3" name="Subtitle 2"/>
          <p:cNvSpPr>
            <a:spLocks noGrp="1"/>
          </p:cNvSpPr>
          <p:nvPr>
            <p:ph type="subTitle" idx="1"/>
          </p:nvPr>
        </p:nvSpPr>
        <p:spPr/>
        <p:txBody>
          <a:bodyPr/>
          <a:lstStyle/>
          <a:p>
            <a:r>
              <a:t>Isolating feature quality from trainable capacity in scene classification</a:t>
            </a:r>
          </a:p>
        </p:txBody>
      </p:sp>
      <p:sp>
        <p:nvSpPr>
          <p:cNvPr id="4" name="Text Placeholder 3"/>
          <p:cNvSpPr>
            <a:spLocks noGrp="1"/>
          </p:cNvSpPr>
          <p:nvPr>
            <p:ph type="body" idx="10" sz="quarter"/>
          </p:nvPr>
        </p:nvSpPr>
        <p:spPr/>
        <p:txBody>
          <a:bodyPr/>
          <a:lstStyle/>
          <a:p>
            <a:r>
              <a:t>Shriman Raghav Srinivasan   ·   CS 5330 Pattern Recognition and Computer Vision   ·   Prof. Bruce Maxwell   ·   July 2026</a:t>
            </a:r>
          </a:p>
        </p:txBody>
      </p:sp>
      <p:sp>
        <p:nvSpPr>
          <p:cNvPr id="5" name="Text Placeholder 4"/>
          <p:cNvSpPr>
            <a:spLocks noGrp="1"/>
          </p:cNvSpPr>
          <p:nvPr>
            <p:ph type="body" idx="11" sz="quarter"/>
          </p:nvPr>
        </p:nvSpPr>
        <p:spPr/>
        <p:txBody>
          <a:bodyPr/>
          <a:lstStyle/>
          <a:p>
            <a:pPr algn="l"/>
            <a:r>
              <a:t>Transfer learning reliably beats training from scratch, but the standard comparison moves two variables at once: the quality of the pretrained features and the number of parameters left trainable. This study adds a capacity-matched control, a randomly initialized network frozen at the same depth, so the two can be varied independently. On six-class scene classification with ResNet-18, pretrained features are worth 26.7 accuracy points once capacity is held fixed, while capacity on its own accounts for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CONTENTS AND CONTEXT</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Agenda and Introduction</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Pretrained backbones are the default for small vision datasets. This study asks what that default is actually buying.</a:t>
            </a:r>
          </a:p>
        </p:txBody>
      </p:sp>
      <p:cxnSp>
        <p:nvCxnSpPr>
          <p:cNvPr id="5" name="Connector 4"/>
          <p:cNvCxnSpPr/>
          <p:nvPr/>
        </p:nvCxnSpPr>
        <p:spPr>
          <a:xfrm>
            <a:off x="841248" y="1975104"/>
            <a:ext cx="27432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2048256"/>
            <a:ext cx="2743200"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Agenda</a:t>
            </a:r>
          </a:p>
        </p:txBody>
      </p:sp>
      <p:sp>
        <p:nvSpPr>
          <p:cNvPr id="7" name="TextBox 6"/>
          <p:cNvSpPr txBox="1"/>
          <p:nvPr/>
        </p:nvSpPr>
        <p:spPr>
          <a:xfrm>
            <a:off x="841248" y="2414016"/>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01</a:t>
            </a:r>
          </a:p>
        </p:txBody>
      </p:sp>
      <p:sp>
        <p:nvSpPr>
          <p:cNvPr id="8" name="TextBox 7"/>
          <p:cNvSpPr txBox="1"/>
          <p:nvPr/>
        </p:nvSpPr>
        <p:spPr>
          <a:xfrm>
            <a:off x="1243584" y="2414016"/>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Introduction</a:t>
            </a:r>
          </a:p>
        </p:txBody>
      </p:sp>
      <p:sp>
        <p:nvSpPr>
          <p:cNvPr id="9" name="TextBox 8"/>
          <p:cNvSpPr txBox="1"/>
          <p:nvPr/>
        </p:nvSpPr>
        <p:spPr>
          <a:xfrm>
            <a:off x="841248" y="2656332"/>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02</a:t>
            </a:r>
          </a:p>
        </p:txBody>
      </p:sp>
      <p:sp>
        <p:nvSpPr>
          <p:cNvPr id="10" name="TextBox 9"/>
          <p:cNvSpPr txBox="1"/>
          <p:nvPr/>
        </p:nvSpPr>
        <p:spPr>
          <a:xfrm>
            <a:off x="1243584" y="2656332"/>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Problem Statement</a:t>
            </a:r>
          </a:p>
        </p:txBody>
      </p:sp>
      <p:sp>
        <p:nvSpPr>
          <p:cNvPr id="11" name="TextBox 10"/>
          <p:cNvSpPr txBox="1"/>
          <p:nvPr/>
        </p:nvSpPr>
        <p:spPr>
          <a:xfrm>
            <a:off x="841248" y="2898648"/>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03</a:t>
            </a:r>
          </a:p>
        </p:txBody>
      </p:sp>
      <p:sp>
        <p:nvSpPr>
          <p:cNvPr id="12" name="TextBox 11"/>
          <p:cNvSpPr txBox="1"/>
          <p:nvPr/>
        </p:nvSpPr>
        <p:spPr>
          <a:xfrm>
            <a:off x="1243584" y="2898648"/>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Research Objectives</a:t>
            </a:r>
          </a:p>
        </p:txBody>
      </p:sp>
      <p:sp>
        <p:nvSpPr>
          <p:cNvPr id="13" name="TextBox 12"/>
          <p:cNvSpPr txBox="1"/>
          <p:nvPr/>
        </p:nvSpPr>
        <p:spPr>
          <a:xfrm>
            <a:off x="841248" y="3140964"/>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04</a:t>
            </a:r>
          </a:p>
        </p:txBody>
      </p:sp>
      <p:sp>
        <p:nvSpPr>
          <p:cNvPr id="14" name="TextBox 13"/>
          <p:cNvSpPr txBox="1"/>
          <p:nvPr/>
        </p:nvSpPr>
        <p:spPr>
          <a:xfrm>
            <a:off x="1243584" y="3140964"/>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Literature Review</a:t>
            </a:r>
          </a:p>
        </p:txBody>
      </p:sp>
      <p:sp>
        <p:nvSpPr>
          <p:cNvPr id="15" name="TextBox 14"/>
          <p:cNvSpPr txBox="1"/>
          <p:nvPr/>
        </p:nvSpPr>
        <p:spPr>
          <a:xfrm>
            <a:off x="841248" y="3383280"/>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05</a:t>
            </a:r>
          </a:p>
        </p:txBody>
      </p:sp>
      <p:sp>
        <p:nvSpPr>
          <p:cNvPr id="16" name="TextBox 15"/>
          <p:cNvSpPr txBox="1"/>
          <p:nvPr/>
        </p:nvSpPr>
        <p:spPr>
          <a:xfrm>
            <a:off x="1243584" y="3383280"/>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Methodology</a:t>
            </a:r>
          </a:p>
        </p:txBody>
      </p:sp>
      <p:sp>
        <p:nvSpPr>
          <p:cNvPr id="17" name="TextBox 16"/>
          <p:cNvSpPr txBox="1"/>
          <p:nvPr/>
        </p:nvSpPr>
        <p:spPr>
          <a:xfrm>
            <a:off x="841248" y="3625596"/>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06</a:t>
            </a:r>
          </a:p>
        </p:txBody>
      </p:sp>
      <p:sp>
        <p:nvSpPr>
          <p:cNvPr id="18" name="TextBox 17"/>
          <p:cNvSpPr txBox="1"/>
          <p:nvPr/>
        </p:nvSpPr>
        <p:spPr>
          <a:xfrm>
            <a:off x="1243584" y="3625596"/>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Results</a:t>
            </a:r>
          </a:p>
        </p:txBody>
      </p:sp>
      <p:sp>
        <p:nvSpPr>
          <p:cNvPr id="19" name="TextBox 18"/>
          <p:cNvSpPr txBox="1"/>
          <p:nvPr/>
        </p:nvSpPr>
        <p:spPr>
          <a:xfrm>
            <a:off x="841248" y="3867912"/>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07</a:t>
            </a:r>
          </a:p>
        </p:txBody>
      </p:sp>
      <p:sp>
        <p:nvSpPr>
          <p:cNvPr id="20" name="TextBox 19"/>
          <p:cNvSpPr txBox="1"/>
          <p:nvPr/>
        </p:nvSpPr>
        <p:spPr>
          <a:xfrm>
            <a:off x="1243584" y="3867912"/>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Discussion</a:t>
            </a:r>
          </a:p>
        </p:txBody>
      </p:sp>
      <p:sp>
        <p:nvSpPr>
          <p:cNvPr id="21" name="TextBox 20"/>
          <p:cNvSpPr txBox="1"/>
          <p:nvPr/>
        </p:nvSpPr>
        <p:spPr>
          <a:xfrm>
            <a:off x="841248" y="4110228"/>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08</a:t>
            </a:r>
          </a:p>
        </p:txBody>
      </p:sp>
      <p:sp>
        <p:nvSpPr>
          <p:cNvPr id="22" name="TextBox 21"/>
          <p:cNvSpPr txBox="1"/>
          <p:nvPr/>
        </p:nvSpPr>
        <p:spPr>
          <a:xfrm>
            <a:off x="1243584" y="4110228"/>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Limitations</a:t>
            </a:r>
          </a:p>
        </p:txBody>
      </p:sp>
      <p:sp>
        <p:nvSpPr>
          <p:cNvPr id="23" name="TextBox 22"/>
          <p:cNvSpPr txBox="1"/>
          <p:nvPr/>
        </p:nvSpPr>
        <p:spPr>
          <a:xfrm>
            <a:off x="841248" y="4352544"/>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09</a:t>
            </a:r>
          </a:p>
        </p:txBody>
      </p:sp>
      <p:sp>
        <p:nvSpPr>
          <p:cNvPr id="24" name="TextBox 23"/>
          <p:cNvSpPr txBox="1"/>
          <p:nvPr/>
        </p:nvSpPr>
        <p:spPr>
          <a:xfrm>
            <a:off x="1243584" y="4352544"/>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Conclusion</a:t>
            </a:r>
          </a:p>
        </p:txBody>
      </p:sp>
      <p:sp>
        <p:nvSpPr>
          <p:cNvPr id="25" name="TextBox 24"/>
          <p:cNvSpPr txBox="1"/>
          <p:nvPr/>
        </p:nvSpPr>
        <p:spPr>
          <a:xfrm>
            <a:off x="841248" y="4594859"/>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10</a:t>
            </a:r>
          </a:p>
        </p:txBody>
      </p:sp>
      <p:sp>
        <p:nvSpPr>
          <p:cNvPr id="26" name="TextBox 25"/>
          <p:cNvSpPr txBox="1"/>
          <p:nvPr/>
        </p:nvSpPr>
        <p:spPr>
          <a:xfrm>
            <a:off x="1243584" y="4594859"/>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Future Work</a:t>
            </a:r>
          </a:p>
        </p:txBody>
      </p:sp>
      <p:sp>
        <p:nvSpPr>
          <p:cNvPr id="27" name="TextBox 26"/>
          <p:cNvSpPr txBox="1"/>
          <p:nvPr/>
        </p:nvSpPr>
        <p:spPr>
          <a:xfrm>
            <a:off x="841248" y="4837175"/>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11</a:t>
            </a:r>
          </a:p>
        </p:txBody>
      </p:sp>
      <p:sp>
        <p:nvSpPr>
          <p:cNvPr id="28" name="TextBox 27"/>
          <p:cNvSpPr txBox="1"/>
          <p:nvPr/>
        </p:nvSpPr>
        <p:spPr>
          <a:xfrm>
            <a:off x="1243584" y="4837175"/>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Acknowledgments</a:t>
            </a:r>
          </a:p>
        </p:txBody>
      </p:sp>
      <p:sp>
        <p:nvSpPr>
          <p:cNvPr id="29" name="TextBox 28"/>
          <p:cNvSpPr txBox="1"/>
          <p:nvPr/>
        </p:nvSpPr>
        <p:spPr>
          <a:xfrm>
            <a:off x="841248" y="5079491"/>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12</a:t>
            </a:r>
          </a:p>
        </p:txBody>
      </p:sp>
      <p:sp>
        <p:nvSpPr>
          <p:cNvPr id="30" name="TextBox 29"/>
          <p:cNvSpPr txBox="1"/>
          <p:nvPr/>
        </p:nvSpPr>
        <p:spPr>
          <a:xfrm>
            <a:off x="1243584" y="5079491"/>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References</a:t>
            </a:r>
          </a:p>
        </p:txBody>
      </p:sp>
      <p:sp>
        <p:nvSpPr>
          <p:cNvPr id="31" name="TextBox 30"/>
          <p:cNvSpPr txBox="1"/>
          <p:nvPr/>
        </p:nvSpPr>
        <p:spPr>
          <a:xfrm>
            <a:off x="841248" y="5321807"/>
            <a:ext cx="365760" cy="219456"/>
          </a:xfrm>
          <a:prstGeom prst="rect">
            <a:avLst/>
          </a:prstGeom>
          <a:noFill/>
        </p:spPr>
        <p:txBody>
          <a:bodyPr wrap="square" lIns="0" rIns="0" tIns="0" bIns="0" anchor="ctr">
            <a:spAutoFit/>
          </a:bodyPr>
          <a:lstStyle/>
          <a:p>
            <a:pPr algn="l">
              <a:lnSpc>
                <a:spcPct val="100000"/>
              </a:lnSpc>
            </a:pPr>
            <a:r>
              <a:rPr sz="900" b="0" i="0">
                <a:solidFill>
                  <a:srgbClr val="00696B"/>
                </a:solidFill>
                <a:latin typeface="Aptos Display"/>
              </a:rPr>
              <a:t>13</a:t>
            </a:r>
          </a:p>
        </p:txBody>
      </p:sp>
      <p:sp>
        <p:nvSpPr>
          <p:cNvPr id="32" name="TextBox 31"/>
          <p:cNvSpPr txBox="1"/>
          <p:nvPr/>
        </p:nvSpPr>
        <p:spPr>
          <a:xfrm>
            <a:off x="1243584" y="5321807"/>
            <a:ext cx="2340864" cy="219456"/>
          </a:xfrm>
          <a:prstGeom prst="rect">
            <a:avLst/>
          </a:prstGeom>
          <a:noFill/>
        </p:spPr>
        <p:txBody>
          <a:bodyPr wrap="square" lIns="0" rIns="0" tIns="0" bIns="0" anchor="ctr">
            <a:spAutoFit/>
          </a:bodyPr>
          <a:lstStyle/>
          <a:p>
            <a:pPr algn="l">
              <a:lnSpc>
                <a:spcPct val="100000"/>
              </a:lnSpc>
            </a:pPr>
            <a:r>
              <a:rPr sz="1150" b="0" i="0">
                <a:solidFill>
                  <a:srgbClr val="262626"/>
                </a:solidFill>
                <a:latin typeface="Aptos"/>
              </a:rPr>
              <a:t>Q&amp;A</a:t>
            </a:r>
          </a:p>
        </p:txBody>
      </p:sp>
      <p:cxnSp>
        <p:nvCxnSpPr>
          <p:cNvPr id="33" name="Connector 32"/>
          <p:cNvCxnSpPr/>
          <p:nvPr/>
        </p:nvCxnSpPr>
        <p:spPr>
          <a:xfrm>
            <a:off x="4087368" y="1975104"/>
            <a:ext cx="2207757"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087368" y="2048256"/>
            <a:ext cx="2207757" cy="310896"/>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The practice</a:t>
            </a:r>
          </a:p>
        </p:txBody>
      </p:sp>
      <p:sp>
        <p:nvSpPr>
          <p:cNvPr id="35" name="TextBox 34"/>
          <p:cNvSpPr txBox="1"/>
          <p:nvPr/>
        </p:nvSpPr>
        <p:spPr>
          <a:xfrm>
            <a:off x="4087368" y="2450592"/>
            <a:ext cx="2207757" cy="1280160"/>
          </a:xfrm>
          <a:prstGeom prst="rect">
            <a:avLst/>
          </a:prstGeom>
          <a:noFill/>
        </p:spPr>
        <p:txBody>
          <a:bodyPr wrap="square" lIns="0" rIns="0" tIns="0" bIns="0" anchor="t">
            <a:spAutoFit/>
          </a:bodyPr>
          <a:lstStyle/>
          <a:p>
            <a:pPr algn="l">
              <a:lnSpc>
                <a:spcPct val="120000"/>
              </a:lnSpc>
            </a:pPr>
            <a:r>
              <a:rPr sz="1150" b="0" i="0">
                <a:solidFill>
                  <a:srgbClr val="595959"/>
                </a:solidFill>
                <a:latin typeface="Aptos"/>
              </a:rPr>
              <a:t>Load ImageNet weights into a standard backbone, freeze the early layers and fine-tune the tail. Near-universal for datasets below a few thousand images.</a:t>
            </a:r>
          </a:p>
        </p:txBody>
      </p:sp>
      <p:cxnSp>
        <p:nvCxnSpPr>
          <p:cNvPr id="36" name="Connector 35"/>
          <p:cNvCxnSpPr/>
          <p:nvPr/>
        </p:nvCxnSpPr>
        <p:spPr>
          <a:xfrm>
            <a:off x="6615165" y="1975104"/>
            <a:ext cx="2207758"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615165" y="2048256"/>
            <a:ext cx="2207757" cy="310896"/>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The task</a:t>
            </a:r>
          </a:p>
        </p:txBody>
      </p:sp>
      <p:sp>
        <p:nvSpPr>
          <p:cNvPr id="38" name="TextBox 37"/>
          <p:cNvSpPr txBox="1"/>
          <p:nvPr/>
        </p:nvSpPr>
        <p:spPr>
          <a:xfrm>
            <a:off x="6615165" y="2450592"/>
            <a:ext cx="2207757" cy="1280160"/>
          </a:xfrm>
          <a:prstGeom prst="rect">
            <a:avLst/>
          </a:prstGeom>
          <a:noFill/>
        </p:spPr>
        <p:txBody>
          <a:bodyPr wrap="square" lIns="0" rIns="0" tIns="0" bIns="0" anchor="t">
            <a:spAutoFit/>
          </a:bodyPr>
          <a:lstStyle/>
          <a:p>
            <a:pPr algn="l">
              <a:lnSpc>
                <a:spcPct val="120000"/>
              </a:lnSpc>
            </a:pPr>
            <a:r>
              <a:rPr sz="1150" b="0" i="0">
                <a:solidFill>
                  <a:srgbClr val="595959"/>
                </a:solidFill>
                <a:latin typeface="Aptos"/>
              </a:rPr>
              <a:t>Six-class natural scene classification: buildings, forest, glacier, mountain, sea and street. 14,034 training and 3,000 held-out test images on ResNet-18.</a:t>
            </a:r>
          </a:p>
        </p:txBody>
      </p:sp>
      <p:cxnSp>
        <p:nvCxnSpPr>
          <p:cNvPr id="39" name="Connector 38"/>
          <p:cNvCxnSpPr/>
          <p:nvPr/>
        </p:nvCxnSpPr>
        <p:spPr>
          <a:xfrm>
            <a:off x="9142963" y="1975104"/>
            <a:ext cx="2207758"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142963" y="2048256"/>
            <a:ext cx="2207757" cy="310896"/>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The question</a:t>
            </a:r>
          </a:p>
        </p:txBody>
      </p:sp>
      <p:sp>
        <p:nvSpPr>
          <p:cNvPr id="41" name="TextBox 40"/>
          <p:cNvSpPr txBox="1"/>
          <p:nvPr/>
        </p:nvSpPr>
        <p:spPr>
          <a:xfrm>
            <a:off x="9142963" y="2450592"/>
            <a:ext cx="2207757" cy="1280160"/>
          </a:xfrm>
          <a:prstGeom prst="rect">
            <a:avLst/>
          </a:prstGeom>
          <a:noFill/>
        </p:spPr>
        <p:txBody>
          <a:bodyPr wrap="square" lIns="0" rIns="0" tIns="0" bIns="0" anchor="t">
            <a:spAutoFit/>
          </a:bodyPr>
          <a:lstStyle/>
          <a:p>
            <a:pPr algn="l">
              <a:lnSpc>
                <a:spcPct val="120000"/>
              </a:lnSpc>
            </a:pPr>
            <a:r>
              <a:rPr sz="1150" b="0" i="0">
                <a:solidFill>
                  <a:srgbClr val="595959"/>
                </a:solidFill>
                <a:latin typeface="Aptos"/>
              </a:rPr>
              <a:t>The practice demonstrably works. What makes it work? Genuinely better features, or simply a smaller optimization problem than training everything?</a:t>
            </a:r>
          </a:p>
        </p:txBody>
      </p:sp>
      <p:cxnSp>
        <p:nvCxnSpPr>
          <p:cNvPr id="42" name="Connector 41"/>
          <p:cNvCxnSpPr/>
          <p:nvPr/>
        </p:nvCxnSpPr>
        <p:spPr>
          <a:xfrm>
            <a:off x="4087368" y="3986784"/>
            <a:ext cx="726335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087368" y="4114800"/>
            <a:ext cx="7263353" cy="731520"/>
          </a:xfrm>
          <a:prstGeom prst="rect">
            <a:avLst/>
          </a:prstGeom>
          <a:noFill/>
        </p:spPr>
        <p:txBody>
          <a:bodyPr wrap="square" lIns="0" rIns="0" tIns="0" bIns="0" anchor="t">
            <a:spAutoFit/>
          </a:bodyPr>
          <a:lstStyle/>
          <a:p>
            <a:pPr algn="l">
              <a:lnSpc>
                <a:spcPct val="122000"/>
              </a:lnSpc>
            </a:pPr>
            <a:r>
              <a:rPr sz="1400" b="0" i="1">
                <a:solidFill>
                  <a:srgbClr val="000000"/>
                </a:solidFill>
                <a:latin typeface="Aptos Display"/>
              </a:rPr>
              <a:t>Both explanations predict exactly the same headline number, so the comparison everyone runs cannot separate them. Doing so requires a condition that moves one while holding the other fixed.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THE CONFOUND AND THE AIMS</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Problem Statement and Research Objectives</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Freezing the early layers changes two things at once, so the standard comparison cannot attribute the win to either.</a:t>
            </a:r>
          </a:p>
        </p:txBody>
      </p:sp>
      <p:cxnSp>
        <p:nvCxnSpPr>
          <p:cNvPr id="5" name="Connector 4"/>
          <p:cNvCxnSpPr/>
          <p:nvPr/>
        </p:nvCxnSpPr>
        <p:spPr>
          <a:xfrm>
            <a:off x="841248" y="1975104"/>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2048256"/>
            <a:ext cx="2743200" cy="201168"/>
          </a:xfrm>
          <a:prstGeom prst="rect">
            <a:avLst/>
          </a:prstGeom>
          <a:noFill/>
        </p:spPr>
        <p:txBody>
          <a:bodyPr wrap="square" lIns="0" rIns="0" tIns="0" bIns="0" anchor="ctr">
            <a:spAutoFit/>
          </a:bodyPr>
          <a:lstStyle/>
          <a:p>
            <a:pPr algn="l">
              <a:lnSpc>
                <a:spcPct val="100000"/>
              </a:lnSpc>
            </a:pPr>
            <a:r>
              <a:rPr sz="900" b="0" i="0" spc="140">
                <a:solidFill>
                  <a:srgbClr val="00696B"/>
                </a:solidFill>
                <a:latin typeface="Aptos"/>
              </a:rPr>
              <a:t>OBSERVED</a:t>
            </a:r>
          </a:p>
        </p:txBody>
      </p:sp>
      <p:sp>
        <p:nvSpPr>
          <p:cNvPr id="7" name="TextBox 6"/>
          <p:cNvSpPr txBox="1"/>
          <p:nvPr/>
        </p:nvSpPr>
        <p:spPr>
          <a:xfrm>
            <a:off x="841248" y="2249424"/>
            <a:ext cx="10509473" cy="365760"/>
          </a:xfrm>
          <a:prstGeom prst="rect">
            <a:avLst/>
          </a:prstGeom>
          <a:noFill/>
        </p:spPr>
        <p:txBody>
          <a:bodyPr wrap="square" lIns="0" rIns="0" tIns="0" bIns="0" anchor="ctr">
            <a:spAutoFit/>
          </a:bodyPr>
          <a:lstStyle/>
          <a:p>
            <a:pPr algn="ctr">
              <a:lnSpc>
                <a:spcPct val="100000"/>
              </a:lnSpc>
            </a:pPr>
            <a:r>
              <a:rPr sz="1900" b="0" i="0">
                <a:solidFill>
                  <a:srgbClr val="000000"/>
                </a:solidFill>
                <a:latin typeface="Aptos Display"/>
              </a:rPr>
              <a:t>A pretrained, partly frozen network beats one trained from scratch.</a:t>
            </a:r>
          </a:p>
        </p:txBody>
      </p:sp>
      <p:cxnSp>
        <p:nvCxnSpPr>
          <p:cNvPr id="8" name="Connector 7"/>
          <p:cNvCxnSpPr/>
          <p:nvPr/>
        </p:nvCxnSpPr>
        <p:spPr>
          <a:xfrm>
            <a:off x="841248" y="2706624"/>
            <a:ext cx="10509473"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55698" y="2798064"/>
            <a:ext cx="0" cy="23774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41248" y="3145536"/>
            <a:ext cx="26289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41248" y="3218688"/>
            <a:ext cx="2628900" cy="201168"/>
          </a:xfrm>
          <a:prstGeom prst="rect">
            <a:avLst/>
          </a:prstGeom>
          <a:noFill/>
        </p:spPr>
        <p:txBody>
          <a:bodyPr wrap="square" lIns="0" rIns="0" tIns="0" bIns="0" anchor="ctr">
            <a:spAutoFit/>
          </a:bodyPr>
          <a:lstStyle/>
          <a:p>
            <a:pPr algn="l">
              <a:lnSpc>
                <a:spcPct val="100000"/>
              </a:lnSpc>
            </a:pPr>
            <a:r>
              <a:rPr sz="850" b="0" i="0" spc="140">
                <a:solidFill>
                  <a:srgbClr val="00696B"/>
                </a:solidFill>
                <a:latin typeface="Aptos"/>
              </a:rPr>
              <a:t>FACTOR A</a:t>
            </a:r>
          </a:p>
        </p:txBody>
      </p:sp>
      <p:sp>
        <p:nvSpPr>
          <p:cNvPr id="12" name="TextBox 11"/>
          <p:cNvSpPr txBox="1"/>
          <p:nvPr/>
        </p:nvSpPr>
        <p:spPr>
          <a:xfrm>
            <a:off x="841248" y="3419856"/>
            <a:ext cx="2628900" cy="329184"/>
          </a:xfrm>
          <a:prstGeom prst="rect">
            <a:avLst/>
          </a:prstGeom>
          <a:noFill/>
        </p:spPr>
        <p:txBody>
          <a:bodyPr wrap="square" lIns="0" rIns="0" tIns="0" bIns="0" anchor="ctr">
            <a:spAutoFit/>
          </a:bodyPr>
          <a:lstStyle/>
          <a:p>
            <a:pPr algn="l">
              <a:lnSpc>
                <a:spcPct val="100000"/>
              </a:lnSpc>
            </a:pPr>
            <a:r>
              <a:rPr sz="1700" b="0" i="0">
                <a:solidFill>
                  <a:srgbClr val="000000"/>
                </a:solidFill>
                <a:latin typeface="Aptos Display"/>
              </a:rPr>
              <a:t>Feature quality</a:t>
            </a:r>
          </a:p>
        </p:txBody>
      </p:sp>
      <p:sp>
        <p:nvSpPr>
          <p:cNvPr id="13" name="TextBox 12"/>
          <p:cNvSpPr txBox="1"/>
          <p:nvPr/>
        </p:nvSpPr>
        <p:spPr>
          <a:xfrm>
            <a:off x="841248" y="3785616"/>
            <a:ext cx="2628900" cy="731520"/>
          </a:xfrm>
          <a:prstGeom prst="rect">
            <a:avLst/>
          </a:prstGeom>
          <a:noFill/>
        </p:spPr>
        <p:txBody>
          <a:bodyPr wrap="square" lIns="0" rIns="0" tIns="0" bIns="0" anchor="t">
            <a:spAutoFit/>
          </a:bodyPr>
          <a:lstStyle/>
          <a:p>
            <a:pPr algn="l">
              <a:lnSpc>
                <a:spcPct val="120000"/>
              </a:lnSpc>
            </a:pPr>
            <a:r>
              <a:rPr sz="1150" b="0" i="0">
                <a:solidFill>
                  <a:srgbClr val="595959"/>
                </a:solidFill>
                <a:latin typeface="Aptos"/>
              </a:rPr>
              <a:t>The frozen weights already encode edges, textures and shapes learned from a million labeled images, before your data arrives.</a:t>
            </a:r>
          </a:p>
        </p:txBody>
      </p:sp>
      <p:cxnSp>
        <p:nvCxnSpPr>
          <p:cNvPr id="14" name="Connector 13"/>
          <p:cNvCxnSpPr/>
          <p:nvPr/>
        </p:nvCxnSpPr>
        <p:spPr>
          <a:xfrm>
            <a:off x="5058918" y="2798064"/>
            <a:ext cx="0" cy="237744"/>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44468" y="3145536"/>
            <a:ext cx="26289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44468" y="3218688"/>
            <a:ext cx="2628900" cy="201168"/>
          </a:xfrm>
          <a:prstGeom prst="rect">
            <a:avLst/>
          </a:prstGeom>
          <a:noFill/>
        </p:spPr>
        <p:txBody>
          <a:bodyPr wrap="square" lIns="0" rIns="0" tIns="0" bIns="0" anchor="ctr">
            <a:spAutoFit/>
          </a:bodyPr>
          <a:lstStyle/>
          <a:p>
            <a:pPr algn="l">
              <a:lnSpc>
                <a:spcPct val="100000"/>
              </a:lnSpc>
            </a:pPr>
            <a:r>
              <a:rPr sz="850" b="0" i="0" spc="140">
                <a:solidFill>
                  <a:srgbClr val="00696B"/>
                </a:solidFill>
                <a:latin typeface="Aptos"/>
              </a:rPr>
              <a:t>FACTOR B</a:t>
            </a:r>
          </a:p>
        </p:txBody>
      </p:sp>
      <p:sp>
        <p:nvSpPr>
          <p:cNvPr id="17" name="TextBox 16"/>
          <p:cNvSpPr txBox="1"/>
          <p:nvPr/>
        </p:nvSpPr>
        <p:spPr>
          <a:xfrm>
            <a:off x="3744468" y="3419856"/>
            <a:ext cx="2628900" cy="329184"/>
          </a:xfrm>
          <a:prstGeom prst="rect">
            <a:avLst/>
          </a:prstGeom>
          <a:noFill/>
        </p:spPr>
        <p:txBody>
          <a:bodyPr wrap="square" lIns="0" rIns="0" tIns="0" bIns="0" anchor="ctr">
            <a:spAutoFit/>
          </a:bodyPr>
          <a:lstStyle/>
          <a:p>
            <a:pPr algn="l">
              <a:lnSpc>
                <a:spcPct val="100000"/>
              </a:lnSpc>
            </a:pPr>
            <a:r>
              <a:rPr sz="1700" b="0" i="0">
                <a:solidFill>
                  <a:srgbClr val="000000"/>
                </a:solidFill>
                <a:latin typeface="Aptos Display"/>
              </a:rPr>
              <a:t>Trainable capacity</a:t>
            </a:r>
          </a:p>
        </p:txBody>
      </p:sp>
      <p:sp>
        <p:nvSpPr>
          <p:cNvPr id="18" name="TextBox 17"/>
          <p:cNvSpPr txBox="1"/>
          <p:nvPr/>
        </p:nvSpPr>
        <p:spPr>
          <a:xfrm>
            <a:off x="3744468" y="3785616"/>
            <a:ext cx="2628900" cy="731520"/>
          </a:xfrm>
          <a:prstGeom prst="rect">
            <a:avLst/>
          </a:prstGeom>
          <a:noFill/>
        </p:spPr>
        <p:txBody>
          <a:bodyPr wrap="square" lIns="0" rIns="0" tIns="0" bIns="0" anchor="t">
            <a:spAutoFit/>
          </a:bodyPr>
          <a:lstStyle/>
          <a:p>
            <a:pPr algn="l">
              <a:lnSpc>
                <a:spcPct val="120000"/>
              </a:lnSpc>
            </a:pPr>
            <a:r>
              <a:rPr sz="1150" b="0" i="0">
                <a:solidFill>
                  <a:srgbClr val="595959"/>
                </a:solidFill>
                <a:latin typeface="Aptos"/>
              </a:rPr>
              <a:t>Freezing also shrinks how many parameters the optimizer can move, which helps on 14k images whatever those weights mean.</a:t>
            </a:r>
          </a:p>
        </p:txBody>
      </p:sp>
      <p:cxnSp>
        <p:nvCxnSpPr>
          <p:cNvPr id="19" name="Connector 18"/>
          <p:cNvCxnSpPr/>
          <p:nvPr/>
        </p:nvCxnSpPr>
        <p:spPr>
          <a:xfrm>
            <a:off x="841248" y="4645152"/>
            <a:ext cx="553212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41248" y="4754880"/>
            <a:ext cx="5532120" cy="310896"/>
          </a:xfrm>
          <a:prstGeom prst="rect">
            <a:avLst/>
          </a:prstGeom>
          <a:noFill/>
        </p:spPr>
        <p:txBody>
          <a:bodyPr wrap="square" lIns="0" rIns="0" tIns="0" bIns="0" anchor="ctr">
            <a:spAutoFit/>
          </a:bodyPr>
          <a:lstStyle/>
          <a:p>
            <a:pPr algn="l">
              <a:lnSpc>
                <a:spcPct val="100000"/>
              </a:lnSpc>
            </a:pPr>
            <a:r>
              <a:rPr sz="1400" b="1" i="0">
                <a:solidFill>
                  <a:srgbClr val="00696B"/>
                </a:solidFill>
                <a:latin typeface="Aptos Display"/>
              </a:rPr>
              <a:t>Goal.  </a:t>
            </a:r>
            <a:r>
              <a:rPr sz="1400" b="0" i="1">
                <a:solidFill>
                  <a:srgbClr val="000000"/>
                </a:solidFill>
                <a:latin typeface="Aptos Display"/>
              </a:rPr>
              <a:t>Vary one at a time.</a:t>
            </a:r>
          </a:p>
        </p:txBody>
      </p:sp>
      <p:cxnSp>
        <p:nvCxnSpPr>
          <p:cNvPr id="21" name="Connector 20"/>
          <p:cNvCxnSpPr/>
          <p:nvPr/>
        </p:nvCxnSpPr>
        <p:spPr>
          <a:xfrm>
            <a:off x="6830568" y="2798064"/>
            <a:ext cx="452015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30568" y="2871216"/>
            <a:ext cx="4520153"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Research objectives</a:t>
            </a:r>
          </a:p>
        </p:txBody>
      </p:sp>
      <p:sp>
        <p:nvSpPr>
          <p:cNvPr id="23" name="TextBox 22"/>
          <p:cNvSpPr txBox="1"/>
          <p:nvPr/>
        </p:nvSpPr>
        <p:spPr>
          <a:xfrm>
            <a:off x="6830568" y="3236976"/>
            <a:ext cx="384048" cy="256032"/>
          </a:xfrm>
          <a:prstGeom prst="rect">
            <a:avLst/>
          </a:prstGeom>
          <a:noFill/>
        </p:spPr>
        <p:txBody>
          <a:bodyPr wrap="square" lIns="0" rIns="0" tIns="0" bIns="0" anchor="t">
            <a:spAutoFit/>
          </a:bodyPr>
          <a:lstStyle/>
          <a:p>
            <a:pPr algn="l">
              <a:lnSpc>
                <a:spcPct val="100000"/>
              </a:lnSpc>
            </a:pPr>
            <a:r>
              <a:rPr sz="1200" b="1" i="0">
                <a:solidFill>
                  <a:srgbClr val="00696B"/>
                </a:solidFill>
                <a:latin typeface="Aptos Display"/>
              </a:rPr>
              <a:t>O1</a:t>
            </a:r>
          </a:p>
        </p:txBody>
      </p:sp>
      <p:sp>
        <p:nvSpPr>
          <p:cNvPr id="24" name="TextBox 23"/>
          <p:cNvSpPr txBox="1"/>
          <p:nvPr/>
        </p:nvSpPr>
        <p:spPr>
          <a:xfrm>
            <a:off x="7269479" y="3236976"/>
            <a:ext cx="4081241" cy="274320"/>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Quantify feature quality, capacity fixed</a:t>
            </a:r>
          </a:p>
        </p:txBody>
      </p:sp>
      <p:sp>
        <p:nvSpPr>
          <p:cNvPr id="25" name="TextBox 24"/>
          <p:cNvSpPr txBox="1"/>
          <p:nvPr/>
        </p:nvSpPr>
        <p:spPr>
          <a:xfrm>
            <a:off x="7269479" y="3493008"/>
            <a:ext cx="4081241"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Pretrained-Frozen against the capacity-matched control.</a:t>
            </a:r>
          </a:p>
        </p:txBody>
      </p:sp>
      <p:sp>
        <p:nvSpPr>
          <p:cNvPr id="26" name="TextBox 25"/>
          <p:cNvSpPr txBox="1"/>
          <p:nvPr/>
        </p:nvSpPr>
        <p:spPr>
          <a:xfrm>
            <a:off x="6830568" y="3831336"/>
            <a:ext cx="384048" cy="256032"/>
          </a:xfrm>
          <a:prstGeom prst="rect">
            <a:avLst/>
          </a:prstGeom>
          <a:noFill/>
        </p:spPr>
        <p:txBody>
          <a:bodyPr wrap="square" lIns="0" rIns="0" tIns="0" bIns="0" anchor="t">
            <a:spAutoFit/>
          </a:bodyPr>
          <a:lstStyle/>
          <a:p>
            <a:pPr algn="l">
              <a:lnSpc>
                <a:spcPct val="100000"/>
              </a:lnSpc>
            </a:pPr>
            <a:r>
              <a:rPr sz="1200" b="1" i="0">
                <a:solidFill>
                  <a:srgbClr val="00696B"/>
                </a:solidFill>
                <a:latin typeface="Aptos Display"/>
              </a:rPr>
              <a:t>O2</a:t>
            </a:r>
          </a:p>
        </p:txBody>
      </p:sp>
      <p:sp>
        <p:nvSpPr>
          <p:cNvPr id="27" name="TextBox 26"/>
          <p:cNvSpPr txBox="1"/>
          <p:nvPr/>
        </p:nvSpPr>
        <p:spPr>
          <a:xfrm>
            <a:off x="7269479" y="3831336"/>
            <a:ext cx="4081241" cy="274320"/>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Quantify the contribution of capacity</a:t>
            </a:r>
          </a:p>
        </p:txBody>
      </p:sp>
      <p:sp>
        <p:nvSpPr>
          <p:cNvPr id="28" name="TextBox 27"/>
          <p:cNvSpPr txBox="1"/>
          <p:nvPr/>
        </p:nvSpPr>
        <p:spPr>
          <a:xfrm>
            <a:off x="7269479" y="4087368"/>
            <a:ext cx="4081241"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The frozen random control against a fully trainable network.</a:t>
            </a:r>
          </a:p>
        </p:txBody>
      </p:sp>
      <p:sp>
        <p:nvSpPr>
          <p:cNvPr id="29" name="TextBox 28"/>
          <p:cNvSpPr txBox="1"/>
          <p:nvPr/>
        </p:nvSpPr>
        <p:spPr>
          <a:xfrm>
            <a:off x="6830568" y="4425696"/>
            <a:ext cx="384048" cy="256032"/>
          </a:xfrm>
          <a:prstGeom prst="rect">
            <a:avLst/>
          </a:prstGeom>
          <a:noFill/>
        </p:spPr>
        <p:txBody>
          <a:bodyPr wrap="square" lIns="0" rIns="0" tIns="0" bIns="0" anchor="t">
            <a:spAutoFit/>
          </a:bodyPr>
          <a:lstStyle/>
          <a:p>
            <a:pPr algn="l">
              <a:lnSpc>
                <a:spcPct val="100000"/>
              </a:lnSpc>
            </a:pPr>
            <a:r>
              <a:rPr sz="1200" b="1" i="0">
                <a:solidFill>
                  <a:srgbClr val="00696B"/>
                </a:solidFill>
                <a:latin typeface="Aptos Display"/>
              </a:rPr>
              <a:t>O3</a:t>
            </a:r>
          </a:p>
        </p:txBody>
      </p:sp>
      <p:sp>
        <p:nvSpPr>
          <p:cNvPr id="30" name="TextBox 29"/>
          <p:cNvSpPr txBox="1"/>
          <p:nvPr/>
        </p:nvSpPr>
        <p:spPr>
          <a:xfrm>
            <a:off x="7269479" y="4425696"/>
            <a:ext cx="4081241" cy="274320"/>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Locate where fine-tuning stops paying</a:t>
            </a:r>
          </a:p>
        </p:txBody>
      </p:sp>
      <p:sp>
        <p:nvSpPr>
          <p:cNvPr id="31" name="TextBox 30"/>
          <p:cNvSpPr txBox="1"/>
          <p:nvPr/>
        </p:nvSpPr>
        <p:spPr>
          <a:xfrm>
            <a:off x="7269479" y="4681728"/>
            <a:ext cx="4081241"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A freeze-depth sweep, linear probe to full fine-tuning.</a:t>
            </a:r>
          </a:p>
        </p:txBody>
      </p:sp>
      <p:sp>
        <p:nvSpPr>
          <p:cNvPr id="32" name="TextBox 31"/>
          <p:cNvSpPr txBox="1"/>
          <p:nvPr/>
        </p:nvSpPr>
        <p:spPr>
          <a:xfrm>
            <a:off x="6830568" y="5020056"/>
            <a:ext cx="384048" cy="256032"/>
          </a:xfrm>
          <a:prstGeom prst="rect">
            <a:avLst/>
          </a:prstGeom>
          <a:noFill/>
        </p:spPr>
        <p:txBody>
          <a:bodyPr wrap="square" lIns="0" rIns="0" tIns="0" bIns="0" anchor="t">
            <a:spAutoFit/>
          </a:bodyPr>
          <a:lstStyle/>
          <a:p>
            <a:pPr algn="l">
              <a:lnSpc>
                <a:spcPct val="100000"/>
              </a:lnSpc>
            </a:pPr>
            <a:r>
              <a:rPr sz="1200" b="1" i="0">
                <a:solidFill>
                  <a:srgbClr val="00696B"/>
                </a:solidFill>
                <a:latin typeface="Aptos Display"/>
              </a:rPr>
              <a:t>O4</a:t>
            </a:r>
          </a:p>
        </p:txBody>
      </p:sp>
      <p:sp>
        <p:nvSpPr>
          <p:cNvPr id="33" name="TextBox 32"/>
          <p:cNvSpPr txBox="1"/>
          <p:nvPr/>
        </p:nvSpPr>
        <p:spPr>
          <a:xfrm>
            <a:off x="7269479" y="5020056"/>
            <a:ext cx="4081241" cy="274320"/>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Measure the first layer's reach</a:t>
            </a:r>
          </a:p>
        </p:txBody>
      </p:sp>
      <p:sp>
        <p:nvSpPr>
          <p:cNvPr id="34" name="TextBox 33"/>
          <p:cNvSpPr txBox="1"/>
          <p:nvPr/>
        </p:nvSpPr>
        <p:spPr>
          <a:xfrm>
            <a:off x="7269479" y="5276088"/>
            <a:ext cx="4081241"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Replace conv1 with a fixed Gabor bank, then unfreeze upward.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PRIOR WORK</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Literature Review</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Four established findings frame the study; one gap motivates it.</a:t>
            </a:r>
          </a:p>
        </p:txBody>
      </p:sp>
      <p:sp>
        <p:nvSpPr>
          <p:cNvPr id="5" name="TextBox 4"/>
          <p:cNvSpPr txBox="1"/>
          <p:nvPr/>
        </p:nvSpPr>
        <p:spPr>
          <a:xfrm>
            <a:off x="841248" y="2020824"/>
            <a:ext cx="5760720" cy="292608"/>
          </a:xfrm>
          <a:prstGeom prst="rect">
            <a:avLst/>
          </a:prstGeom>
          <a:noFill/>
        </p:spPr>
        <p:txBody>
          <a:bodyPr wrap="square" lIns="0" rIns="0" tIns="0" bIns="0" anchor="t">
            <a:spAutoFit/>
          </a:bodyPr>
          <a:lstStyle/>
          <a:p>
            <a:pPr algn="l">
              <a:lnSpc>
                <a:spcPct val="100000"/>
              </a:lnSpc>
            </a:pPr>
            <a:r>
              <a:rPr sz="1600" b="0" i="0">
                <a:solidFill>
                  <a:srgbClr val="000000"/>
                </a:solidFill>
                <a:latin typeface="Aptos Display"/>
              </a:rPr>
              <a:t>Pretrained features transfer off the shelf</a:t>
            </a:r>
          </a:p>
        </p:txBody>
      </p:sp>
      <p:sp>
        <p:nvSpPr>
          <p:cNvPr id="6" name="TextBox 5"/>
          <p:cNvSpPr txBox="1"/>
          <p:nvPr/>
        </p:nvSpPr>
        <p:spPr>
          <a:xfrm>
            <a:off x="6784848" y="2057400"/>
            <a:ext cx="4565873" cy="274320"/>
          </a:xfrm>
          <a:prstGeom prst="rect">
            <a:avLst/>
          </a:prstGeom>
          <a:noFill/>
        </p:spPr>
        <p:txBody>
          <a:bodyPr wrap="square" lIns="0" rIns="0" tIns="0" bIns="0" anchor="t">
            <a:spAutoFit/>
          </a:bodyPr>
          <a:lstStyle/>
          <a:p>
            <a:pPr algn="l">
              <a:lnSpc>
                <a:spcPct val="100000"/>
              </a:lnSpc>
            </a:pPr>
            <a:r>
              <a:rPr sz="1100" b="0" i="0">
                <a:solidFill>
                  <a:srgbClr val="00696B"/>
                </a:solidFill>
                <a:latin typeface="Aptos"/>
              </a:rPr>
              <a:t>Razavian et al., CVPR-W 2014  ·  Kornblith et al., CVPR 2019</a:t>
            </a:r>
          </a:p>
        </p:txBody>
      </p:sp>
      <p:sp>
        <p:nvSpPr>
          <p:cNvPr id="7" name="TextBox 6"/>
          <p:cNvSpPr txBox="1"/>
          <p:nvPr/>
        </p:nvSpPr>
        <p:spPr>
          <a:xfrm>
            <a:off x="841248" y="2350008"/>
            <a:ext cx="9692640" cy="310896"/>
          </a:xfrm>
          <a:prstGeom prst="rect">
            <a:avLst/>
          </a:prstGeom>
          <a:noFill/>
        </p:spPr>
        <p:txBody>
          <a:bodyPr wrap="square" lIns="0" rIns="0" tIns="0" bIns="0" anchor="t">
            <a:spAutoFit/>
          </a:bodyPr>
          <a:lstStyle/>
          <a:p>
            <a:pPr algn="l">
              <a:lnSpc>
                <a:spcPct val="120000"/>
              </a:lnSpc>
            </a:pPr>
            <a:r>
              <a:rPr sz="1200" b="0" i="0">
                <a:solidFill>
                  <a:srgbClr val="595959"/>
                </a:solidFill>
                <a:latin typeface="Aptos"/>
              </a:rPr>
              <a:t>A frozen backbone plus a linear classifier is a strong baseline across tasks, and ImageNet accuracy tracks transfer accuracy closely.</a:t>
            </a:r>
          </a:p>
        </p:txBody>
      </p:sp>
      <p:cxnSp>
        <p:nvCxnSpPr>
          <p:cNvPr id="8" name="Connector 7"/>
          <p:cNvCxnSpPr/>
          <p:nvPr/>
        </p:nvCxnSpPr>
        <p:spPr>
          <a:xfrm>
            <a:off x="841248" y="2660903"/>
            <a:ext cx="10509473"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2825496"/>
            <a:ext cx="5760720" cy="292608"/>
          </a:xfrm>
          <a:prstGeom prst="rect">
            <a:avLst/>
          </a:prstGeom>
          <a:noFill/>
        </p:spPr>
        <p:txBody>
          <a:bodyPr wrap="square" lIns="0" rIns="0" tIns="0" bIns="0" anchor="t">
            <a:spAutoFit/>
          </a:bodyPr>
          <a:lstStyle/>
          <a:p>
            <a:pPr algn="l">
              <a:lnSpc>
                <a:spcPct val="100000"/>
              </a:lnSpc>
            </a:pPr>
            <a:r>
              <a:rPr sz="1600" b="0" i="0">
                <a:solidFill>
                  <a:srgbClr val="000000"/>
                </a:solidFill>
                <a:latin typeface="Aptos Display"/>
              </a:rPr>
              <a:t>Transferability is layer-dependent</a:t>
            </a:r>
          </a:p>
        </p:txBody>
      </p:sp>
      <p:sp>
        <p:nvSpPr>
          <p:cNvPr id="10" name="TextBox 9"/>
          <p:cNvSpPr txBox="1"/>
          <p:nvPr/>
        </p:nvSpPr>
        <p:spPr>
          <a:xfrm>
            <a:off x="6784848" y="2862072"/>
            <a:ext cx="4565873" cy="274320"/>
          </a:xfrm>
          <a:prstGeom prst="rect">
            <a:avLst/>
          </a:prstGeom>
          <a:noFill/>
        </p:spPr>
        <p:txBody>
          <a:bodyPr wrap="square" lIns="0" rIns="0" tIns="0" bIns="0" anchor="t">
            <a:spAutoFit/>
          </a:bodyPr>
          <a:lstStyle/>
          <a:p>
            <a:pPr algn="l">
              <a:lnSpc>
                <a:spcPct val="100000"/>
              </a:lnSpc>
            </a:pPr>
            <a:r>
              <a:rPr sz="1100" b="0" i="0">
                <a:solidFill>
                  <a:srgbClr val="00696B"/>
                </a:solidFill>
                <a:latin typeface="Aptos"/>
              </a:rPr>
              <a:t>Yosinski et al., NeurIPS 2014</a:t>
            </a:r>
          </a:p>
        </p:txBody>
      </p:sp>
      <p:sp>
        <p:nvSpPr>
          <p:cNvPr id="11" name="TextBox 10"/>
          <p:cNvSpPr txBox="1"/>
          <p:nvPr/>
        </p:nvSpPr>
        <p:spPr>
          <a:xfrm>
            <a:off x="841248" y="3154679"/>
            <a:ext cx="9692640" cy="310896"/>
          </a:xfrm>
          <a:prstGeom prst="rect">
            <a:avLst/>
          </a:prstGeom>
          <a:noFill/>
        </p:spPr>
        <p:txBody>
          <a:bodyPr wrap="square" lIns="0" rIns="0" tIns="0" bIns="0" anchor="t">
            <a:spAutoFit/>
          </a:bodyPr>
          <a:lstStyle/>
          <a:p>
            <a:pPr algn="l">
              <a:lnSpc>
                <a:spcPct val="120000"/>
              </a:lnSpc>
            </a:pPr>
            <a:r>
              <a:rPr sz="1200" b="0" i="0">
                <a:solidFill>
                  <a:srgbClr val="595959"/>
                </a:solidFill>
                <a:latin typeface="Aptos"/>
              </a:rPr>
              <a:t>Early layers learn generic edge and texture filters that transfer widely; later layers specialize to the source task.</a:t>
            </a:r>
          </a:p>
        </p:txBody>
      </p:sp>
      <p:cxnSp>
        <p:nvCxnSpPr>
          <p:cNvPr id="12" name="Connector 11"/>
          <p:cNvCxnSpPr/>
          <p:nvPr/>
        </p:nvCxnSpPr>
        <p:spPr>
          <a:xfrm>
            <a:off x="841248" y="3465575"/>
            <a:ext cx="10509473"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248" y="3630168"/>
            <a:ext cx="5760720" cy="292608"/>
          </a:xfrm>
          <a:prstGeom prst="rect">
            <a:avLst/>
          </a:prstGeom>
          <a:noFill/>
        </p:spPr>
        <p:txBody>
          <a:bodyPr wrap="square" lIns="0" rIns="0" tIns="0" bIns="0" anchor="t">
            <a:spAutoFit/>
          </a:bodyPr>
          <a:lstStyle/>
          <a:p>
            <a:pPr algn="l">
              <a:lnSpc>
                <a:spcPct val="100000"/>
              </a:lnSpc>
            </a:pPr>
            <a:r>
              <a:rPr sz="1600" b="0" i="0">
                <a:solidFill>
                  <a:srgbClr val="000000"/>
                </a:solidFill>
                <a:latin typeface="Aptos Display"/>
              </a:rPr>
              <a:t>Random weights are a legitimate baseline</a:t>
            </a:r>
          </a:p>
        </p:txBody>
      </p:sp>
      <p:sp>
        <p:nvSpPr>
          <p:cNvPr id="14" name="TextBox 13"/>
          <p:cNvSpPr txBox="1"/>
          <p:nvPr/>
        </p:nvSpPr>
        <p:spPr>
          <a:xfrm>
            <a:off x="6784848" y="3666744"/>
            <a:ext cx="4565873" cy="274320"/>
          </a:xfrm>
          <a:prstGeom prst="rect">
            <a:avLst/>
          </a:prstGeom>
          <a:noFill/>
        </p:spPr>
        <p:txBody>
          <a:bodyPr wrap="square" lIns="0" rIns="0" tIns="0" bIns="0" anchor="t">
            <a:spAutoFit/>
          </a:bodyPr>
          <a:lstStyle/>
          <a:p>
            <a:pPr algn="l">
              <a:lnSpc>
                <a:spcPct val="100000"/>
              </a:lnSpc>
            </a:pPr>
            <a:r>
              <a:rPr sz="1100" b="0" i="0">
                <a:solidFill>
                  <a:srgbClr val="00696B"/>
                </a:solidFill>
                <a:latin typeface="Aptos"/>
              </a:rPr>
              <a:t>Jarrett et al., ICCV 2009  ·  Saxe et al., ICML 2011</a:t>
            </a:r>
          </a:p>
        </p:txBody>
      </p:sp>
      <p:sp>
        <p:nvSpPr>
          <p:cNvPr id="15" name="TextBox 14"/>
          <p:cNvSpPr txBox="1"/>
          <p:nvPr/>
        </p:nvSpPr>
        <p:spPr>
          <a:xfrm>
            <a:off x="841248" y="3959352"/>
            <a:ext cx="9692640" cy="310896"/>
          </a:xfrm>
          <a:prstGeom prst="rect">
            <a:avLst/>
          </a:prstGeom>
          <a:noFill/>
        </p:spPr>
        <p:txBody>
          <a:bodyPr wrap="square" lIns="0" rIns="0" tIns="0" bIns="0" anchor="t">
            <a:spAutoFit/>
          </a:bodyPr>
          <a:lstStyle/>
          <a:p>
            <a:pPr algn="l">
              <a:lnSpc>
                <a:spcPct val="120000"/>
              </a:lnSpc>
            </a:pPr>
            <a:r>
              <a:rPr sz="1200" b="0" i="0">
                <a:solidFill>
                  <a:srgbClr val="595959"/>
                </a:solidFill>
                <a:latin typeface="Aptos"/>
              </a:rPr>
              <a:t>Untrained convolutional filters still yield usable representations, because some architectures are frequency selective by construction.</a:t>
            </a:r>
          </a:p>
        </p:txBody>
      </p:sp>
      <p:cxnSp>
        <p:nvCxnSpPr>
          <p:cNvPr id="16" name="Connector 15"/>
          <p:cNvCxnSpPr/>
          <p:nvPr/>
        </p:nvCxnSpPr>
        <p:spPr>
          <a:xfrm>
            <a:off x="841248" y="4270248"/>
            <a:ext cx="10509473"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1248" y="4434840"/>
            <a:ext cx="5760720" cy="292608"/>
          </a:xfrm>
          <a:prstGeom prst="rect">
            <a:avLst/>
          </a:prstGeom>
          <a:noFill/>
        </p:spPr>
        <p:txBody>
          <a:bodyPr wrap="square" lIns="0" rIns="0" tIns="0" bIns="0" anchor="t">
            <a:spAutoFit/>
          </a:bodyPr>
          <a:lstStyle/>
          <a:p>
            <a:pPr algn="l">
              <a:lnSpc>
                <a:spcPct val="100000"/>
              </a:lnSpc>
            </a:pPr>
            <a:r>
              <a:rPr sz="1600" b="0" i="0">
                <a:solidFill>
                  <a:srgbClr val="000000"/>
                </a:solidFill>
                <a:latin typeface="Aptos Display"/>
              </a:rPr>
              <a:t>Transfer gains can be over-parameterization</a:t>
            </a:r>
          </a:p>
        </p:txBody>
      </p:sp>
      <p:sp>
        <p:nvSpPr>
          <p:cNvPr id="18" name="TextBox 17"/>
          <p:cNvSpPr txBox="1"/>
          <p:nvPr/>
        </p:nvSpPr>
        <p:spPr>
          <a:xfrm>
            <a:off x="6784848" y="4471416"/>
            <a:ext cx="4565873" cy="274320"/>
          </a:xfrm>
          <a:prstGeom prst="rect">
            <a:avLst/>
          </a:prstGeom>
          <a:noFill/>
        </p:spPr>
        <p:txBody>
          <a:bodyPr wrap="square" lIns="0" rIns="0" tIns="0" bIns="0" anchor="t">
            <a:spAutoFit/>
          </a:bodyPr>
          <a:lstStyle/>
          <a:p>
            <a:pPr algn="l">
              <a:lnSpc>
                <a:spcPct val="100000"/>
              </a:lnSpc>
            </a:pPr>
            <a:r>
              <a:rPr sz="1100" b="0" i="0">
                <a:solidFill>
                  <a:srgbClr val="00696B"/>
                </a:solidFill>
                <a:latin typeface="Aptos"/>
              </a:rPr>
              <a:t>Raghu et al., NeurIPS 2019</a:t>
            </a:r>
          </a:p>
        </p:txBody>
      </p:sp>
      <p:sp>
        <p:nvSpPr>
          <p:cNvPr id="19" name="TextBox 18"/>
          <p:cNvSpPr txBox="1"/>
          <p:nvPr/>
        </p:nvSpPr>
        <p:spPr>
          <a:xfrm>
            <a:off x="841248" y="4764024"/>
            <a:ext cx="9692640" cy="310896"/>
          </a:xfrm>
          <a:prstGeom prst="rect">
            <a:avLst/>
          </a:prstGeom>
          <a:noFill/>
        </p:spPr>
        <p:txBody>
          <a:bodyPr wrap="square" lIns="0" rIns="0" tIns="0" bIns="0" anchor="t">
            <a:spAutoFit/>
          </a:bodyPr>
          <a:lstStyle/>
          <a:p>
            <a:pPr algn="l">
              <a:lnSpc>
                <a:spcPct val="120000"/>
              </a:lnSpc>
            </a:pPr>
            <a:r>
              <a:rPr sz="1200" b="0" i="0">
                <a:solidFill>
                  <a:srgbClr val="595959"/>
                </a:solidFill>
                <a:latin typeface="Aptos"/>
              </a:rPr>
              <a:t>In medical imaging much of the apparent benefit is attributable to model size rather than to genuinely reused features.</a:t>
            </a:r>
          </a:p>
        </p:txBody>
      </p:sp>
      <p:cxnSp>
        <p:nvCxnSpPr>
          <p:cNvPr id="20" name="Connector 19"/>
          <p:cNvCxnSpPr/>
          <p:nvPr/>
        </p:nvCxnSpPr>
        <p:spPr>
          <a:xfrm>
            <a:off x="841248" y="5111496"/>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41248" y="5257799"/>
            <a:ext cx="9326880" cy="457200"/>
          </a:xfrm>
          <a:prstGeom prst="rect">
            <a:avLst/>
          </a:prstGeom>
          <a:noFill/>
        </p:spPr>
        <p:txBody>
          <a:bodyPr wrap="square" lIns="0" rIns="0" tIns="0" bIns="0" anchor="t">
            <a:spAutoFit/>
          </a:bodyPr>
          <a:lstStyle/>
          <a:p>
            <a:pPr algn="l">
              <a:lnSpc>
                <a:spcPct val="120000"/>
              </a:lnSpc>
            </a:pPr>
            <a:r>
              <a:rPr sz="1500" b="1" i="0">
                <a:solidFill>
                  <a:srgbClr val="00696B"/>
                </a:solidFill>
                <a:latin typeface="Aptos Display"/>
              </a:rPr>
              <a:t>Gap.  </a:t>
            </a:r>
            <a:r>
              <a:rPr sz="1500" b="0" i="1">
                <a:solidFill>
                  <a:srgbClr val="000000"/>
                </a:solidFill>
                <a:latin typeface="Aptos Display"/>
              </a:rPr>
              <a:t>No prior study holds trainable capacity fixed while varying only the quality of the frozen features on a single architecture.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DESIGN, ARCHITECTURE AND PROTOCOL</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Methodology</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Three conditions on one architecture. Only the treatment of the early block θf changes; everything else is held constant.</a:t>
            </a:r>
          </a:p>
        </p:txBody>
      </p:sp>
      <p:sp>
        <p:nvSpPr>
          <p:cNvPr id="5" name="TextBox 4"/>
          <p:cNvSpPr txBox="1"/>
          <p:nvPr/>
        </p:nvSpPr>
        <p:spPr>
          <a:xfrm>
            <a:off x="841248" y="1975104"/>
            <a:ext cx="2651760" cy="219456"/>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CONDITION</a:t>
            </a:r>
          </a:p>
        </p:txBody>
      </p:sp>
      <p:sp>
        <p:nvSpPr>
          <p:cNvPr id="6" name="TextBox 5"/>
          <p:cNvSpPr txBox="1"/>
          <p:nvPr/>
        </p:nvSpPr>
        <p:spPr>
          <a:xfrm>
            <a:off x="3538728" y="1975104"/>
            <a:ext cx="2423160" cy="219456"/>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EARLY BLOCK ΘF</a:t>
            </a:r>
          </a:p>
        </p:txBody>
      </p:sp>
      <p:sp>
        <p:nvSpPr>
          <p:cNvPr id="7" name="TextBox 6"/>
          <p:cNvSpPr txBox="1"/>
          <p:nvPr/>
        </p:nvSpPr>
        <p:spPr>
          <a:xfrm>
            <a:off x="6007608" y="1975104"/>
            <a:ext cx="2423160" cy="219456"/>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LATE BLOCK ΘT</a:t>
            </a:r>
          </a:p>
        </p:txBody>
      </p:sp>
      <p:sp>
        <p:nvSpPr>
          <p:cNvPr id="8" name="TextBox 7"/>
          <p:cNvSpPr txBox="1"/>
          <p:nvPr/>
        </p:nvSpPr>
        <p:spPr>
          <a:xfrm>
            <a:off x="8476488" y="1975104"/>
            <a:ext cx="3715481" cy="219456"/>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TRAINABLE SHARE</a:t>
            </a:r>
          </a:p>
        </p:txBody>
      </p:sp>
      <p:cxnSp>
        <p:nvCxnSpPr>
          <p:cNvPr id="9" name="Connector 8"/>
          <p:cNvCxnSpPr/>
          <p:nvPr/>
        </p:nvCxnSpPr>
        <p:spPr>
          <a:xfrm>
            <a:off x="841248" y="2231136"/>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41248" y="2340864"/>
            <a:ext cx="2651760" cy="347472"/>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Pretrained-Frozen</a:t>
            </a:r>
          </a:p>
        </p:txBody>
      </p:sp>
      <p:sp>
        <p:nvSpPr>
          <p:cNvPr id="11" name="TextBox 10"/>
          <p:cNvSpPr txBox="1"/>
          <p:nvPr/>
        </p:nvSpPr>
        <p:spPr>
          <a:xfrm>
            <a:off x="3538728" y="2340864"/>
            <a:ext cx="2423160" cy="347472"/>
          </a:xfrm>
          <a:prstGeom prst="rect">
            <a:avLst/>
          </a:prstGeom>
          <a:noFill/>
        </p:spPr>
        <p:txBody>
          <a:bodyPr wrap="square" lIns="0" rIns="0" tIns="0" bIns="0" anchor="ctr">
            <a:spAutoFit/>
          </a:bodyPr>
          <a:lstStyle/>
          <a:p>
            <a:pPr algn="l">
              <a:lnSpc>
                <a:spcPct val="100000"/>
              </a:lnSpc>
            </a:pPr>
            <a:r>
              <a:rPr sz="1150" b="0" i="0">
                <a:solidFill>
                  <a:srgbClr val="595959"/>
                </a:solidFill>
                <a:latin typeface="Aptos"/>
              </a:rPr>
              <a:t>ImageNet weights, frozen</a:t>
            </a:r>
          </a:p>
        </p:txBody>
      </p:sp>
      <p:sp>
        <p:nvSpPr>
          <p:cNvPr id="12" name="TextBox 11"/>
          <p:cNvSpPr txBox="1"/>
          <p:nvPr/>
        </p:nvSpPr>
        <p:spPr>
          <a:xfrm>
            <a:off x="6007608" y="2340864"/>
            <a:ext cx="2423160" cy="347472"/>
          </a:xfrm>
          <a:prstGeom prst="rect">
            <a:avLst/>
          </a:prstGeom>
          <a:noFill/>
        </p:spPr>
        <p:txBody>
          <a:bodyPr wrap="square" lIns="0" rIns="0" tIns="0" bIns="0" anchor="ctr">
            <a:spAutoFit/>
          </a:bodyPr>
          <a:lstStyle/>
          <a:p>
            <a:pPr algn="l">
              <a:lnSpc>
                <a:spcPct val="100000"/>
              </a:lnSpc>
            </a:pPr>
            <a:r>
              <a:rPr sz="1150" b="0" i="0">
                <a:solidFill>
                  <a:srgbClr val="595959"/>
                </a:solidFill>
                <a:latin typeface="Aptos"/>
              </a:rPr>
              <a:t>trained · 8,396,806</a:t>
            </a:r>
          </a:p>
        </p:txBody>
      </p:sp>
      <p:sp>
        <p:nvSpPr>
          <p:cNvPr id="13" name="Rectangle 12"/>
          <p:cNvSpPr/>
          <p:nvPr/>
        </p:nvSpPr>
        <p:spPr>
          <a:xfrm>
            <a:off x="8476488" y="2441448"/>
            <a:ext cx="3075401" cy="14630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242262" y="2441448"/>
            <a:ext cx="2309626" cy="146304"/>
          </a:xfrm>
          <a:prstGeom prst="rect">
            <a:avLst/>
          </a:prstGeom>
          <a:solidFill>
            <a:srgbClr val="006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25041" y="2340864"/>
            <a:ext cx="548640" cy="347472"/>
          </a:xfrm>
          <a:prstGeom prst="rect">
            <a:avLst/>
          </a:prstGeom>
          <a:noFill/>
        </p:spPr>
        <p:txBody>
          <a:bodyPr wrap="square" lIns="0" rIns="0" tIns="0" bIns="0" anchor="ctr">
            <a:spAutoFit/>
          </a:bodyPr>
          <a:lstStyle/>
          <a:p>
            <a:pPr algn="l">
              <a:lnSpc>
                <a:spcPct val="100000"/>
              </a:lnSpc>
            </a:pPr>
            <a:r>
              <a:rPr sz="1050" b="0" i="0">
                <a:solidFill>
                  <a:srgbClr val="595959"/>
                </a:solidFill>
                <a:latin typeface="Aptos Display"/>
              </a:rPr>
              <a:t>75%</a:t>
            </a:r>
          </a:p>
        </p:txBody>
      </p:sp>
      <p:cxnSp>
        <p:nvCxnSpPr>
          <p:cNvPr id="16" name="Connector 15"/>
          <p:cNvCxnSpPr/>
          <p:nvPr/>
        </p:nvCxnSpPr>
        <p:spPr>
          <a:xfrm>
            <a:off x="841248" y="2761488"/>
            <a:ext cx="10509473"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1248" y="2852928"/>
            <a:ext cx="2651760" cy="347472"/>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Random-Frozen</a:t>
            </a:r>
            <a:r>
              <a:rPr sz="900" b="0" i="1">
                <a:solidFill>
                  <a:srgbClr val="00696B"/>
                </a:solidFill>
                <a:latin typeface="Aptos"/>
              </a:rPr>
              <a:t>  control</a:t>
            </a:r>
          </a:p>
        </p:txBody>
      </p:sp>
      <p:sp>
        <p:nvSpPr>
          <p:cNvPr id="18" name="TextBox 17"/>
          <p:cNvSpPr txBox="1"/>
          <p:nvPr/>
        </p:nvSpPr>
        <p:spPr>
          <a:xfrm>
            <a:off x="3538728" y="2852928"/>
            <a:ext cx="2423160" cy="347472"/>
          </a:xfrm>
          <a:prstGeom prst="rect">
            <a:avLst/>
          </a:prstGeom>
          <a:noFill/>
        </p:spPr>
        <p:txBody>
          <a:bodyPr wrap="square" lIns="0" rIns="0" tIns="0" bIns="0" anchor="ctr">
            <a:spAutoFit/>
          </a:bodyPr>
          <a:lstStyle/>
          <a:p>
            <a:pPr algn="l">
              <a:lnSpc>
                <a:spcPct val="100000"/>
              </a:lnSpc>
            </a:pPr>
            <a:r>
              <a:rPr sz="1150" b="0" i="0">
                <a:solidFill>
                  <a:srgbClr val="595959"/>
                </a:solidFill>
                <a:latin typeface="Aptos"/>
              </a:rPr>
              <a:t>random weights, frozen</a:t>
            </a:r>
          </a:p>
        </p:txBody>
      </p:sp>
      <p:sp>
        <p:nvSpPr>
          <p:cNvPr id="19" name="TextBox 18"/>
          <p:cNvSpPr txBox="1"/>
          <p:nvPr/>
        </p:nvSpPr>
        <p:spPr>
          <a:xfrm>
            <a:off x="6007608" y="2852928"/>
            <a:ext cx="2423160" cy="347472"/>
          </a:xfrm>
          <a:prstGeom prst="rect">
            <a:avLst/>
          </a:prstGeom>
          <a:noFill/>
        </p:spPr>
        <p:txBody>
          <a:bodyPr wrap="square" lIns="0" rIns="0" tIns="0" bIns="0" anchor="ctr">
            <a:spAutoFit/>
          </a:bodyPr>
          <a:lstStyle/>
          <a:p>
            <a:pPr algn="l">
              <a:lnSpc>
                <a:spcPct val="100000"/>
              </a:lnSpc>
            </a:pPr>
            <a:r>
              <a:rPr sz="1150" b="0" i="0">
                <a:solidFill>
                  <a:srgbClr val="595959"/>
                </a:solidFill>
                <a:latin typeface="Aptos"/>
              </a:rPr>
              <a:t>trained · 8,396,806</a:t>
            </a:r>
          </a:p>
        </p:txBody>
      </p:sp>
      <p:sp>
        <p:nvSpPr>
          <p:cNvPr id="20" name="Rectangle 19"/>
          <p:cNvSpPr/>
          <p:nvPr/>
        </p:nvSpPr>
        <p:spPr>
          <a:xfrm>
            <a:off x="8476488" y="2953512"/>
            <a:ext cx="3075401" cy="14630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42262" y="2953512"/>
            <a:ext cx="2309626" cy="146304"/>
          </a:xfrm>
          <a:prstGeom prst="rect">
            <a:avLst/>
          </a:prstGeom>
          <a:solidFill>
            <a:srgbClr val="006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25041" y="2852928"/>
            <a:ext cx="548640" cy="347472"/>
          </a:xfrm>
          <a:prstGeom prst="rect">
            <a:avLst/>
          </a:prstGeom>
          <a:noFill/>
        </p:spPr>
        <p:txBody>
          <a:bodyPr wrap="square" lIns="0" rIns="0" tIns="0" bIns="0" anchor="ctr">
            <a:spAutoFit/>
          </a:bodyPr>
          <a:lstStyle/>
          <a:p>
            <a:pPr algn="l">
              <a:lnSpc>
                <a:spcPct val="100000"/>
              </a:lnSpc>
            </a:pPr>
            <a:r>
              <a:rPr sz="1050" b="0" i="0">
                <a:solidFill>
                  <a:srgbClr val="595959"/>
                </a:solidFill>
                <a:latin typeface="Aptos Display"/>
              </a:rPr>
              <a:t>75%</a:t>
            </a:r>
          </a:p>
        </p:txBody>
      </p:sp>
      <p:cxnSp>
        <p:nvCxnSpPr>
          <p:cNvPr id="23" name="Connector 22"/>
          <p:cNvCxnSpPr/>
          <p:nvPr/>
        </p:nvCxnSpPr>
        <p:spPr>
          <a:xfrm>
            <a:off x="841248" y="3273552"/>
            <a:ext cx="10509473"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1248" y="3364992"/>
            <a:ext cx="2651760" cy="347472"/>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Random-Full</a:t>
            </a:r>
          </a:p>
        </p:txBody>
      </p:sp>
      <p:sp>
        <p:nvSpPr>
          <p:cNvPr id="25" name="TextBox 24"/>
          <p:cNvSpPr txBox="1"/>
          <p:nvPr/>
        </p:nvSpPr>
        <p:spPr>
          <a:xfrm>
            <a:off x="3538728" y="3364992"/>
            <a:ext cx="2423160" cy="347472"/>
          </a:xfrm>
          <a:prstGeom prst="rect">
            <a:avLst/>
          </a:prstGeom>
          <a:noFill/>
        </p:spPr>
        <p:txBody>
          <a:bodyPr wrap="square" lIns="0" rIns="0" tIns="0" bIns="0" anchor="ctr">
            <a:spAutoFit/>
          </a:bodyPr>
          <a:lstStyle/>
          <a:p>
            <a:pPr algn="l">
              <a:lnSpc>
                <a:spcPct val="100000"/>
              </a:lnSpc>
            </a:pPr>
            <a:r>
              <a:rPr sz="1150" b="0" i="0">
                <a:solidFill>
                  <a:srgbClr val="595959"/>
                </a:solidFill>
                <a:latin typeface="Aptos"/>
              </a:rPr>
              <a:t>random weights, trained</a:t>
            </a:r>
          </a:p>
        </p:txBody>
      </p:sp>
      <p:sp>
        <p:nvSpPr>
          <p:cNvPr id="26" name="TextBox 25"/>
          <p:cNvSpPr txBox="1"/>
          <p:nvPr/>
        </p:nvSpPr>
        <p:spPr>
          <a:xfrm>
            <a:off x="6007608" y="3364992"/>
            <a:ext cx="2423160" cy="347472"/>
          </a:xfrm>
          <a:prstGeom prst="rect">
            <a:avLst/>
          </a:prstGeom>
          <a:noFill/>
        </p:spPr>
        <p:txBody>
          <a:bodyPr wrap="square" lIns="0" rIns="0" tIns="0" bIns="0" anchor="ctr">
            <a:spAutoFit/>
          </a:bodyPr>
          <a:lstStyle/>
          <a:p>
            <a:pPr algn="l">
              <a:lnSpc>
                <a:spcPct val="100000"/>
              </a:lnSpc>
            </a:pPr>
            <a:r>
              <a:rPr sz="1150" b="0" i="0">
                <a:solidFill>
                  <a:srgbClr val="595959"/>
                </a:solidFill>
                <a:latin typeface="Aptos"/>
              </a:rPr>
              <a:t>trained · 11,179,590</a:t>
            </a:r>
          </a:p>
        </p:txBody>
      </p:sp>
      <p:sp>
        <p:nvSpPr>
          <p:cNvPr id="27" name="Rectangle 26"/>
          <p:cNvSpPr/>
          <p:nvPr/>
        </p:nvSpPr>
        <p:spPr>
          <a:xfrm>
            <a:off x="8476488" y="3465576"/>
            <a:ext cx="3075401" cy="14630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76488" y="3465576"/>
            <a:ext cx="3075401" cy="146304"/>
          </a:xfrm>
          <a:prstGeom prst="rect">
            <a:avLst/>
          </a:prstGeom>
          <a:solidFill>
            <a:srgbClr val="006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625041" y="3364992"/>
            <a:ext cx="548640" cy="347472"/>
          </a:xfrm>
          <a:prstGeom prst="rect">
            <a:avLst/>
          </a:prstGeom>
          <a:noFill/>
        </p:spPr>
        <p:txBody>
          <a:bodyPr wrap="square" lIns="0" rIns="0" tIns="0" bIns="0" anchor="ctr">
            <a:spAutoFit/>
          </a:bodyPr>
          <a:lstStyle/>
          <a:p>
            <a:pPr algn="l">
              <a:lnSpc>
                <a:spcPct val="100000"/>
              </a:lnSpc>
            </a:pPr>
            <a:r>
              <a:rPr sz="1050" b="0" i="0">
                <a:solidFill>
                  <a:srgbClr val="595959"/>
                </a:solidFill>
                <a:latin typeface="Aptos Display"/>
              </a:rPr>
              <a:t>100%</a:t>
            </a:r>
          </a:p>
        </p:txBody>
      </p:sp>
      <p:cxnSp>
        <p:nvCxnSpPr>
          <p:cNvPr id="30" name="Connector 29"/>
          <p:cNvCxnSpPr/>
          <p:nvPr/>
        </p:nvCxnSpPr>
        <p:spPr>
          <a:xfrm>
            <a:off x="841248" y="3785616"/>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3895344"/>
            <a:ext cx="6766560" cy="457200"/>
          </a:xfrm>
          <a:prstGeom prst="rect">
            <a:avLst/>
          </a:prstGeom>
          <a:noFill/>
        </p:spPr>
        <p:txBody>
          <a:bodyPr wrap="square" lIns="0" rIns="0" tIns="0" bIns="0" anchor="t">
            <a:spAutoFit/>
          </a:bodyPr>
          <a:lstStyle/>
          <a:p>
            <a:pPr algn="l">
              <a:lnSpc>
                <a:spcPct val="115000"/>
              </a:lnSpc>
            </a:pPr>
            <a:r>
              <a:rPr sz="1200" b="0" i="0">
                <a:solidFill>
                  <a:srgbClr val="00696B"/>
                </a:solidFill>
                <a:latin typeface="Aptos Display"/>
              </a:rPr>
              <a:t>PT-F vs R-F</a:t>
            </a:r>
            <a:r>
              <a:rPr sz="1150" b="0" i="0">
                <a:solidFill>
                  <a:srgbClr val="262626"/>
                </a:solidFill>
                <a:latin typeface="Aptos"/>
              </a:rPr>
              <a:t>  isolates feature quality, capacity matched     </a:t>
            </a:r>
            <a:r>
              <a:rPr sz="1200" b="0" i="0">
                <a:solidFill>
                  <a:srgbClr val="00696B"/>
                </a:solidFill>
                <a:latin typeface="Aptos Display"/>
              </a:rPr>
              <a:t>R-F vs R-FL</a:t>
            </a:r>
            <a:r>
              <a:rPr sz="1150" b="0" i="0">
                <a:solidFill>
                  <a:srgbClr val="262626"/>
                </a:solidFill>
                <a:latin typeface="Aptos"/>
              </a:rPr>
              <a:t>  isolates trainable capacity, both random</a:t>
            </a:r>
          </a:p>
        </p:txBody>
      </p:sp>
      <p:cxnSp>
        <p:nvCxnSpPr>
          <p:cNvPr id="32" name="Connector 31"/>
          <p:cNvCxnSpPr/>
          <p:nvPr/>
        </p:nvCxnSpPr>
        <p:spPr>
          <a:xfrm>
            <a:off x="841248" y="4334256"/>
            <a:ext cx="676656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41248" y="4791456"/>
            <a:ext cx="676656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41248" y="4334256"/>
            <a:ext cx="1127760" cy="457200"/>
          </a:xfrm>
          <a:prstGeom prst="rect">
            <a:avLst/>
          </a:prstGeom>
          <a:noFill/>
        </p:spPr>
        <p:txBody>
          <a:bodyPr wrap="square" lIns="0" rIns="0" tIns="0" bIns="0" anchor="ctr">
            <a:spAutoFit/>
          </a:bodyPr>
          <a:lstStyle/>
          <a:p>
            <a:pPr algn="ctr">
              <a:lnSpc>
                <a:spcPct val="100000"/>
              </a:lnSpc>
            </a:pPr>
            <a:r>
              <a:rPr sz="1100" b="0" i="0">
                <a:solidFill>
                  <a:srgbClr val="000000"/>
                </a:solidFill>
                <a:latin typeface="Aptos Display"/>
              </a:rPr>
              <a:t>conv1 + bn1</a:t>
            </a:r>
          </a:p>
        </p:txBody>
      </p:sp>
      <p:cxnSp>
        <p:nvCxnSpPr>
          <p:cNvPr id="35" name="Connector 34"/>
          <p:cNvCxnSpPr/>
          <p:nvPr/>
        </p:nvCxnSpPr>
        <p:spPr>
          <a:xfrm>
            <a:off x="1969008" y="4334256"/>
            <a:ext cx="0" cy="45720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969008" y="4334256"/>
            <a:ext cx="1127760" cy="457200"/>
          </a:xfrm>
          <a:prstGeom prst="rect">
            <a:avLst/>
          </a:prstGeom>
          <a:noFill/>
        </p:spPr>
        <p:txBody>
          <a:bodyPr wrap="square" lIns="0" rIns="0" tIns="0" bIns="0" anchor="ctr">
            <a:spAutoFit/>
          </a:bodyPr>
          <a:lstStyle/>
          <a:p>
            <a:pPr algn="ctr">
              <a:lnSpc>
                <a:spcPct val="100000"/>
              </a:lnSpc>
            </a:pPr>
            <a:r>
              <a:rPr sz="1100" b="0" i="0">
                <a:solidFill>
                  <a:srgbClr val="000000"/>
                </a:solidFill>
                <a:latin typeface="Aptos Display"/>
              </a:rPr>
              <a:t>layer1</a:t>
            </a:r>
          </a:p>
        </p:txBody>
      </p:sp>
      <p:cxnSp>
        <p:nvCxnSpPr>
          <p:cNvPr id="37" name="Connector 36"/>
          <p:cNvCxnSpPr/>
          <p:nvPr/>
        </p:nvCxnSpPr>
        <p:spPr>
          <a:xfrm>
            <a:off x="3096768" y="4334256"/>
            <a:ext cx="0" cy="45720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096768" y="4334256"/>
            <a:ext cx="1127760" cy="457200"/>
          </a:xfrm>
          <a:prstGeom prst="rect">
            <a:avLst/>
          </a:prstGeom>
          <a:noFill/>
        </p:spPr>
        <p:txBody>
          <a:bodyPr wrap="square" lIns="0" rIns="0" tIns="0" bIns="0" anchor="ctr">
            <a:spAutoFit/>
          </a:bodyPr>
          <a:lstStyle/>
          <a:p>
            <a:pPr algn="ctr">
              <a:lnSpc>
                <a:spcPct val="100000"/>
              </a:lnSpc>
            </a:pPr>
            <a:r>
              <a:rPr sz="1100" b="0" i="0">
                <a:solidFill>
                  <a:srgbClr val="000000"/>
                </a:solidFill>
                <a:latin typeface="Aptos Display"/>
              </a:rPr>
              <a:t>layer2</a:t>
            </a:r>
          </a:p>
        </p:txBody>
      </p:sp>
      <p:cxnSp>
        <p:nvCxnSpPr>
          <p:cNvPr id="39" name="Connector 38"/>
          <p:cNvCxnSpPr/>
          <p:nvPr/>
        </p:nvCxnSpPr>
        <p:spPr>
          <a:xfrm>
            <a:off x="4224528" y="4334256"/>
            <a:ext cx="0" cy="45720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224528" y="4334256"/>
            <a:ext cx="1127760" cy="457200"/>
          </a:xfrm>
          <a:prstGeom prst="rect">
            <a:avLst/>
          </a:prstGeom>
          <a:noFill/>
        </p:spPr>
        <p:txBody>
          <a:bodyPr wrap="square" lIns="0" rIns="0" tIns="0" bIns="0" anchor="ctr">
            <a:spAutoFit/>
          </a:bodyPr>
          <a:lstStyle/>
          <a:p>
            <a:pPr algn="ctr">
              <a:lnSpc>
                <a:spcPct val="100000"/>
              </a:lnSpc>
            </a:pPr>
            <a:r>
              <a:rPr sz="1100" b="0" i="0">
                <a:solidFill>
                  <a:srgbClr val="000000"/>
                </a:solidFill>
                <a:latin typeface="Aptos Display"/>
              </a:rPr>
              <a:t>layer3</a:t>
            </a:r>
          </a:p>
        </p:txBody>
      </p:sp>
      <p:cxnSp>
        <p:nvCxnSpPr>
          <p:cNvPr id="41" name="Connector 40"/>
          <p:cNvCxnSpPr/>
          <p:nvPr/>
        </p:nvCxnSpPr>
        <p:spPr>
          <a:xfrm>
            <a:off x="5352288" y="4334256"/>
            <a:ext cx="0" cy="45720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352288" y="4334256"/>
            <a:ext cx="1127760" cy="457200"/>
          </a:xfrm>
          <a:prstGeom prst="rect">
            <a:avLst/>
          </a:prstGeom>
          <a:noFill/>
        </p:spPr>
        <p:txBody>
          <a:bodyPr wrap="square" lIns="0" rIns="0" tIns="0" bIns="0" anchor="ctr">
            <a:spAutoFit/>
          </a:bodyPr>
          <a:lstStyle/>
          <a:p>
            <a:pPr algn="ctr">
              <a:lnSpc>
                <a:spcPct val="100000"/>
              </a:lnSpc>
            </a:pPr>
            <a:r>
              <a:rPr sz="1100" b="0" i="0">
                <a:solidFill>
                  <a:srgbClr val="00696B"/>
                </a:solidFill>
                <a:latin typeface="Aptos Display"/>
              </a:rPr>
              <a:t>layer4</a:t>
            </a:r>
          </a:p>
        </p:txBody>
      </p:sp>
      <p:cxnSp>
        <p:nvCxnSpPr>
          <p:cNvPr id="43" name="Connector 42"/>
          <p:cNvCxnSpPr/>
          <p:nvPr/>
        </p:nvCxnSpPr>
        <p:spPr>
          <a:xfrm>
            <a:off x="6480048" y="4334256"/>
            <a:ext cx="0" cy="45720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80048" y="4334256"/>
            <a:ext cx="1127760" cy="457200"/>
          </a:xfrm>
          <a:prstGeom prst="rect">
            <a:avLst/>
          </a:prstGeom>
          <a:noFill/>
        </p:spPr>
        <p:txBody>
          <a:bodyPr wrap="square" lIns="0" rIns="0" tIns="0" bIns="0" anchor="ctr">
            <a:spAutoFit/>
          </a:bodyPr>
          <a:lstStyle/>
          <a:p>
            <a:pPr algn="ctr">
              <a:lnSpc>
                <a:spcPct val="100000"/>
              </a:lnSpc>
            </a:pPr>
            <a:r>
              <a:rPr sz="1100" b="0" i="0">
                <a:solidFill>
                  <a:srgbClr val="00696B"/>
                </a:solidFill>
                <a:latin typeface="Aptos Display"/>
              </a:rPr>
              <a:t>fc (6-class)</a:t>
            </a:r>
          </a:p>
        </p:txBody>
      </p:sp>
      <p:cxnSp>
        <p:nvCxnSpPr>
          <p:cNvPr id="45" name="Connector 44"/>
          <p:cNvCxnSpPr/>
          <p:nvPr/>
        </p:nvCxnSpPr>
        <p:spPr>
          <a:xfrm>
            <a:off x="859536" y="4992624"/>
            <a:ext cx="4474464"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59536" y="4928616"/>
            <a:ext cx="0" cy="64008"/>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334000" y="4928616"/>
            <a:ext cx="0" cy="64008"/>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59536" y="5047488"/>
            <a:ext cx="4474464" cy="237744"/>
          </a:xfrm>
          <a:prstGeom prst="rect">
            <a:avLst/>
          </a:prstGeom>
          <a:noFill/>
        </p:spPr>
        <p:txBody>
          <a:bodyPr wrap="square" lIns="0" rIns="0" tIns="0" bIns="0" anchor="ctr">
            <a:spAutoFit/>
          </a:bodyPr>
          <a:lstStyle/>
          <a:p>
            <a:pPr algn="ctr">
              <a:lnSpc>
                <a:spcPct val="100000"/>
              </a:lnSpc>
            </a:pPr>
            <a:r>
              <a:rPr sz="1000" b="0" i="0">
                <a:solidFill>
                  <a:srgbClr val="000000"/>
                </a:solidFill>
                <a:latin typeface="Aptos Display"/>
              </a:rPr>
              <a:t>θf frozen · 2,782,784 · BN in eval()</a:t>
            </a:r>
          </a:p>
        </p:txBody>
      </p:sp>
      <p:cxnSp>
        <p:nvCxnSpPr>
          <p:cNvPr id="49" name="Connector 48"/>
          <p:cNvCxnSpPr/>
          <p:nvPr/>
        </p:nvCxnSpPr>
        <p:spPr>
          <a:xfrm>
            <a:off x="5370576" y="4992624"/>
            <a:ext cx="2218944" cy="0"/>
          </a:xfrm>
          <a:prstGeom prst="line">
            <a:avLst/>
          </a:prstGeom>
          <a:ln w="15875">
            <a:solidFill>
              <a:srgbClr val="00696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370576" y="4928616"/>
            <a:ext cx="0" cy="64008"/>
          </a:xfrm>
          <a:prstGeom prst="line">
            <a:avLst/>
          </a:prstGeom>
          <a:ln w="15875">
            <a:solidFill>
              <a:srgbClr val="00696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589520" y="4928616"/>
            <a:ext cx="0" cy="64008"/>
          </a:xfrm>
          <a:prstGeom prst="line">
            <a:avLst/>
          </a:prstGeom>
          <a:ln w="15875">
            <a:solidFill>
              <a:srgbClr val="00696B"/>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370576" y="5047488"/>
            <a:ext cx="2218944" cy="237744"/>
          </a:xfrm>
          <a:prstGeom prst="rect">
            <a:avLst/>
          </a:prstGeom>
          <a:noFill/>
        </p:spPr>
        <p:txBody>
          <a:bodyPr wrap="square" lIns="0" rIns="0" tIns="0" bIns="0" anchor="ctr">
            <a:spAutoFit/>
          </a:bodyPr>
          <a:lstStyle/>
          <a:p>
            <a:pPr algn="ctr">
              <a:lnSpc>
                <a:spcPct val="100000"/>
              </a:lnSpc>
            </a:pPr>
            <a:r>
              <a:rPr sz="1000" b="0" i="0">
                <a:solidFill>
                  <a:srgbClr val="00696B"/>
                </a:solidFill>
                <a:latin typeface="Aptos Display"/>
              </a:rPr>
              <a:t>θt trainable · 8,396,806</a:t>
            </a:r>
          </a:p>
        </p:txBody>
      </p:sp>
      <p:sp>
        <p:nvSpPr>
          <p:cNvPr id="53" name="TextBox 52"/>
          <p:cNvSpPr txBox="1"/>
          <p:nvPr/>
        </p:nvSpPr>
        <p:spPr>
          <a:xfrm>
            <a:off x="841248" y="5321808"/>
            <a:ext cx="6766560" cy="548640"/>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requires_grad = False does not freeze BatchNorm: running statistics keep updating on every forward pass, so a block believed to be frozen quietly drifts. Both frozen conditions hold BatchNorm in eval mode; Random-Full updates normally, by design.</a:t>
            </a:r>
          </a:p>
        </p:txBody>
      </p:sp>
      <p:cxnSp>
        <p:nvCxnSpPr>
          <p:cNvPr id="54" name="Connector 53"/>
          <p:cNvCxnSpPr/>
          <p:nvPr/>
        </p:nvCxnSpPr>
        <p:spPr>
          <a:xfrm>
            <a:off x="8065008" y="3895344"/>
            <a:ext cx="328571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065008" y="3950208"/>
            <a:ext cx="3285713" cy="237744"/>
          </a:xfrm>
          <a:prstGeom prst="rect">
            <a:avLst/>
          </a:prstGeom>
          <a:noFill/>
        </p:spPr>
        <p:txBody>
          <a:bodyPr wrap="square" lIns="0" rIns="0" tIns="0" bIns="0" anchor="ctr">
            <a:spAutoFit/>
          </a:bodyPr>
          <a:lstStyle/>
          <a:p>
            <a:pPr algn="l">
              <a:lnSpc>
                <a:spcPct val="100000"/>
              </a:lnSpc>
            </a:pPr>
            <a:r>
              <a:rPr sz="1300" b="0" i="0">
                <a:solidFill>
                  <a:srgbClr val="000000"/>
                </a:solidFill>
                <a:latin typeface="Aptos Display"/>
              </a:rPr>
              <a:t>Protocol and setup</a:t>
            </a:r>
          </a:p>
        </p:txBody>
      </p:sp>
      <p:sp>
        <p:nvSpPr>
          <p:cNvPr id="56" name="Oval 55"/>
          <p:cNvSpPr/>
          <p:nvPr/>
        </p:nvSpPr>
        <p:spPr>
          <a:xfrm>
            <a:off x="8101584" y="4398264"/>
            <a:ext cx="73152" cy="7315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8138160" y="4489704"/>
            <a:ext cx="0" cy="4572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266176" y="4315968"/>
            <a:ext cx="3084545" cy="237744"/>
          </a:xfrm>
          <a:prstGeom prst="rect">
            <a:avLst/>
          </a:prstGeom>
          <a:noFill/>
        </p:spPr>
        <p:txBody>
          <a:bodyPr wrap="square" lIns="0" rIns="0" tIns="0" bIns="0" anchor="ctr">
            <a:spAutoFit/>
          </a:bodyPr>
          <a:lstStyle/>
          <a:p>
            <a:pPr algn="l">
              <a:lnSpc>
                <a:spcPct val="100000"/>
              </a:lnSpc>
            </a:pPr>
            <a:r>
              <a:rPr sz="1050" b="0" i="0">
                <a:solidFill>
                  <a:srgbClr val="262626"/>
                </a:solidFill>
                <a:latin typeface="Aptos"/>
              </a:rPr>
              <a:t>Stratified 90/10 split · 12,631 / 1,403</a:t>
            </a:r>
          </a:p>
        </p:txBody>
      </p:sp>
      <p:sp>
        <p:nvSpPr>
          <p:cNvPr id="59" name="Oval 58"/>
          <p:cNvSpPr/>
          <p:nvPr/>
        </p:nvSpPr>
        <p:spPr>
          <a:xfrm>
            <a:off x="8101584" y="4636008"/>
            <a:ext cx="73152" cy="7315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8138160" y="4727448"/>
            <a:ext cx="0" cy="4572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8266176" y="4553712"/>
            <a:ext cx="3084545" cy="237744"/>
          </a:xfrm>
          <a:prstGeom prst="rect">
            <a:avLst/>
          </a:prstGeom>
          <a:noFill/>
        </p:spPr>
        <p:txBody>
          <a:bodyPr wrap="square" lIns="0" rIns="0" tIns="0" bIns="0" anchor="ctr">
            <a:spAutoFit/>
          </a:bodyPr>
          <a:lstStyle/>
          <a:p>
            <a:pPr algn="l">
              <a:lnSpc>
                <a:spcPct val="100000"/>
              </a:lnSpc>
            </a:pPr>
            <a:r>
              <a:rPr sz="1050" b="0" i="0">
                <a:solidFill>
                  <a:srgbClr val="262626"/>
                </a:solidFill>
                <a:latin typeface="Aptos"/>
              </a:rPr>
              <a:t>Train 3 conditions × 3 seeds (42, 100, 2026)</a:t>
            </a:r>
          </a:p>
        </p:txBody>
      </p:sp>
      <p:sp>
        <p:nvSpPr>
          <p:cNvPr id="62" name="Oval 61"/>
          <p:cNvSpPr/>
          <p:nvPr/>
        </p:nvSpPr>
        <p:spPr>
          <a:xfrm>
            <a:off x="8101584" y="4873752"/>
            <a:ext cx="73152" cy="7315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8138160" y="4965192"/>
            <a:ext cx="0" cy="4572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266176" y="4791456"/>
            <a:ext cx="3084545" cy="237744"/>
          </a:xfrm>
          <a:prstGeom prst="rect">
            <a:avLst/>
          </a:prstGeom>
          <a:noFill/>
        </p:spPr>
        <p:txBody>
          <a:bodyPr wrap="square" lIns="0" rIns="0" tIns="0" bIns="0" anchor="ctr">
            <a:spAutoFit/>
          </a:bodyPr>
          <a:lstStyle/>
          <a:p>
            <a:pPr algn="l">
              <a:lnSpc>
                <a:spcPct val="100000"/>
              </a:lnSpc>
            </a:pPr>
            <a:r>
              <a:rPr sz="1050" b="0" i="0">
                <a:solidFill>
                  <a:srgbClr val="262626"/>
                </a:solidFill>
                <a:latin typeface="Aptos"/>
              </a:rPr>
              <a:t>SGD 1e-3, mom 0.9, wd 1e-4, batch 32</a:t>
            </a:r>
          </a:p>
        </p:txBody>
      </p:sp>
      <p:sp>
        <p:nvSpPr>
          <p:cNvPr id="65" name="Oval 64"/>
          <p:cNvSpPr/>
          <p:nvPr/>
        </p:nvSpPr>
        <p:spPr>
          <a:xfrm>
            <a:off x="8101584" y="5111496"/>
            <a:ext cx="73152" cy="7315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8138160" y="5202936"/>
            <a:ext cx="0" cy="4572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266176" y="5029200"/>
            <a:ext cx="3084545" cy="237744"/>
          </a:xfrm>
          <a:prstGeom prst="rect">
            <a:avLst/>
          </a:prstGeom>
          <a:noFill/>
        </p:spPr>
        <p:txBody>
          <a:bodyPr wrap="square" lIns="0" rIns="0" tIns="0" bIns="0" anchor="ctr">
            <a:spAutoFit/>
          </a:bodyPr>
          <a:lstStyle/>
          <a:p>
            <a:pPr algn="l">
              <a:lnSpc>
                <a:spcPct val="100000"/>
              </a:lnSpc>
            </a:pPr>
            <a:r>
              <a:rPr sz="1050" b="0" i="0">
                <a:solidFill>
                  <a:srgbClr val="262626"/>
                </a:solidFill>
                <a:latin typeface="Aptos"/>
              </a:rPr>
              <a:t>Early stop on val loss, patience 5</a:t>
            </a:r>
          </a:p>
        </p:txBody>
      </p:sp>
      <p:sp>
        <p:nvSpPr>
          <p:cNvPr id="68" name="Oval 67"/>
          <p:cNvSpPr/>
          <p:nvPr/>
        </p:nvSpPr>
        <p:spPr>
          <a:xfrm>
            <a:off x="8101584" y="5349240"/>
            <a:ext cx="73152" cy="73152"/>
          </a:xfrm>
          <a:prstGeom prst="ellipse">
            <a:avLst/>
          </a:prstGeom>
          <a:solidFill>
            <a:srgbClr val="006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8138160" y="5440680"/>
            <a:ext cx="0" cy="45720"/>
          </a:xfrm>
          <a:prstGeom prst="line">
            <a:avLst/>
          </a:prstGeom>
          <a:ln w="12700">
            <a:solidFill>
              <a:srgbClr val="9E9E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8266176" y="5266944"/>
            <a:ext cx="3084545" cy="237744"/>
          </a:xfrm>
          <a:prstGeom prst="rect">
            <a:avLst/>
          </a:prstGeom>
          <a:noFill/>
        </p:spPr>
        <p:txBody>
          <a:bodyPr wrap="square" lIns="0" rIns="0" tIns="0" bIns="0" anchor="ctr">
            <a:spAutoFit/>
          </a:bodyPr>
          <a:lstStyle/>
          <a:p>
            <a:pPr algn="l">
              <a:lnSpc>
                <a:spcPct val="100000"/>
              </a:lnSpc>
            </a:pPr>
            <a:r>
              <a:rPr sz="1050" b="0" i="0">
                <a:solidFill>
                  <a:srgbClr val="00696B"/>
                </a:solidFill>
                <a:latin typeface="Aptos"/>
              </a:rPr>
              <a:t>Evaluate once on 3,000 test images</a:t>
            </a:r>
          </a:p>
        </p:txBody>
      </p:sp>
      <p:sp>
        <p:nvSpPr>
          <p:cNvPr id="71" name="Oval 70"/>
          <p:cNvSpPr/>
          <p:nvPr/>
        </p:nvSpPr>
        <p:spPr>
          <a:xfrm>
            <a:off x="8101584" y="5586983"/>
            <a:ext cx="73152" cy="73152"/>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266176" y="5504688"/>
            <a:ext cx="3084545" cy="237744"/>
          </a:xfrm>
          <a:prstGeom prst="rect">
            <a:avLst/>
          </a:prstGeom>
          <a:noFill/>
        </p:spPr>
        <p:txBody>
          <a:bodyPr wrap="square" lIns="0" rIns="0" tIns="0" bIns="0" anchor="ctr">
            <a:spAutoFit/>
          </a:bodyPr>
          <a:lstStyle/>
          <a:p>
            <a:pPr algn="l">
              <a:lnSpc>
                <a:spcPct val="100000"/>
              </a:lnSpc>
            </a:pPr>
            <a:r>
              <a:rPr sz="1050" b="0" i="0">
                <a:solidFill>
                  <a:srgbClr val="262626"/>
                </a:solidFill>
                <a:latin typeface="Aptos"/>
              </a:rPr>
              <a:t>Report mean ± std across seeds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RESULTS</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Results I: Accuracy, Cost and Convergence</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Capacity-matched, pretraining is worth 26.7 points, at a quarter of the wall clock. Mean of three seeds.</a:t>
            </a:r>
          </a:p>
        </p:txBody>
      </p:sp>
      <p:sp>
        <p:nvSpPr>
          <p:cNvPr id="5" name="TextBox 4"/>
          <p:cNvSpPr txBox="1"/>
          <p:nvPr/>
        </p:nvSpPr>
        <p:spPr>
          <a:xfrm>
            <a:off x="841248" y="1975104"/>
            <a:ext cx="4023360" cy="201168"/>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TEST ACCURACY</a:t>
            </a:r>
          </a:p>
        </p:txBody>
      </p:sp>
      <p:sp>
        <p:nvSpPr>
          <p:cNvPr id="6" name="TextBox 5"/>
          <p:cNvSpPr txBox="1"/>
          <p:nvPr/>
        </p:nvSpPr>
        <p:spPr>
          <a:xfrm>
            <a:off x="841248" y="2194560"/>
            <a:ext cx="1691640" cy="292608"/>
          </a:xfrm>
          <a:prstGeom prst="rect">
            <a:avLst/>
          </a:prstGeom>
          <a:noFill/>
        </p:spPr>
        <p:txBody>
          <a:bodyPr wrap="square" lIns="0" rIns="0" tIns="0" bIns="0" anchor="ctr">
            <a:spAutoFit/>
          </a:bodyPr>
          <a:lstStyle/>
          <a:p>
            <a:pPr algn="r">
              <a:lnSpc>
                <a:spcPct val="100000"/>
              </a:lnSpc>
            </a:pPr>
            <a:r>
              <a:rPr sz="1100" b="0" i="0">
                <a:solidFill>
                  <a:srgbClr val="000000"/>
                </a:solidFill>
                <a:latin typeface="Aptos"/>
              </a:rPr>
              <a:t>Pretrained-Frozen</a:t>
            </a:r>
          </a:p>
        </p:txBody>
      </p:sp>
      <p:sp>
        <p:nvSpPr>
          <p:cNvPr id="7" name="Rectangle 6"/>
          <p:cNvSpPr/>
          <p:nvPr/>
        </p:nvSpPr>
        <p:spPr>
          <a:xfrm>
            <a:off x="2624328" y="2258568"/>
            <a:ext cx="1706270" cy="201168"/>
          </a:xfrm>
          <a:prstGeom prst="rect">
            <a:avLst/>
          </a:prstGeom>
          <a:solidFill>
            <a:srgbClr val="0069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22038" y="2194560"/>
            <a:ext cx="822960" cy="292608"/>
          </a:xfrm>
          <a:prstGeom prst="rect">
            <a:avLst/>
          </a:prstGeom>
          <a:noFill/>
        </p:spPr>
        <p:txBody>
          <a:bodyPr wrap="square" lIns="0" rIns="0" tIns="0" bIns="0" anchor="ctr">
            <a:spAutoFit/>
          </a:bodyPr>
          <a:lstStyle/>
          <a:p>
            <a:pPr algn="l">
              <a:lnSpc>
                <a:spcPct val="100000"/>
              </a:lnSpc>
            </a:pPr>
            <a:r>
              <a:rPr sz="1400" b="1" i="0">
                <a:solidFill>
                  <a:srgbClr val="000000"/>
                </a:solidFill>
                <a:latin typeface="Aptos Display"/>
              </a:rPr>
              <a:t>93.3%</a:t>
            </a:r>
          </a:p>
        </p:txBody>
      </p:sp>
      <p:sp>
        <p:nvSpPr>
          <p:cNvPr id="9" name="TextBox 8"/>
          <p:cNvSpPr txBox="1"/>
          <p:nvPr/>
        </p:nvSpPr>
        <p:spPr>
          <a:xfrm>
            <a:off x="841248" y="2670048"/>
            <a:ext cx="1691640" cy="292608"/>
          </a:xfrm>
          <a:prstGeom prst="rect">
            <a:avLst/>
          </a:prstGeom>
          <a:noFill/>
        </p:spPr>
        <p:txBody>
          <a:bodyPr wrap="square" lIns="0" rIns="0" tIns="0" bIns="0" anchor="ctr">
            <a:spAutoFit/>
          </a:bodyPr>
          <a:lstStyle/>
          <a:p>
            <a:pPr algn="r">
              <a:lnSpc>
                <a:spcPct val="100000"/>
              </a:lnSpc>
            </a:pPr>
            <a:r>
              <a:rPr sz="1100" b="0" i="0">
                <a:solidFill>
                  <a:srgbClr val="000000"/>
                </a:solidFill>
                <a:latin typeface="Aptos"/>
              </a:rPr>
              <a:t>Random-Full</a:t>
            </a:r>
          </a:p>
        </p:txBody>
      </p:sp>
      <p:sp>
        <p:nvSpPr>
          <p:cNvPr id="10" name="Rectangle 9"/>
          <p:cNvSpPr/>
          <p:nvPr/>
        </p:nvSpPr>
        <p:spPr>
          <a:xfrm>
            <a:off x="2624328" y="2734056"/>
            <a:ext cx="1548993" cy="201168"/>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64761" y="2670048"/>
            <a:ext cx="822960" cy="292608"/>
          </a:xfrm>
          <a:prstGeom prst="rect">
            <a:avLst/>
          </a:prstGeom>
          <a:noFill/>
        </p:spPr>
        <p:txBody>
          <a:bodyPr wrap="square" lIns="0" rIns="0" tIns="0" bIns="0" anchor="ctr">
            <a:spAutoFit/>
          </a:bodyPr>
          <a:lstStyle/>
          <a:p>
            <a:pPr algn="l">
              <a:lnSpc>
                <a:spcPct val="100000"/>
              </a:lnSpc>
            </a:pPr>
            <a:r>
              <a:rPr sz="1400" b="1" i="0">
                <a:solidFill>
                  <a:srgbClr val="000000"/>
                </a:solidFill>
                <a:latin typeface="Aptos Display"/>
              </a:rPr>
              <a:t>84.7%</a:t>
            </a:r>
          </a:p>
        </p:txBody>
      </p:sp>
      <p:sp>
        <p:nvSpPr>
          <p:cNvPr id="12" name="TextBox 11"/>
          <p:cNvSpPr txBox="1"/>
          <p:nvPr/>
        </p:nvSpPr>
        <p:spPr>
          <a:xfrm>
            <a:off x="841248" y="3145536"/>
            <a:ext cx="1691640" cy="292608"/>
          </a:xfrm>
          <a:prstGeom prst="rect">
            <a:avLst/>
          </a:prstGeom>
          <a:noFill/>
        </p:spPr>
        <p:txBody>
          <a:bodyPr wrap="square" lIns="0" rIns="0" tIns="0" bIns="0" anchor="ctr">
            <a:spAutoFit/>
          </a:bodyPr>
          <a:lstStyle/>
          <a:p>
            <a:pPr algn="r">
              <a:lnSpc>
                <a:spcPct val="100000"/>
              </a:lnSpc>
            </a:pPr>
            <a:r>
              <a:rPr sz="1100" b="0" i="0">
                <a:solidFill>
                  <a:srgbClr val="000000"/>
                </a:solidFill>
                <a:latin typeface="Aptos"/>
              </a:rPr>
              <a:t>Random-Frozen</a:t>
            </a:r>
          </a:p>
        </p:txBody>
      </p:sp>
      <p:sp>
        <p:nvSpPr>
          <p:cNvPr id="13" name="Rectangle 12"/>
          <p:cNvSpPr/>
          <p:nvPr/>
        </p:nvSpPr>
        <p:spPr>
          <a:xfrm>
            <a:off x="2624328" y="3209544"/>
            <a:ext cx="1216152" cy="201168"/>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0" y="3145536"/>
            <a:ext cx="822960" cy="292608"/>
          </a:xfrm>
          <a:prstGeom prst="rect">
            <a:avLst/>
          </a:prstGeom>
          <a:noFill/>
        </p:spPr>
        <p:txBody>
          <a:bodyPr wrap="square" lIns="0" rIns="0" tIns="0" bIns="0" anchor="ctr">
            <a:spAutoFit/>
          </a:bodyPr>
          <a:lstStyle/>
          <a:p>
            <a:pPr algn="l">
              <a:lnSpc>
                <a:spcPct val="100000"/>
              </a:lnSpc>
            </a:pPr>
            <a:r>
              <a:rPr sz="1400" b="1" i="0">
                <a:solidFill>
                  <a:srgbClr val="000000"/>
                </a:solidFill>
                <a:latin typeface="Aptos Display"/>
              </a:rPr>
              <a:t>66.5%</a:t>
            </a:r>
          </a:p>
        </p:txBody>
      </p:sp>
      <p:cxnSp>
        <p:nvCxnSpPr>
          <p:cNvPr id="15" name="Connector 14"/>
          <p:cNvCxnSpPr/>
          <p:nvPr/>
        </p:nvCxnSpPr>
        <p:spPr>
          <a:xfrm>
            <a:off x="841248" y="3730752"/>
            <a:ext cx="411480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41248" y="3822191"/>
            <a:ext cx="4114800" cy="201168"/>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CONVERGENCE AND COST</a:t>
            </a:r>
          </a:p>
        </p:txBody>
      </p:sp>
      <p:sp>
        <p:nvSpPr>
          <p:cNvPr id="17" name="TextBox 16"/>
          <p:cNvSpPr txBox="1"/>
          <p:nvPr/>
        </p:nvSpPr>
        <p:spPr>
          <a:xfrm>
            <a:off x="841248" y="4059936"/>
            <a:ext cx="1920240" cy="274320"/>
          </a:xfrm>
          <a:prstGeom prst="rect">
            <a:avLst/>
          </a:prstGeom>
          <a:noFill/>
        </p:spPr>
        <p:txBody>
          <a:bodyPr wrap="square" lIns="0" rIns="0" tIns="0" bIns="0" anchor="ctr">
            <a:spAutoFit/>
          </a:bodyPr>
          <a:lstStyle/>
          <a:p>
            <a:pPr algn="l">
              <a:lnSpc>
                <a:spcPct val="100000"/>
              </a:lnSpc>
            </a:pPr>
            <a:r>
              <a:rPr sz="1100" b="0" i="0">
                <a:solidFill>
                  <a:srgbClr val="00696B"/>
                </a:solidFill>
                <a:latin typeface="Aptos"/>
              </a:rPr>
              <a:t>Pretrained-Frozen</a:t>
            </a:r>
          </a:p>
        </p:txBody>
      </p:sp>
      <p:sp>
        <p:nvSpPr>
          <p:cNvPr id="18" name="TextBox 17"/>
          <p:cNvSpPr txBox="1"/>
          <p:nvPr/>
        </p:nvSpPr>
        <p:spPr>
          <a:xfrm>
            <a:off x="2761488" y="4059936"/>
            <a:ext cx="1188720" cy="274320"/>
          </a:xfrm>
          <a:prstGeom prst="rect">
            <a:avLst/>
          </a:prstGeom>
          <a:noFill/>
        </p:spPr>
        <p:txBody>
          <a:bodyPr wrap="square" lIns="0" rIns="0" tIns="0" bIns="0" anchor="ctr">
            <a:spAutoFit/>
          </a:bodyPr>
          <a:lstStyle/>
          <a:p>
            <a:pPr algn="r">
              <a:lnSpc>
                <a:spcPct val="100000"/>
              </a:lnSpc>
            </a:pPr>
            <a:r>
              <a:rPr sz="1100" b="0" i="0">
                <a:solidFill>
                  <a:srgbClr val="00696B"/>
                </a:solidFill>
                <a:latin typeface="Aptos Display"/>
              </a:rPr>
              <a:t>8.0 epochs</a:t>
            </a:r>
          </a:p>
        </p:txBody>
      </p:sp>
      <p:sp>
        <p:nvSpPr>
          <p:cNvPr id="19" name="TextBox 18"/>
          <p:cNvSpPr txBox="1"/>
          <p:nvPr/>
        </p:nvSpPr>
        <p:spPr>
          <a:xfrm>
            <a:off x="4041648" y="4059936"/>
            <a:ext cx="914400" cy="274320"/>
          </a:xfrm>
          <a:prstGeom prst="rect">
            <a:avLst/>
          </a:prstGeom>
          <a:noFill/>
        </p:spPr>
        <p:txBody>
          <a:bodyPr wrap="square" lIns="0" rIns="0" tIns="0" bIns="0" anchor="ctr">
            <a:spAutoFit/>
          </a:bodyPr>
          <a:lstStyle/>
          <a:p>
            <a:pPr algn="r">
              <a:lnSpc>
                <a:spcPct val="100000"/>
              </a:lnSpc>
            </a:pPr>
            <a:r>
              <a:rPr sz="1100" b="0" i="0">
                <a:solidFill>
                  <a:srgbClr val="00696B"/>
                </a:solidFill>
                <a:latin typeface="Aptos Display"/>
              </a:rPr>
              <a:t>103 s</a:t>
            </a:r>
          </a:p>
        </p:txBody>
      </p:sp>
      <p:sp>
        <p:nvSpPr>
          <p:cNvPr id="20" name="TextBox 19"/>
          <p:cNvSpPr txBox="1"/>
          <p:nvPr/>
        </p:nvSpPr>
        <p:spPr>
          <a:xfrm>
            <a:off x="841248" y="4334256"/>
            <a:ext cx="1920240" cy="274320"/>
          </a:xfrm>
          <a:prstGeom prst="rect">
            <a:avLst/>
          </a:prstGeom>
          <a:noFill/>
        </p:spPr>
        <p:txBody>
          <a:bodyPr wrap="square" lIns="0" rIns="0" tIns="0" bIns="0" anchor="ctr">
            <a:spAutoFit/>
          </a:bodyPr>
          <a:lstStyle/>
          <a:p>
            <a:pPr algn="l">
              <a:lnSpc>
                <a:spcPct val="100000"/>
              </a:lnSpc>
            </a:pPr>
            <a:r>
              <a:rPr sz="1100" b="0" i="0">
                <a:solidFill>
                  <a:srgbClr val="262626"/>
                </a:solidFill>
                <a:latin typeface="Aptos"/>
              </a:rPr>
              <a:t>Random-Frozen</a:t>
            </a:r>
          </a:p>
        </p:txBody>
      </p:sp>
      <p:sp>
        <p:nvSpPr>
          <p:cNvPr id="21" name="TextBox 20"/>
          <p:cNvSpPr txBox="1"/>
          <p:nvPr/>
        </p:nvSpPr>
        <p:spPr>
          <a:xfrm>
            <a:off x="2761488" y="4334256"/>
            <a:ext cx="1188720" cy="274320"/>
          </a:xfrm>
          <a:prstGeom prst="rect">
            <a:avLst/>
          </a:prstGeom>
          <a:noFill/>
        </p:spPr>
        <p:txBody>
          <a:bodyPr wrap="square" lIns="0" rIns="0" tIns="0" bIns="0" anchor="ctr">
            <a:spAutoFit/>
          </a:bodyPr>
          <a:lstStyle/>
          <a:p>
            <a:pPr algn="r">
              <a:lnSpc>
                <a:spcPct val="100000"/>
              </a:lnSpc>
            </a:pPr>
            <a:r>
              <a:rPr sz="1100" b="0" i="0">
                <a:solidFill>
                  <a:srgbClr val="262626"/>
                </a:solidFill>
                <a:latin typeface="Aptos Display"/>
              </a:rPr>
              <a:t>8.7 epochs</a:t>
            </a:r>
          </a:p>
        </p:txBody>
      </p:sp>
      <p:sp>
        <p:nvSpPr>
          <p:cNvPr id="22" name="TextBox 21"/>
          <p:cNvSpPr txBox="1"/>
          <p:nvPr/>
        </p:nvSpPr>
        <p:spPr>
          <a:xfrm>
            <a:off x="4041648" y="4334256"/>
            <a:ext cx="914400" cy="274320"/>
          </a:xfrm>
          <a:prstGeom prst="rect">
            <a:avLst/>
          </a:prstGeom>
          <a:noFill/>
        </p:spPr>
        <p:txBody>
          <a:bodyPr wrap="square" lIns="0" rIns="0" tIns="0" bIns="0" anchor="ctr">
            <a:spAutoFit/>
          </a:bodyPr>
          <a:lstStyle/>
          <a:p>
            <a:pPr algn="r">
              <a:lnSpc>
                <a:spcPct val="100000"/>
              </a:lnSpc>
            </a:pPr>
            <a:r>
              <a:rPr sz="1100" b="0" i="0">
                <a:solidFill>
                  <a:srgbClr val="262626"/>
                </a:solidFill>
                <a:latin typeface="Aptos Display"/>
              </a:rPr>
              <a:t>113 s</a:t>
            </a:r>
          </a:p>
        </p:txBody>
      </p:sp>
      <p:sp>
        <p:nvSpPr>
          <p:cNvPr id="23" name="TextBox 22"/>
          <p:cNvSpPr txBox="1"/>
          <p:nvPr/>
        </p:nvSpPr>
        <p:spPr>
          <a:xfrm>
            <a:off x="841248" y="4608576"/>
            <a:ext cx="1920240" cy="274320"/>
          </a:xfrm>
          <a:prstGeom prst="rect">
            <a:avLst/>
          </a:prstGeom>
          <a:noFill/>
        </p:spPr>
        <p:txBody>
          <a:bodyPr wrap="square" lIns="0" rIns="0" tIns="0" bIns="0" anchor="ctr">
            <a:spAutoFit/>
          </a:bodyPr>
          <a:lstStyle/>
          <a:p>
            <a:pPr algn="l">
              <a:lnSpc>
                <a:spcPct val="100000"/>
              </a:lnSpc>
            </a:pPr>
            <a:r>
              <a:rPr sz="1100" b="0" i="0">
                <a:solidFill>
                  <a:srgbClr val="262626"/>
                </a:solidFill>
                <a:latin typeface="Aptos"/>
              </a:rPr>
              <a:t>Random-Full</a:t>
            </a:r>
          </a:p>
        </p:txBody>
      </p:sp>
      <p:sp>
        <p:nvSpPr>
          <p:cNvPr id="24" name="TextBox 23"/>
          <p:cNvSpPr txBox="1"/>
          <p:nvPr/>
        </p:nvSpPr>
        <p:spPr>
          <a:xfrm>
            <a:off x="2761488" y="4608576"/>
            <a:ext cx="1188720" cy="274320"/>
          </a:xfrm>
          <a:prstGeom prst="rect">
            <a:avLst/>
          </a:prstGeom>
          <a:noFill/>
        </p:spPr>
        <p:txBody>
          <a:bodyPr wrap="square" lIns="0" rIns="0" tIns="0" bIns="0" anchor="ctr">
            <a:spAutoFit/>
          </a:bodyPr>
          <a:lstStyle/>
          <a:p>
            <a:pPr algn="r">
              <a:lnSpc>
                <a:spcPct val="100000"/>
              </a:lnSpc>
            </a:pPr>
            <a:r>
              <a:rPr sz="1100" b="0" i="0">
                <a:solidFill>
                  <a:srgbClr val="262626"/>
                </a:solidFill>
                <a:latin typeface="Aptos Display"/>
              </a:rPr>
              <a:t>15.0 epochs</a:t>
            </a:r>
          </a:p>
        </p:txBody>
      </p:sp>
      <p:sp>
        <p:nvSpPr>
          <p:cNvPr id="25" name="TextBox 24"/>
          <p:cNvSpPr txBox="1"/>
          <p:nvPr/>
        </p:nvSpPr>
        <p:spPr>
          <a:xfrm>
            <a:off x="4041648" y="4608576"/>
            <a:ext cx="914400" cy="274320"/>
          </a:xfrm>
          <a:prstGeom prst="rect">
            <a:avLst/>
          </a:prstGeom>
          <a:noFill/>
        </p:spPr>
        <p:txBody>
          <a:bodyPr wrap="square" lIns="0" rIns="0" tIns="0" bIns="0" anchor="ctr">
            <a:spAutoFit/>
          </a:bodyPr>
          <a:lstStyle/>
          <a:p>
            <a:pPr algn="r">
              <a:lnSpc>
                <a:spcPct val="100000"/>
              </a:lnSpc>
            </a:pPr>
            <a:r>
              <a:rPr sz="1100" b="0" i="0">
                <a:solidFill>
                  <a:srgbClr val="262626"/>
                </a:solidFill>
                <a:latin typeface="Aptos Display"/>
              </a:rPr>
              <a:t>426 s</a:t>
            </a:r>
          </a:p>
        </p:txBody>
      </p:sp>
      <p:pic>
        <p:nvPicPr>
          <p:cNvPr id="26" name="Picture 25" descr="image1.png"/>
          <p:cNvPicPr>
            <a:picLocks noChangeAspect="1"/>
          </p:cNvPicPr>
          <p:nvPr/>
        </p:nvPicPr>
        <p:blipFill>
          <a:blip r:embed="rId2"/>
          <a:stretch>
            <a:fillRect/>
          </a:stretch>
        </p:blipFill>
        <p:spPr>
          <a:xfrm>
            <a:off x="5321808" y="2066544"/>
            <a:ext cx="6035040" cy="2216048"/>
          </a:xfrm>
          <a:prstGeom prst="rect">
            <a:avLst/>
          </a:prstGeom>
        </p:spPr>
      </p:pic>
      <p:sp>
        <p:nvSpPr>
          <p:cNvPr id="27" name="TextBox 26"/>
          <p:cNvSpPr txBox="1"/>
          <p:nvPr/>
        </p:nvSpPr>
        <p:spPr>
          <a:xfrm>
            <a:off x="5321808" y="4337456"/>
            <a:ext cx="6035040" cy="548640"/>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Pretrained-Frozen is above 93% at epoch one and flat by epoch four. Random-Full climbs for 12 to 17 epochs to a lower plateau, and Random-Frozen never settles: the optimizer has capacity but nothing useful to work with.</a:t>
            </a:r>
          </a:p>
        </p:txBody>
      </p:sp>
      <p:cxnSp>
        <p:nvCxnSpPr>
          <p:cNvPr id="28" name="Connector 27"/>
          <p:cNvCxnSpPr/>
          <p:nvPr/>
        </p:nvCxnSpPr>
        <p:spPr>
          <a:xfrm>
            <a:off x="841248" y="5084064"/>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1248" y="5193792"/>
            <a:ext cx="10509473" cy="548640"/>
          </a:xfrm>
          <a:prstGeom prst="rect">
            <a:avLst/>
          </a:prstGeom>
          <a:noFill/>
        </p:spPr>
        <p:txBody>
          <a:bodyPr wrap="square" lIns="0" rIns="0" tIns="0" bIns="0" anchor="t">
            <a:spAutoFit/>
          </a:bodyPr>
          <a:lstStyle/>
          <a:p>
            <a:pPr algn="l">
              <a:lnSpc>
                <a:spcPct val="118000"/>
              </a:lnSpc>
            </a:pPr>
            <a:r>
              <a:rPr sz="1450" b="1" i="0">
                <a:solidFill>
                  <a:srgbClr val="00696B"/>
                </a:solidFill>
                <a:latin typeface="Aptos Display"/>
              </a:rPr>
              <a:t>PT-F vs R-F: +26.7 points.  </a:t>
            </a:r>
            <a:r>
              <a:rPr sz="1450" b="0" i="1">
                <a:solidFill>
                  <a:srgbClr val="000000"/>
                </a:solidFill>
                <a:latin typeface="Aptos Display"/>
              </a:rPr>
              <a:t>Identical trainable parameters, data and recipe; the only difference is whether the frozen weights came from ImageNet. R-F to R-FL recovers 18 points through capacity alone, and still finishes nine points short.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RESULTS</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Results II: Feature Space and Error Analysis</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The class overlaps in the pretrained feature space are exactly the confusions the classifier makes.</a:t>
            </a:r>
          </a:p>
        </p:txBody>
      </p:sp>
      <p:pic>
        <p:nvPicPr>
          <p:cNvPr id="5" name="Picture 4" descr="image2.png"/>
          <p:cNvPicPr>
            <a:picLocks noChangeAspect="1"/>
          </p:cNvPicPr>
          <p:nvPr/>
        </p:nvPicPr>
        <p:blipFill>
          <a:blip r:embed="rId2"/>
          <a:stretch>
            <a:fillRect/>
          </a:stretch>
        </p:blipFill>
        <p:spPr>
          <a:xfrm>
            <a:off x="841248" y="2020824"/>
            <a:ext cx="5943600" cy="2583068"/>
          </a:xfrm>
          <a:prstGeom prst="rect">
            <a:avLst/>
          </a:prstGeom>
        </p:spPr>
      </p:pic>
      <p:sp>
        <p:nvSpPr>
          <p:cNvPr id="6" name="TextBox 5"/>
          <p:cNvSpPr txBox="1"/>
          <p:nvPr/>
        </p:nvSpPr>
        <p:spPr>
          <a:xfrm>
            <a:off x="841248" y="4704476"/>
            <a:ext cx="5943600" cy="548640"/>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PCA of the 512-d penultimate activations, test split, seed 42. Pretrained features fall into clean clusters before the classifier acts on them; the random frozen features stay entangled apart from forest.</a:t>
            </a:r>
          </a:p>
        </p:txBody>
      </p:sp>
      <p:sp>
        <p:nvSpPr>
          <p:cNvPr id="7" name="TextBox 6"/>
          <p:cNvSpPr txBox="1"/>
          <p:nvPr/>
        </p:nvSpPr>
        <p:spPr>
          <a:xfrm>
            <a:off x="7287768" y="1975104"/>
            <a:ext cx="4023360" cy="201168"/>
          </a:xfrm>
          <a:prstGeom prst="rect">
            <a:avLst/>
          </a:prstGeom>
          <a:noFill/>
        </p:spPr>
        <p:txBody>
          <a:bodyPr wrap="square" lIns="0" rIns="0" tIns="0" bIns="0" anchor="ctr">
            <a:spAutoFit/>
          </a:bodyPr>
          <a:lstStyle/>
          <a:p>
            <a:pPr algn="l">
              <a:lnSpc>
                <a:spcPct val="100000"/>
              </a:lnSpc>
            </a:pPr>
            <a:r>
              <a:rPr sz="850" b="0" i="0" spc="120">
                <a:solidFill>
                  <a:srgbClr val="8C8C8C"/>
                </a:solidFill>
                <a:latin typeface="Aptos"/>
              </a:rPr>
              <a:t>PRETRAINED-FROZEN CONFUSION · SEED 100</a:t>
            </a:r>
          </a:p>
        </p:txBody>
      </p:sp>
      <p:sp>
        <p:nvSpPr>
          <p:cNvPr id="8" name="TextBox 7"/>
          <p:cNvSpPr txBox="1"/>
          <p:nvPr/>
        </p:nvSpPr>
        <p:spPr>
          <a:xfrm>
            <a:off x="7699248" y="2194560"/>
            <a:ext cx="548640" cy="219456"/>
          </a:xfrm>
          <a:prstGeom prst="rect">
            <a:avLst/>
          </a:prstGeom>
          <a:noFill/>
        </p:spPr>
        <p:txBody>
          <a:bodyPr wrap="square" lIns="0" rIns="0" tIns="0" bIns="0" anchor="ctr">
            <a:spAutoFit/>
          </a:bodyPr>
          <a:lstStyle/>
          <a:p>
            <a:pPr algn="ctr">
              <a:lnSpc>
                <a:spcPct val="100000"/>
              </a:lnSpc>
            </a:pPr>
            <a:r>
              <a:rPr sz="950" b="0" i="0">
                <a:solidFill>
                  <a:srgbClr val="8C8C8C"/>
                </a:solidFill>
                <a:latin typeface="Aptos"/>
              </a:rPr>
              <a:t>B</a:t>
            </a:r>
          </a:p>
        </p:txBody>
      </p:sp>
      <p:sp>
        <p:nvSpPr>
          <p:cNvPr id="9" name="TextBox 8"/>
          <p:cNvSpPr txBox="1"/>
          <p:nvPr/>
        </p:nvSpPr>
        <p:spPr>
          <a:xfrm>
            <a:off x="8247888" y="2194560"/>
            <a:ext cx="548640" cy="219456"/>
          </a:xfrm>
          <a:prstGeom prst="rect">
            <a:avLst/>
          </a:prstGeom>
          <a:noFill/>
        </p:spPr>
        <p:txBody>
          <a:bodyPr wrap="square" lIns="0" rIns="0" tIns="0" bIns="0" anchor="ctr">
            <a:spAutoFit/>
          </a:bodyPr>
          <a:lstStyle/>
          <a:p>
            <a:pPr algn="ctr">
              <a:lnSpc>
                <a:spcPct val="100000"/>
              </a:lnSpc>
            </a:pPr>
            <a:r>
              <a:rPr sz="950" b="0" i="0">
                <a:solidFill>
                  <a:srgbClr val="8C8C8C"/>
                </a:solidFill>
                <a:latin typeface="Aptos"/>
              </a:rPr>
              <a:t>F</a:t>
            </a:r>
          </a:p>
        </p:txBody>
      </p:sp>
      <p:sp>
        <p:nvSpPr>
          <p:cNvPr id="10" name="TextBox 9"/>
          <p:cNvSpPr txBox="1"/>
          <p:nvPr/>
        </p:nvSpPr>
        <p:spPr>
          <a:xfrm>
            <a:off x="8796528" y="2194560"/>
            <a:ext cx="548640" cy="219456"/>
          </a:xfrm>
          <a:prstGeom prst="rect">
            <a:avLst/>
          </a:prstGeom>
          <a:noFill/>
        </p:spPr>
        <p:txBody>
          <a:bodyPr wrap="square" lIns="0" rIns="0" tIns="0" bIns="0" anchor="ctr">
            <a:spAutoFit/>
          </a:bodyPr>
          <a:lstStyle/>
          <a:p>
            <a:pPr algn="ctr">
              <a:lnSpc>
                <a:spcPct val="100000"/>
              </a:lnSpc>
            </a:pPr>
            <a:r>
              <a:rPr sz="950" b="0" i="0">
                <a:solidFill>
                  <a:srgbClr val="8C8C8C"/>
                </a:solidFill>
                <a:latin typeface="Aptos"/>
              </a:rPr>
              <a:t>G</a:t>
            </a:r>
          </a:p>
        </p:txBody>
      </p:sp>
      <p:sp>
        <p:nvSpPr>
          <p:cNvPr id="11" name="TextBox 10"/>
          <p:cNvSpPr txBox="1"/>
          <p:nvPr/>
        </p:nvSpPr>
        <p:spPr>
          <a:xfrm>
            <a:off x="9345167" y="2194560"/>
            <a:ext cx="548640" cy="219456"/>
          </a:xfrm>
          <a:prstGeom prst="rect">
            <a:avLst/>
          </a:prstGeom>
          <a:noFill/>
        </p:spPr>
        <p:txBody>
          <a:bodyPr wrap="square" lIns="0" rIns="0" tIns="0" bIns="0" anchor="ctr">
            <a:spAutoFit/>
          </a:bodyPr>
          <a:lstStyle/>
          <a:p>
            <a:pPr algn="ctr">
              <a:lnSpc>
                <a:spcPct val="100000"/>
              </a:lnSpc>
            </a:pPr>
            <a:r>
              <a:rPr sz="950" b="0" i="0">
                <a:solidFill>
                  <a:srgbClr val="8C8C8C"/>
                </a:solidFill>
                <a:latin typeface="Aptos"/>
              </a:rPr>
              <a:t>M</a:t>
            </a:r>
          </a:p>
        </p:txBody>
      </p:sp>
      <p:sp>
        <p:nvSpPr>
          <p:cNvPr id="12" name="TextBox 11"/>
          <p:cNvSpPr txBox="1"/>
          <p:nvPr/>
        </p:nvSpPr>
        <p:spPr>
          <a:xfrm>
            <a:off x="9893808" y="2194560"/>
            <a:ext cx="548640" cy="219456"/>
          </a:xfrm>
          <a:prstGeom prst="rect">
            <a:avLst/>
          </a:prstGeom>
          <a:noFill/>
        </p:spPr>
        <p:txBody>
          <a:bodyPr wrap="square" lIns="0" rIns="0" tIns="0" bIns="0" anchor="ctr">
            <a:spAutoFit/>
          </a:bodyPr>
          <a:lstStyle/>
          <a:p>
            <a:pPr algn="ctr">
              <a:lnSpc>
                <a:spcPct val="100000"/>
              </a:lnSpc>
            </a:pPr>
            <a:r>
              <a:rPr sz="950" b="0" i="0">
                <a:solidFill>
                  <a:srgbClr val="8C8C8C"/>
                </a:solidFill>
                <a:latin typeface="Aptos"/>
              </a:rPr>
              <a:t>Se</a:t>
            </a:r>
          </a:p>
        </p:txBody>
      </p:sp>
      <p:sp>
        <p:nvSpPr>
          <p:cNvPr id="13" name="TextBox 12"/>
          <p:cNvSpPr txBox="1"/>
          <p:nvPr/>
        </p:nvSpPr>
        <p:spPr>
          <a:xfrm>
            <a:off x="10442448" y="2194560"/>
            <a:ext cx="548640" cy="219456"/>
          </a:xfrm>
          <a:prstGeom prst="rect">
            <a:avLst/>
          </a:prstGeom>
          <a:noFill/>
        </p:spPr>
        <p:txBody>
          <a:bodyPr wrap="square" lIns="0" rIns="0" tIns="0" bIns="0" anchor="ctr">
            <a:spAutoFit/>
          </a:bodyPr>
          <a:lstStyle/>
          <a:p>
            <a:pPr algn="ctr">
              <a:lnSpc>
                <a:spcPct val="100000"/>
              </a:lnSpc>
            </a:pPr>
            <a:r>
              <a:rPr sz="950" b="0" i="0">
                <a:solidFill>
                  <a:srgbClr val="8C8C8C"/>
                </a:solidFill>
                <a:latin typeface="Aptos"/>
              </a:rPr>
              <a:t>St</a:t>
            </a:r>
          </a:p>
        </p:txBody>
      </p:sp>
      <p:cxnSp>
        <p:nvCxnSpPr>
          <p:cNvPr id="14" name="Connector 13"/>
          <p:cNvCxnSpPr/>
          <p:nvPr/>
        </p:nvCxnSpPr>
        <p:spPr>
          <a:xfrm>
            <a:off x="7287768" y="2432304"/>
            <a:ext cx="370332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287768" y="2468880"/>
            <a:ext cx="347472" cy="260603"/>
          </a:xfrm>
          <a:prstGeom prst="rect">
            <a:avLst/>
          </a:prstGeom>
          <a:noFill/>
        </p:spPr>
        <p:txBody>
          <a:bodyPr wrap="square" lIns="0" rIns="0" tIns="0" bIns="0" anchor="ctr">
            <a:spAutoFit/>
          </a:bodyPr>
          <a:lstStyle/>
          <a:p>
            <a:pPr algn="r">
              <a:lnSpc>
                <a:spcPct val="100000"/>
              </a:lnSpc>
            </a:pPr>
            <a:r>
              <a:rPr sz="950" b="0" i="0">
                <a:solidFill>
                  <a:srgbClr val="8C8C8C"/>
                </a:solidFill>
                <a:latin typeface="Aptos"/>
              </a:rPr>
              <a:t>B</a:t>
            </a:r>
          </a:p>
        </p:txBody>
      </p:sp>
      <p:sp>
        <p:nvSpPr>
          <p:cNvPr id="16" name="TextBox 15"/>
          <p:cNvSpPr txBox="1"/>
          <p:nvPr/>
        </p:nvSpPr>
        <p:spPr>
          <a:xfrm>
            <a:off x="7699248" y="2468880"/>
            <a:ext cx="548640" cy="260603"/>
          </a:xfrm>
          <a:prstGeom prst="rect">
            <a:avLst/>
          </a:prstGeom>
          <a:noFill/>
        </p:spPr>
        <p:txBody>
          <a:bodyPr wrap="square" lIns="0" rIns="0" tIns="0" bIns="0" anchor="ctr">
            <a:spAutoFit/>
          </a:bodyPr>
          <a:lstStyle/>
          <a:p>
            <a:pPr algn="ctr">
              <a:lnSpc>
                <a:spcPct val="100000"/>
              </a:lnSpc>
            </a:pPr>
            <a:r>
              <a:rPr sz="1150" b="1" i="0">
                <a:solidFill>
                  <a:srgbClr val="000000"/>
                </a:solidFill>
                <a:latin typeface="Aptos Display"/>
              </a:rPr>
              <a:t>408</a:t>
            </a:r>
          </a:p>
        </p:txBody>
      </p:sp>
      <p:sp>
        <p:nvSpPr>
          <p:cNvPr id="17" name="TextBox 16"/>
          <p:cNvSpPr txBox="1"/>
          <p:nvPr/>
        </p:nvSpPr>
        <p:spPr>
          <a:xfrm>
            <a:off x="8247888" y="2468880"/>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18" name="TextBox 17"/>
          <p:cNvSpPr txBox="1"/>
          <p:nvPr/>
        </p:nvSpPr>
        <p:spPr>
          <a:xfrm>
            <a:off x="8796528" y="2468880"/>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19" name="TextBox 18"/>
          <p:cNvSpPr txBox="1"/>
          <p:nvPr/>
        </p:nvSpPr>
        <p:spPr>
          <a:xfrm>
            <a:off x="9345167" y="2468880"/>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20" name="TextBox 19"/>
          <p:cNvSpPr txBox="1"/>
          <p:nvPr/>
        </p:nvSpPr>
        <p:spPr>
          <a:xfrm>
            <a:off x="9893808" y="2468880"/>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1</a:t>
            </a:r>
          </a:p>
        </p:txBody>
      </p:sp>
      <p:sp>
        <p:nvSpPr>
          <p:cNvPr id="21" name="TextBox 20"/>
          <p:cNvSpPr txBox="1"/>
          <p:nvPr/>
        </p:nvSpPr>
        <p:spPr>
          <a:xfrm>
            <a:off x="10442448" y="2468880"/>
            <a:ext cx="548640" cy="260603"/>
          </a:xfrm>
          <a:prstGeom prst="rect">
            <a:avLst/>
          </a:prstGeom>
          <a:noFill/>
        </p:spPr>
        <p:txBody>
          <a:bodyPr wrap="square" lIns="0" rIns="0" tIns="0" bIns="0" anchor="ctr">
            <a:spAutoFit/>
          </a:bodyPr>
          <a:lstStyle/>
          <a:p>
            <a:pPr algn="ctr">
              <a:lnSpc>
                <a:spcPct val="100000"/>
              </a:lnSpc>
            </a:pPr>
            <a:r>
              <a:rPr sz="1050" b="1" i="0">
                <a:solidFill>
                  <a:srgbClr val="00696B"/>
                </a:solidFill>
                <a:latin typeface="Aptos Display"/>
              </a:rPr>
              <a:t>28</a:t>
            </a:r>
          </a:p>
        </p:txBody>
      </p:sp>
      <p:sp>
        <p:nvSpPr>
          <p:cNvPr id="22" name="TextBox 21"/>
          <p:cNvSpPr txBox="1"/>
          <p:nvPr/>
        </p:nvSpPr>
        <p:spPr>
          <a:xfrm>
            <a:off x="7287768" y="2729484"/>
            <a:ext cx="347472" cy="260603"/>
          </a:xfrm>
          <a:prstGeom prst="rect">
            <a:avLst/>
          </a:prstGeom>
          <a:noFill/>
        </p:spPr>
        <p:txBody>
          <a:bodyPr wrap="square" lIns="0" rIns="0" tIns="0" bIns="0" anchor="ctr">
            <a:spAutoFit/>
          </a:bodyPr>
          <a:lstStyle/>
          <a:p>
            <a:pPr algn="r">
              <a:lnSpc>
                <a:spcPct val="100000"/>
              </a:lnSpc>
            </a:pPr>
            <a:r>
              <a:rPr sz="950" b="0" i="0">
                <a:solidFill>
                  <a:srgbClr val="8C8C8C"/>
                </a:solidFill>
                <a:latin typeface="Aptos"/>
              </a:rPr>
              <a:t>F</a:t>
            </a:r>
          </a:p>
        </p:txBody>
      </p:sp>
      <p:sp>
        <p:nvSpPr>
          <p:cNvPr id="23" name="TextBox 22"/>
          <p:cNvSpPr txBox="1"/>
          <p:nvPr/>
        </p:nvSpPr>
        <p:spPr>
          <a:xfrm>
            <a:off x="7699248" y="2729484"/>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24" name="TextBox 23"/>
          <p:cNvSpPr txBox="1"/>
          <p:nvPr/>
        </p:nvSpPr>
        <p:spPr>
          <a:xfrm>
            <a:off x="8247888" y="2729484"/>
            <a:ext cx="548640" cy="260603"/>
          </a:xfrm>
          <a:prstGeom prst="rect">
            <a:avLst/>
          </a:prstGeom>
          <a:noFill/>
        </p:spPr>
        <p:txBody>
          <a:bodyPr wrap="square" lIns="0" rIns="0" tIns="0" bIns="0" anchor="ctr">
            <a:spAutoFit/>
          </a:bodyPr>
          <a:lstStyle/>
          <a:p>
            <a:pPr algn="ctr">
              <a:lnSpc>
                <a:spcPct val="100000"/>
              </a:lnSpc>
            </a:pPr>
            <a:r>
              <a:rPr sz="1150" b="1" i="0">
                <a:solidFill>
                  <a:srgbClr val="000000"/>
                </a:solidFill>
                <a:latin typeface="Aptos Display"/>
              </a:rPr>
              <a:t>471</a:t>
            </a:r>
          </a:p>
        </p:txBody>
      </p:sp>
      <p:sp>
        <p:nvSpPr>
          <p:cNvPr id="25" name="TextBox 24"/>
          <p:cNvSpPr txBox="1"/>
          <p:nvPr/>
        </p:nvSpPr>
        <p:spPr>
          <a:xfrm>
            <a:off x="8796528" y="2729484"/>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26" name="TextBox 25"/>
          <p:cNvSpPr txBox="1"/>
          <p:nvPr/>
        </p:nvSpPr>
        <p:spPr>
          <a:xfrm>
            <a:off x="9345167" y="2729484"/>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1</a:t>
            </a:r>
          </a:p>
        </p:txBody>
      </p:sp>
      <p:sp>
        <p:nvSpPr>
          <p:cNvPr id="27" name="TextBox 26"/>
          <p:cNvSpPr txBox="1"/>
          <p:nvPr/>
        </p:nvSpPr>
        <p:spPr>
          <a:xfrm>
            <a:off x="9893808" y="2729484"/>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28" name="TextBox 27"/>
          <p:cNvSpPr txBox="1"/>
          <p:nvPr/>
        </p:nvSpPr>
        <p:spPr>
          <a:xfrm>
            <a:off x="10442448" y="2729484"/>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2</a:t>
            </a:r>
          </a:p>
        </p:txBody>
      </p:sp>
      <p:sp>
        <p:nvSpPr>
          <p:cNvPr id="29" name="TextBox 28"/>
          <p:cNvSpPr txBox="1"/>
          <p:nvPr/>
        </p:nvSpPr>
        <p:spPr>
          <a:xfrm>
            <a:off x="7287768" y="2990088"/>
            <a:ext cx="347472" cy="260603"/>
          </a:xfrm>
          <a:prstGeom prst="rect">
            <a:avLst/>
          </a:prstGeom>
          <a:noFill/>
        </p:spPr>
        <p:txBody>
          <a:bodyPr wrap="square" lIns="0" rIns="0" tIns="0" bIns="0" anchor="ctr">
            <a:spAutoFit/>
          </a:bodyPr>
          <a:lstStyle/>
          <a:p>
            <a:pPr algn="r">
              <a:lnSpc>
                <a:spcPct val="100000"/>
              </a:lnSpc>
            </a:pPr>
            <a:r>
              <a:rPr sz="950" b="0" i="0">
                <a:solidFill>
                  <a:srgbClr val="8C8C8C"/>
                </a:solidFill>
                <a:latin typeface="Aptos"/>
              </a:rPr>
              <a:t>G</a:t>
            </a:r>
          </a:p>
        </p:txBody>
      </p:sp>
      <p:sp>
        <p:nvSpPr>
          <p:cNvPr id="30" name="TextBox 29"/>
          <p:cNvSpPr txBox="1"/>
          <p:nvPr/>
        </p:nvSpPr>
        <p:spPr>
          <a:xfrm>
            <a:off x="7699248" y="2990088"/>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1</a:t>
            </a:r>
          </a:p>
        </p:txBody>
      </p:sp>
      <p:sp>
        <p:nvSpPr>
          <p:cNvPr id="31" name="TextBox 30"/>
          <p:cNvSpPr txBox="1"/>
          <p:nvPr/>
        </p:nvSpPr>
        <p:spPr>
          <a:xfrm>
            <a:off x="8247888" y="2990088"/>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4</a:t>
            </a:r>
          </a:p>
        </p:txBody>
      </p:sp>
      <p:sp>
        <p:nvSpPr>
          <p:cNvPr id="32" name="TextBox 31"/>
          <p:cNvSpPr txBox="1"/>
          <p:nvPr/>
        </p:nvSpPr>
        <p:spPr>
          <a:xfrm>
            <a:off x="8796528" y="2990088"/>
            <a:ext cx="548640" cy="260603"/>
          </a:xfrm>
          <a:prstGeom prst="rect">
            <a:avLst/>
          </a:prstGeom>
          <a:noFill/>
        </p:spPr>
        <p:txBody>
          <a:bodyPr wrap="square" lIns="0" rIns="0" tIns="0" bIns="0" anchor="ctr">
            <a:spAutoFit/>
          </a:bodyPr>
          <a:lstStyle/>
          <a:p>
            <a:pPr algn="ctr">
              <a:lnSpc>
                <a:spcPct val="100000"/>
              </a:lnSpc>
            </a:pPr>
            <a:r>
              <a:rPr sz="1150" b="1" i="0">
                <a:solidFill>
                  <a:srgbClr val="000000"/>
                </a:solidFill>
                <a:latin typeface="Aptos Display"/>
              </a:rPr>
              <a:t>458</a:t>
            </a:r>
          </a:p>
        </p:txBody>
      </p:sp>
      <p:sp>
        <p:nvSpPr>
          <p:cNvPr id="33" name="TextBox 32"/>
          <p:cNvSpPr txBox="1"/>
          <p:nvPr/>
        </p:nvSpPr>
        <p:spPr>
          <a:xfrm>
            <a:off x="9345167" y="2990088"/>
            <a:ext cx="548640" cy="260603"/>
          </a:xfrm>
          <a:prstGeom prst="rect">
            <a:avLst/>
          </a:prstGeom>
          <a:noFill/>
        </p:spPr>
        <p:txBody>
          <a:bodyPr wrap="square" lIns="0" rIns="0" tIns="0" bIns="0" anchor="ctr">
            <a:spAutoFit/>
          </a:bodyPr>
          <a:lstStyle/>
          <a:p>
            <a:pPr algn="ctr">
              <a:lnSpc>
                <a:spcPct val="100000"/>
              </a:lnSpc>
            </a:pPr>
            <a:r>
              <a:rPr sz="1050" b="1" i="0">
                <a:solidFill>
                  <a:srgbClr val="00696B"/>
                </a:solidFill>
                <a:latin typeface="Aptos Display"/>
              </a:rPr>
              <a:t>71</a:t>
            </a:r>
          </a:p>
        </p:txBody>
      </p:sp>
      <p:sp>
        <p:nvSpPr>
          <p:cNvPr id="34" name="TextBox 33"/>
          <p:cNvSpPr txBox="1"/>
          <p:nvPr/>
        </p:nvSpPr>
        <p:spPr>
          <a:xfrm>
            <a:off x="9893808" y="2990088"/>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16</a:t>
            </a:r>
          </a:p>
        </p:txBody>
      </p:sp>
      <p:sp>
        <p:nvSpPr>
          <p:cNvPr id="35" name="TextBox 34"/>
          <p:cNvSpPr txBox="1"/>
          <p:nvPr/>
        </p:nvSpPr>
        <p:spPr>
          <a:xfrm>
            <a:off x="10442448" y="2990088"/>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3</a:t>
            </a:r>
          </a:p>
        </p:txBody>
      </p:sp>
      <p:sp>
        <p:nvSpPr>
          <p:cNvPr id="36" name="TextBox 35"/>
          <p:cNvSpPr txBox="1"/>
          <p:nvPr/>
        </p:nvSpPr>
        <p:spPr>
          <a:xfrm>
            <a:off x="7287768" y="3250692"/>
            <a:ext cx="347472" cy="260603"/>
          </a:xfrm>
          <a:prstGeom prst="rect">
            <a:avLst/>
          </a:prstGeom>
          <a:noFill/>
        </p:spPr>
        <p:txBody>
          <a:bodyPr wrap="square" lIns="0" rIns="0" tIns="0" bIns="0" anchor="ctr">
            <a:spAutoFit/>
          </a:bodyPr>
          <a:lstStyle/>
          <a:p>
            <a:pPr algn="r">
              <a:lnSpc>
                <a:spcPct val="100000"/>
              </a:lnSpc>
            </a:pPr>
            <a:r>
              <a:rPr sz="950" b="0" i="0">
                <a:solidFill>
                  <a:srgbClr val="8C8C8C"/>
                </a:solidFill>
                <a:latin typeface="Aptos"/>
              </a:rPr>
              <a:t>M</a:t>
            </a:r>
          </a:p>
        </p:txBody>
      </p:sp>
      <p:sp>
        <p:nvSpPr>
          <p:cNvPr id="37" name="TextBox 36"/>
          <p:cNvSpPr txBox="1"/>
          <p:nvPr/>
        </p:nvSpPr>
        <p:spPr>
          <a:xfrm>
            <a:off x="7699248" y="3250692"/>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1</a:t>
            </a:r>
          </a:p>
        </p:txBody>
      </p:sp>
      <p:sp>
        <p:nvSpPr>
          <p:cNvPr id="38" name="TextBox 37"/>
          <p:cNvSpPr txBox="1"/>
          <p:nvPr/>
        </p:nvSpPr>
        <p:spPr>
          <a:xfrm>
            <a:off x="8247888" y="3250692"/>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2</a:t>
            </a:r>
          </a:p>
        </p:txBody>
      </p:sp>
      <p:sp>
        <p:nvSpPr>
          <p:cNvPr id="39" name="TextBox 38"/>
          <p:cNvSpPr txBox="1"/>
          <p:nvPr/>
        </p:nvSpPr>
        <p:spPr>
          <a:xfrm>
            <a:off x="8796528" y="3250692"/>
            <a:ext cx="548640" cy="260603"/>
          </a:xfrm>
          <a:prstGeom prst="rect">
            <a:avLst/>
          </a:prstGeom>
          <a:noFill/>
        </p:spPr>
        <p:txBody>
          <a:bodyPr wrap="square" lIns="0" rIns="0" tIns="0" bIns="0" anchor="ctr">
            <a:spAutoFit/>
          </a:bodyPr>
          <a:lstStyle/>
          <a:p>
            <a:pPr algn="ctr">
              <a:lnSpc>
                <a:spcPct val="100000"/>
              </a:lnSpc>
            </a:pPr>
            <a:r>
              <a:rPr sz="1050" b="1" i="0">
                <a:solidFill>
                  <a:srgbClr val="00696B"/>
                </a:solidFill>
                <a:latin typeface="Aptos Display"/>
              </a:rPr>
              <a:t>28</a:t>
            </a:r>
          </a:p>
        </p:txBody>
      </p:sp>
      <p:sp>
        <p:nvSpPr>
          <p:cNvPr id="40" name="TextBox 39"/>
          <p:cNvSpPr txBox="1"/>
          <p:nvPr/>
        </p:nvSpPr>
        <p:spPr>
          <a:xfrm>
            <a:off x="9345167" y="3250692"/>
            <a:ext cx="548640" cy="260603"/>
          </a:xfrm>
          <a:prstGeom prst="rect">
            <a:avLst/>
          </a:prstGeom>
          <a:noFill/>
        </p:spPr>
        <p:txBody>
          <a:bodyPr wrap="square" lIns="0" rIns="0" tIns="0" bIns="0" anchor="ctr">
            <a:spAutoFit/>
          </a:bodyPr>
          <a:lstStyle/>
          <a:p>
            <a:pPr algn="ctr">
              <a:lnSpc>
                <a:spcPct val="100000"/>
              </a:lnSpc>
            </a:pPr>
            <a:r>
              <a:rPr sz="1150" b="1" i="0">
                <a:solidFill>
                  <a:srgbClr val="000000"/>
                </a:solidFill>
                <a:latin typeface="Aptos Display"/>
              </a:rPr>
              <a:t>484</a:t>
            </a:r>
          </a:p>
        </p:txBody>
      </p:sp>
      <p:sp>
        <p:nvSpPr>
          <p:cNvPr id="41" name="TextBox 40"/>
          <p:cNvSpPr txBox="1"/>
          <p:nvPr/>
        </p:nvSpPr>
        <p:spPr>
          <a:xfrm>
            <a:off x="9893808" y="3250692"/>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9</a:t>
            </a:r>
          </a:p>
        </p:txBody>
      </p:sp>
      <p:sp>
        <p:nvSpPr>
          <p:cNvPr id="42" name="TextBox 41"/>
          <p:cNvSpPr txBox="1"/>
          <p:nvPr/>
        </p:nvSpPr>
        <p:spPr>
          <a:xfrm>
            <a:off x="10442448" y="3250692"/>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1</a:t>
            </a:r>
          </a:p>
        </p:txBody>
      </p:sp>
      <p:sp>
        <p:nvSpPr>
          <p:cNvPr id="43" name="TextBox 42"/>
          <p:cNvSpPr txBox="1"/>
          <p:nvPr/>
        </p:nvSpPr>
        <p:spPr>
          <a:xfrm>
            <a:off x="7287768" y="3511296"/>
            <a:ext cx="347472" cy="260603"/>
          </a:xfrm>
          <a:prstGeom prst="rect">
            <a:avLst/>
          </a:prstGeom>
          <a:noFill/>
        </p:spPr>
        <p:txBody>
          <a:bodyPr wrap="square" lIns="0" rIns="0" tIns="0" bIns="0" anchor="ctr">
            <a:spAutoFit/>
          </a:bodyPr>
          <a:lstStyle/>
          <a:p>
            <a:pPr algn="r">
              <a:lnSpc>
                <a:spcPct val="100000"/>
              </a:lnSpc>
            </a:pPr>
            <a:r>
              <a:rPr sz="950" b="0" i="0">
                <a:solidFill>
                  <a:srgbClr val="8C8C8C"/>
                </a:solidFill>
                <a:latin typeface="Aptos"/>
              </a:rPr>
              <a:t>Se</a:t>
            </a:r>
          </a:p>
        </p:txBody>
      </p:sp>
      <p:sp>
        <p:nvSpPr>
          <p:cNvPr id="44" name="TextBox 43"/>
          <p:cNvSpPr txBox="1"/>
          <p:nvPr/>
        </p:nvSpPr>
        <p:spPr>
          <a:xfrm>
            <a:off x="7699248" y="3511296"/>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2</a:t>
            </a:r>
          </a:p>
        </p:txBody>
      </p:sp>
      <p:sp>
        <p:nvSpPr>
          <p:cNvPr id="45" name="TextBox 44"/>
          <p:cNvSpPr txBox="1"/>
          <p:nvPr/>
        </p:nvSpPr>
        <p:spPr>
          <a:xfrm>
            <a:off x="8247888" y="3511296"/>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46" name="TextBox 45"/>
          <p:cNvSpPr txBox="1"/>
          <p:nvPr/>
        </p:nvSpPr>
        <p:spPr>
          <a:xfrm>
            <a:off x="8796528" y="3511296"/>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2</a:t>
            </a:r>
          </a:p>
        </p:txBody>
      </p:sp>
      <p:sp>
        <p:nvSpPr>
          <p:cNvPr id="47" name="TextBox 46"/>
          <p:cNvSpPr txBox="1"/>
          <p:nvPr/>
        </p:nvSpPr>
        <p:spPr>
          <a:xfrm>
            <a:off x="9345167" y="3511296"/>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3</a:t>
            </a:r>
          </a:p>
        </p:txBody>
      </p:sp>
      <p:sp>
        <p:nvSpPr>
          <p:cNvPr id="48" name="TextBox 47"/>
          <p:cNvSpPr txBox="1"/>
          <p:nvPr/>
        </p:nvSpPr>
        <p:spPr>
          <a:xfrm>
            <a:off x="9893808" y="3511296"/>
            <a:ext cx="548640" cy="260603"/>
          </a:xfrm>
          <a:prstGeom prst="rect">
            <a:avLst/>
          </a:prstGeom>
          <a:noFill/>
        </p:spPr>
        <p:txBody>
          <a:bodyPr wrap="square" lIns="0" rIns="0" tIns="0" bIns="0" anchor="ctr">
            <a:spAutoFit/>
          </a:bodyPr>
          <a:lstStyle/>
          <a:p>
            <a:pPr algn="ctr">
              <a:lnSpc>
                <a:spcPct val="100000"/>
              </a:lnSpc>
            </a:pPr>
            <a:r>
              <a:rPr sz="1150" b="1" i="0">
                <a:solidFill>
                  <a:srgbClr val="000000"/>
                </a:solidFill>
                <a:latin typeface="Aptos Display"/>
              </a:rPr>
              <a:t>503</a:t>
            </a:r>
          </a:p>
        </p:txBody>
      </p:sp>
      <p:sp>
        <p:nvSpPr>
          <p:cNvPr id="49" name="TextBox 48"/>
          <p:cNvSpPr txBox="1"/>
          <p:nvPr/>
        </p:nvSpPr>
        <p:spPr>
          <a:xfrm>
            <a:off x="10442448" y="3511296"/>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50" name="TextBox 49"/>
          <p:cNvSpPr txBox="1"/>
          <p:nvPr/>
        </p:nvSpPr>
        <p:spPr>
          <a:xfrm>
            <a:off x="7287768" y="3771900"/>
            <a:ext cx="347472" cy="260603"/>
          </a:xfrm>
          <a:prstGeom prst="rect">
            <a:avLst/>
          </a:prstGeom>
          <a:noFill/>
        </p:spPr>
        <p:txBody>
          <a:bodyPr wrap="square" lIns="0" rIns="0" tIns="0" bIns="0" anchor="ctr">
            <a:spAutoFit/>
          </a:bodyPr>
          <a:lstStyle/>
          <a:p>
            <a:pPr algn="r">
              <a:lnSpc>
                <a:spcPct val="100000"/>
              </a:lnSpc>
            </a:pPr>
            <a:r>
              <a:rPr sz="950" b="0" i="0">
                <a:solidFill>
                  <a:srgbClr val="8C8C8C"/>
                </a:solidFill>
                <a:latin typeface="Aptos"/>
              </a:rPr>
              <a:t>St</a:t>
            </a:r>
          </a:p>
        </p:txBody>
      </p:sp>
      <p:sp>
        <p:nvSpPr>
          <p:cNvPr id="51" name="TextBox 50"/>
          <p:cNvSpPr txBox="1"/>
          <p:nvPr/>
        </p:nvSpPr>
        <p:spPr>
          <a:xfrm>
            <a:off x="7699248" y="3771900"/>
            <a:ext cx="548640" cy="260603"/>
          </a:xfrm>
          <a:prstGeom prst="rect">
            <a:avLst/>
          </a:prstGeom>
          <a:noFill/>
        </p:spPr>
        <p:txBody>
          <a:bodyPr wrap="square" lIns="0" rIns="0" tIns="0" bIns="0" anchor="ctr">
            <a:spAutoFit/>
          </a:bodyPr>
          <a:lstStyle/>
          <a:p>
            <a:pPr algn="ctr">
              <a:lnSpc>
                <a:spcPct val="100000"/>
              </a:lnSpc>
            </a:pPr>
            <a:r>
              <a:rPr sz="1050" b="1" i="0">
                <a:solidFill>
                  <a:srgbClr val="00696B"/>
                </a:solidFill>
                <a:latin typeface="Aptos Display"/>
              </a:rPr>
              <a:t>26</a:t>
            </a:r>
          </a:p>
        </p:txBody>
      </p:sp>
      <p:sp>
        <p:nvSpPr>
          <p:cNvPr id="52" name="TextBox 51"/>
          <p:cNvSpPr txBox="1"/>
          <p:nvPr/>
        </p:nvSpPr>
        <p:spPr>
          <a:xfrm>
            <a:off x="8247888" y="3771900"/>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53" name="TextBox 52"/>
          <p:cNvSpPr txBox="1"/>
          <p:nvPr/>
        </p:nvSpPr>
        <p:spPr>
          <a:xfrm>
            <a:off x="8796528" y="3771900"/>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54" name="TextBox 53"/>
          <p:cNvSpPr txBox="1"/>
          <p:nvPr/>
        </p:nvSpPr>
        <p:spPr>
          <a:xfrm>
            <a:off x="9345167" y="3771900"/>
            <a:ext cx="548640" cy="260603"/>
          </a:xfrm>
          <a:prstGeom prst="rect">
            <a:avLst/>
          </a:prstGeom>
          <a:noFill/>
        </p:spPr>
        <p:txBody>
          <a:bodyPr wrap="square" lIns="0" rIns="0" tIns="0" bIns="0" anchor="ctr">
            <a:spAutoFit/>
          </a:bodyPr>
          <a:lstStyle/>
          <a:p>
            <a:pPr algn="ctr">
              <a:lnSpc>
                <a:spcPct val="100000"/>
              </a:lnSpc>
            </a:pPr>
            <a:r>
              <a:rPr sz="1050" b="0" i="0">
                <a:solidFill>
                  <a:srgbClr val="595959"/>
                </a:solidFill>
                <a:latin typeface="Aptos Display"/>
              </a:rPr>
              <a:t>2</a:t>
            </a:r>
          </a:p>
        </p:txBody>
      </p:sp>
      <p:sp>
        <p:nvSpPr>
          <p:cNvPr id="55" name="TextBox 54"/>
          <p:cNvSpPr txBox="1"/>
          <p:nvPr/>
        </p:nvSpPr>
        <p:spPr>
          <a:xfrm>
            <a:off x="9893808" y="3771900"/>
            <a:ext cx="548640" cy="260603"/>
          </a:xfrm>
          <a:prstGeom prst="rect">
            <a:avLst/>
          </a:prstGeom>
          <a:noFill/>
        </p:spPr>
        <p:txBody>
          <a:bodyPr wrap="square" lIns="0" rIns="0" tIns="0" bIns="0" anchor="ctr">
            <a:spAutoFit/>
          </a:bodyPr>
          <a:lstStyle/>
          <a:p>
            <a:pPr algn="ctr">
              <a:lnSpc>
                <a:spcPct val="100000"/>
              </a:lnSpc>
            </a:pPr>
            <a:r>
              <a:rPr sz="1050" b="0" i="0">
                <a:solidFill>
                  <a:srgbClr val="D9D9D9"/>
                </a:solidFill>
                <a:latin typeface="Aptos Display"/>
              </a:rPr>
              <a:t>0</a:t>
            </a:r>
          </a:p>
        </p:txBody>
      </p:sp>
      <p:sp>
        <p:nvSpPr>
          <p:cNvPr id="56" name="TextBox 55"/>
          <p:cNvSpPr txBox="1"/>
          <p:nvPr/>
        </p:nvSpPr>
        <p:spPr>
          <a:xfrm>
            <a:off x="10442448" y="3771900"/>
            <a:ext cx="548640" cy="260603"/>
          </a:xfrm>
          <a:prstGeom prst="rect">
            <a:avLst/>
          </a:prstGeom>
          <a:noFill/>
        </p:spPr>
        <p:txBody>
          <a:bodyPr wrap="square" lIns="0" rIns="0" tIns="0" bIns="0" anchor="ctr">
            <a:spAutoFit/>
          </a:bodyPr>
          <a:lstStyle/>
          <a:p>
            <a:pPr algn="ctr">
              <a:lnSpc>
                <a:spcPct val="100000"/>
              </a:lnSpc>
            </a:pPr>
            <a:r>
              <a:rPr sz="1150" b="1" i="0">
                <a:solidFill>
                  <a:srgbClr val="000000"/>
                </a:solidFill>
                <a:latin typeface="Aptos Display"/>
              </a:rPr>
              <a:t>473</a:t>
            </a:r>
          </a:p>
        </p:txBody>
      </p:sp>
      <p:cxnSp>
        <p:nvCxnSpPr>
          <p:cNvPr id="57" name="Connector 56"/>
          <p:cNvCxnSpPr/>
          <p:nvPr/>
        </p:nvCxnSpPr>
        <p:spPr>
          <a:xfrm>
            <a:off x="7287768" y="4032504"/>
            <a:ext cx="370332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287768" y="4069080"/>
            <a:ext cx="4023360" cy="219456"/>
          </a:xfrm>
          <a:prstGeom prst="rect">
            <a:avLst/>
          </a:prstGeom>
          <a:noFill/>
        </p:spPr>
        <p:txBody>
          <a:bodyPr wrap="square" lIns="0" rIns="0" tIns="0" bIns="0" anchor="t">
            <a:spAutoFit/>
          </a:bodyPr>
          <a:lstStyle/>
          <a:p>
            <a:pPr algn="l">
              <a:lnSpc>
                <a:spcPct val="100000"/>
              </a:lnSpc>
            </a:pPr>
            <a:r>
              <a:rPr sz="900" b="0" i="1">
                <a:solidFill>
                  <a:srgbClr val="8C8C8C"/>
                </a:solidFill>
                <a:latin typeface="Aptos"/>
              </a:rPr>
              <a:t>rows true, columns predicted</a:t>
            </a:r>
          </a:p>
        </p:txBody>
      </p:sp>
      <p:sp>
        <p:nvSpPr>
          <p:cNvPr id="59" name="TextBox 58"/>
          <p:cNvSpPr txBox="1"/>
          <p:nvPr/>
        </p:nvSpPr>
        <p:spPr>
          <a:xfrm>
            <a:off x="7287768" y="4233672"/>
            <a:ext cx="4023360" cy="219456"/>
          </a:xfrm>
          <a:prstGeom prst="rect">
            <a:avLst/>
          </a:prstGeom>
          <a:noFill/>
        </p:spPr>
        <p:txBody>
          <a:bodyPr wrap="square" lIns="0" rIns="0" tIns="0" bIns="0" anchor="t">
            <a:spAutoFit/>
          </a:bodyPr>
          <a:lstStyle/>
          <a:p>
            <a:pPr algn="l">
              <a:lnSpc>
                <a:spcPct val="100000"/>
              </a:lnSpc>
            </a:pPr>
            <a:r>
              <a:rPr sz="1200" b="0" i="0">
                <a:solidFill>
                  <a:srgbClr val="000000"/>
                </a:solidFill>
                <a:latin typeface="Aptos Display"/>
              </a:rPr>
              <a:t>Glacier ↔ Mountain  ·  71 and 28</a:t>
            </a:r>
          </a:p>
        </p:txBody>
      </p:sp>
      <p:sp>
        <p:nvSpPr>
          <p:cNvPr id="60" name="TextBox 59"/>
          <p:cNvSpPr txBox="1"/>
          <p:nvPr/>
        </p:nvSpPr>
        <p:spPr>
          <a:xfrm>
            <a:off x="7287768" y="4434840"/>
            <a:ext cx="4023360"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Shared snow, ridges and rock texture.</a:t>
            </a:r>
          </a:p>
        </p:txBody>
      </p:sp>
      <p:sp>
        <p:nvSpPr>
          <p:cNvPr id="61" name="TextBox 60"/>
          <p:cNvSpPr txBox="1"/>
          <p:nvPr/>
        </p:nvSpPr>
        <p:spPr>
          <a:xfrm>
            <a:off x="7287768" y="4672584"/>
            <a:ext cx="4023360" cy="219456"/>
          </a:xfrm>
          <a:prstGeom prst="rect">
            <a:avLst/>
          </a:prstGeom>
          <a:noFill/>
        </p:spPr>
        <p:txBody>
          <a:bodyPr wrap="square" lIns="0" rIns="0" tIns="0" bIns="0" anchor="t">
            <a:spAutoFit/>
          </a:bodyPr>
          <a:lstStyle/>
          <a:p>
            <a:pPr algn="l">
              <a:lnSpc>
                <a:spcPct val="100000"/>
              </a:lnSpc>
            </a:pPr>
            <a:r>
              <a:rPr sz="1200" b="0" i="0">
                <a:solidFill>
                  <a:srgbClr val="000000"/>
                </a:solidFill>
                <a:latin typeface="Aptos Display"/>
              </a:rPr>
              <a:t>Buildings ↔ Street  ·  about 27 each way</a:t>
            </a:r>
          </a:p>
        </p:txBody>
      </p:sp>
      <p:sp>
        <p:nvSpPr>
          <p:cNvPr id="62" name="TextBox 61"/>
          <p:cNvSpPr txBox="1"/>
          <p:nvPr/>
        </p:nvSpPr>
        <p:spPr>
          <a:xfrm>
            <a:off x="7287768" y="4873752"/>
            <a:ext cx="4023360"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Streets contain buildings, and the reverse.</a:t>
            </a:r>
          </a:p>
        </p:txBody>
      </p:sp>
      <p:sp>
        <p:nvSpPr>
          <p:cNvPr id="63" name="TextBox 62"/>
          <p:cNvSpPr txBox="1"/>
          <p:nvPr/>
        </p:nvSpPr>
        <p:spPr>
          <a:xfrm>
            <a:off x="7287768" y="5111496"/>
            <a:ext cx="4023360" cy="219456"/>
          </a:xfrm>
          <a:prstGeom prst="rect">
            <a:avLst/>
          </a:prstGeom>
          <a:noFill/>
        </p:spPr>
        <p:txBody>
          <a:bodyPr wrap="square" lIns="0" rIns="0" tIns="0" bIns="0" anchor="t">
            <a:spAutoFit/>
          </a:bodyPr>
          <a:lstStyle/>
          <a:p>
            <a:pPr algn="l">
              <a:lnSpc>
                <a:spcPct val="100000"/>
              </a:lnSpc>
            </a:pPr>
            <a:r>
              <a:rPr sz="1200" b="0" i="0">
                <a:solidFill>
                  <a:srgbClr val="000000"/>
                </a:solidFill>
                <a:latin typeface="Aptos Display"/>
              </a:rPr>
              <a:t>Same pairs in every condition</a:t>
            </a:r>
          </a:p>
        </p:txBody>
      </p:sp>
      <p:sp>
        <p:nvSpPr>
          <p:cNvPr id="64" name="TextBox 63"/>
          <p:cNvSpPr txBox="1"/>
          <p:nvPr/>
        </p:nvSpPr>
        <p:spPr>
          <a:xfrm>
            <a:off x="7287768" y="5312664"/>
            <a:ext cx="4023360"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Larger under random init, structurally identical.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RESULTS</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Results III: Ablation and Extension</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Most of pretraining's value needs almost no fine-tuning, and a fixed filter bank cannot reconstruct the learned first layer.</a:t>
            </a:r>
          </a:p>
        </p:txBody>
      </p:sp>
      <p:pic>
        <p:nvPicPr>
          <p:cNvPr id="5" name="Picture 4" descr="image3.png"/>
          <p:cNvPicPr>
            <a:picLocks noChangeAspect="1"/>
          </p:cNvPicPr>
          <p:nvPr/>
        </p:nvPicPr>
        <p:blipFill>
          <a:blip r:embed="rId2"/>
          <a:stretch>
            <a:fillRect/>
          </a:stretch>
        </p:blipFill>
        <p:spPr>
          <a:xfrm>
            <a:off x="841248" y="2020824"/>
            <a:ext cx="4709160" cy="2499924"/>
          </a:xfrm>
          <a:prstGeom prst="rect">
            <a:avLst/>
          </a:prstGeom>
        </p:spPr>
      </p:pic>
      <p:pic>
        <p:nvPicPr>
          <p:cNvPr id="6" name="Picture 5" descr="image4.png"/>
          <p:cNvPicPr>
            <a:picLocks noChangeAspect="1"/>
          </p:cNvPicPr>
          <p:nvPr/>
        </p:nvPicPr>
        <p:blipFill>
          <a:blip r:embed="rId3"/>
          <a:stretch>
            <a:fillRect/>
          </a:stretch>
        </p:blipFill>
        <p:spPr>
          <a:xfrm>
            <a:off x="6007608" y="2066544"/>
            <a:ext cx="4709160" cy="2421032"/>
          </a:xfrm>
          <a:prstGeom prst="rect">
            <a:avLst/>
          </a:prstGeom>
        </p:spPr>
      </p:pic>
      <p:cxnSp>
        <p:nvCxnSpPr>
          <p:cNvPr id="7" name="Connector 6"/>
          <p:cNvCxnSpPr/>
          <p:nvPr/>
        </p:nvCxnSpPr>
        <p:spPr>
          <a:xfrm>
            <a:off x="841248" y="4584756"/>
            <a:ext cx="470916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07608" y="4584756"/>
            <a:ext cx="470916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41248" y="4676196"/>
            <a:ext cx="4709160" cy="256032"/>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Freeze depth  ·  40% training subset, seed 42</a:t>
            </a:r>
          </a:p>
        </p:txBody>
      </p:sp>
      <p:sp>
        <p:nvSpPr>
          <p:cNvPr id="10" name="TextBox 9"/>
          <p:cNvSpPr txBox="1"/>
          <p:nvPr/>
        </p:nvSpPr>
        <p:spPr>
          <a:xfrm>
            <a:off x="841248" y="4895652"/>
            <a:ext cx="4709160" cy="731520"/>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A bare linear probe on frozen features already reaches 91.3% from 3,078 trainable parameters. Unfreezing layer4 adds 1.6 points. layer3, layer2 and full fine-tuning are all flat at 92.8% with up to 3.6× the parameters, so the elbow is exactly at layer4.</a:t>
            </a:r>
          </a:p>
        </p:txBody>
      </p:sp>
      <p:sp>
        <p:nvSpPr>
          <p:cNvPr id="11" name="TextBox 10"/>
          <p:cNvSpPr txBox="1"/>
          <p:nvPr/>
        </p:nvSpPr>
        <p:spPr>
          <a:xfrm>
            <a:off x="6007608" y="4676196"/>
            <a:ext cx="4709160" cy="256032"/>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Fixed Gabor conv1  ·  full data, seed 42</a:t>
            </a:r>
          </a:p>
        </p:txBody>
      </p:sp>
      <p:sp>
        <p:nvSpPr>
          <p:cNvPr id="12" name="TextBox 11"/>
          <p:cNvSpPr txBox="1"/>
          <p:nvPr/>
        </p:nvSpPr>
        <p:spPr>
          <a:xfrm>
            <a:off x="6007608" y="4895652"/>
            <a:ext cx="4709160" cy="731520"/>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conv1 swapped for a fixed bank of 8 orientations × 4 frequencies × 2 phases. The read-out sits 10 points low; unfreezing layer1 alone returns 5 of them and layer2 to layer4 add nothing. Seven points never return.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INTERPRETATION AND SCOPE</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Discussion and Limitations</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What the two clean comparisons establish, and what this design does not.</a:t>
            </a:r>
          </a:p>
        </p:txBody>
      </p:sp>
      <p:cxnSp>
        <p:nvCxnSpPr>
          <p:cNvPr id="5" name="Connector 4"/>
          <p:cNvCxnSpPr/>
          <p:nvPr/>
        </p:nvCxnSpPr>
        <p:spPr>
          <a:xfrm>
            <a:off x="841248" y="1975104"/>
            <a:ext cx="548640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2048256"/>
            <a:ext cx="5486400"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Discussion</a:t>
            </a:r>
          </a:p>
        </p:txBody>
      </p:sp>
      <p:sp>
        <p:nvSpPr>
          <p:cNvPr id="7" name="TextBox 6"/>
          <p:cNvSpPr txBox="1"/>
          <p:nvPr/>
        </p:nvSpPr>
        <p:spPr>
          <a:xfrm>
            <a:off x="841248" y="2432304"/>
            <a:ext cx="5486400" cy="256032"/>
          </a:xfrm>
          <a:prstGeom prst="rect">
            <a:avLst/>
          </a:prstGeom>
          <a:noFill/>
        </p:spPr>
        <p:txBody>
          <a:bodyPr wrap="square" lIns="0" rIns="0" tIns="0" bIns="0" anchor="t">
            <a:spAutoFit/>
          </a:bodyPr>
          <a:lstStyle/>
          <a:p>
            <a:pPr algn="l">
              <a:lnSpc>
                <a:spcPct val="100000"/>
              </a:lnSpc>
            </a:pPr>
            <a:r>
              <a:rPr sz="1350" b="0" i="0">
                <a:solidFill>
                  <a:srgbClr val="000000"/>
                </a:solidFill>
                <a:latin typeface="Aptos Display"/>
              </a:rPr>
              <a:t>Feature quality outweighs capacity</a:t>
            </a:r>
          </a:p>
        </p:txBody>
      </p:sp>
      <p:sp>
        <p:nvSpPr>
          <p:cNvPr id="8" name="TextBox 7"/>
          <p:cNvSpPr txBox="1"/>
          <p:nvPr/>
        </p:nvSpPr>
        <p:spPr>
          <a:xfrm>
            <a:off x="841248" y="2688336"/>
            <a:ext cx="5486400" cy="548640"/>
          </a:xfrm>
          <a:prstGeom prst="rect">
            <a:avLst/>
          </a:prstGeom>
          <a:noFill/>
        </p:spPr>
        <p:txBody>
          <a:bodyPr wrap="square" lIns="0" rIns="0" tIns="0" bIns="0" anchor="t">
            <a:spAutoFit/>
          </a:bodyPr>
          <a:lstStyle/>
          <a:p>
            <a:pPr algn="l">
              <a:lnSpc>
                <a:spcPct val="118000"/>
              </a:lnSpc>
            </a:pPr>
            <a:r>
              <a:rPr sz="1100" b="0" i="0">
                <a:solidFill>
                  <a:srgbClr val="595959"/>
                </a:solidFill>
                <a:latin typeface="Aptos"/>
              </a:rPr>
              <a:t>26.7 points from pretrained features against 18 from full capacity. Both matter; the representation matters considerably more.</a:t>
            </a:r>
          </a:p>
        </p:txBody>
      </p:sp>
      <p:sp>
        <p:nvSpPr>
          <p:cNvPr id="9" name="TextBox 8"/>
          <p:cNvSpPr txBox="1"/>
          <p:nvPr/>
        </p:nvSpPr>
        <p:spPr>
          <a:xfrm>
            <a:off x="841248" y="3182112"/>
            <a:ext cx="5486400" cy="256032"/>
          </a:xfrm>
          <a:prstGeom prst="rect">
            <a:avLst/>
          </a:prstGeom>
          <a:noFill/>
        </p:spPr>
        <p:txBody>
          <a:bodyPr wrap="square" lIns="0" rIns="0" tIns="0" bIns="0" anchor="t">
            <a:spAutoFit/>
          </a:bodyPr>
          <a:lstStyle/>
          <a:p>
            <a:pPr algn="l">
              <a:lnSpc>
                <a:spcPct val="100000"/>
              </a:lnSpc>
            </a:pPr>
            <a:r>
              <a:rPr sz="1350" b="0" i="0">
                <a:solidFill>
                  <a:srgbClr val="000000"/>
                </a:solidFill>
                <a:latin typeface="Aptos Display"/>
              </a:rPr>
              <a:t>The value sits in the generic early layers</a:t>
            </a:r>
          </a:p>
        </p:txBody>
      </p:sp>
      <p:sp>
        <p:nvSpPr>
          <p:cNvPr id="10" name="TextBox 9"/>
          <p:cNvSpPr txBox="1"/>
          <p:nvPr/>
        </p:nvSpPr>
        <p:spPr>
          <a:xfrm>
            <a:off x="841248" y="3438144"/>
            <a:ext cx="5486400" cy="548640"/>
          </a:xfrm>
          <a:prstGeom prst="rect">
            <a:avLst/>
          </a:prstGeom>
          <a:noFill/>
        </p:spPr>
        <p:txBody>
          <a:bodyPr wrap="square" lIns="0" rIns="0" tIns="0" bIns="0" anchor="t">
            <a:spAutoFit/>
          </a:bodyPr>
          <a:lstStyle/>
          <a:p>
            <a:pPr algn="l">
              <a:lnSpc>
                <a:spcPct val="118000"/>
              </a:lnSpc>
            </a:pPr>
            <a:r>
              <a:rPr sz="1100" b="0" i="0">
                <a:solidFill>
                  <a:srgbClr val="595959"/>
                </a:solidFill>
                <a:latin typeface="Aptos"/>
              </a:rPr>
              <a:t>A linear probe already reaches 91.3% and unfreezing past layer4 adds nothing, matching the layer-dependent transferability of Yosinski et al.</a:t>
            </a:r>
          </a:p>
        </p:txBody>
      </p:sp>
      <p:sp>
        <p:nvSpPr>
          <p:cNvPr id="11" name="TextBox 10"/>
          <p:cNvSpPr txBox="1"/>
          <p:nvPr/>
        </p:nvSpPr>
        <p:spPr>
          <a:xfrm>
            <a:off x="841248" y="3931920"/>
            <a:ext cx="5486400" cy="256032"/>
          </a:xfrm>
          <a:prstGeom prst="rect">
            <a:avLst/>
          </a:prstGeom>
          <a:noFill/>
        </p:spPr>
        <p:txBody>
          <a:bodyPr wrap="square" lIns="0" rIns="0" tIns="0" bIns="0" anchor="t">
            <a:spAutoFit/>
          </a:bodyPr>
          <a:lstStyle/>
          <a:p>
            <a:pPr algn="l">
              <a:lnSpc>
                <a:spcPct val="100000"/>
              </a:lnSpc>
            </a:pPr>
            <a:r>
              <a:rPr sz="1350" b="0" i="0">
                <a:solidFill>
                  <a:srgbClr val="000000"/>
                </a:solidFill>
                <a:latin typeface="Aptos Display"/>
              </a:rPr>
              <a:t>Learned first-layer filters are not reconstructible</a:t>
            </a:r>
          </a:p>
        </p:txBody>
      </p:sp>
      <p:sp>
        <p:nvSpPr>
          <p:cNvPr id="12" name="TextBox 11"/>
          <p:cNvSpPr txBox="1"/>
          <p:nvPr/>
        </p:nvSpPr>
        <p:spPr>
          <a:xfrm>
            <a:off x="841248" y="4187952"/>
            <a:ext cx="5486400" cy="548640"/>
          </a:xfrm>
          <a:prstGeom prst="rect">
            <a:avLst/>
          </a:prstGeom>
          <a:noFill/>
        </p:spPr>
        <p:txBody>
          <a:bodyPr wrap="square" lIns="0" rIns="0" tIns="0" bIns="0" anchor="t">
            <a:spAutoFit/>
          </a:bodyPr>
          <a:lstStyle/>
          <a:p>
            <a:pPr algn="l">
              <a:lnSpc>
                <a:spcPct val="118000"/>
              </a:lnSpc>
            </a:pPr>
            <a:r>
              <a:rPr sz="1100" b="0" i="0">
                <a:solidFill>
                  <a:srgbClr val="595959"/>
                </a:solidFill>
                <a:latin typeface="Aptos"/>
              </a:rPr>
              <a:t>A 7-point Gabor gap that full downstream retraining cannot close qualifies the random-filter results of Jarrett et al. and Saxe et al. at depth.</a:t>
            </a:r>
          </a:p>
        </p:txBody>
      </p:sp>
      <p:sp>
        <p:nvSpPr>
          <p:cNvPr id="13" name="TextBox 12"/>
          <p:cNvSpPr txBox="1"/>
          <p:nvPr/>
        </p:nvSpPr>
        <p:spPr>
          <a:xfrm>
            <a:off x="841248" y="4681728"/>
            <a:ext cx="5486400" cy="256032"/>
          </a:xfrm>
          <a:prstGeom prst="rect">
            <a:avLst/>
          </a:prstGeom>
          <a:noFill/>
        </p:spPr>
        <p:txBody>
          <a:bodyPr wrap="square" lIns="0" rIns="0" tIns="0" bIns="0" anchor="t">
            <a:spAutoFit/>
          </a:bodyPr>
          <a:lstStyle/>
          <a:p>
            <a:pPr algn="l">
              <a:lnSpc>
                <a:spcPct val="100000"/>
              </a:lnSpc>
            </a:pPr>
            <a:r>
              <a:rPr sz="1350" b="0" i="0">
                <a:solidFill>
                  <a:srgbClr val="000000"/>
                </a:solidFill>
                <a:latin typeface="Aptos Display"/>
              </a:rPr>
              <a:t>Practical consequence</a:t>
            </a:r>
          </a:p>
        </p:txBody>
      </p:sp>
      <p:sp>
        <p:nvSpPr>
          <p:cNvPr id="14" name="TextBox 13"/>
          <p:cNvSpPr txBox="1"/>
          <p:nvPr/>
        </p:nvSpPr>
        <p:spPr>
          <a:xfrm>
            <a:off x="841248" y="4937760"/>
            <a:ext cx="5486400" cy="548640"/>
          </a:xfrm>
          <a:prstGeom prst="rect">
            <a:avLst/>
          </a:prstGeom>
          <a:noFill/>
        </p:spPr>
        <p:txBody>
          <a:bodyPr wrap="square" lIns="0" rIns="0" tIns="0" bIns="0" anchor="t">
            <a:spAutoFit/>
          </a:bodyPr>
          <a:lstStyle/>
          <a:p>
            <a:pPr algn="l">
              <a:lnSpc>
                <a:spcPct val="118000"/>
              </a:lnSpc>
            </a:pPr>
            <a:r>
              <a:rPr sz="1100" b="0" i="0">
                <a:solidFill>
                  <a:srgbClr val="595959"/>
                </a:solidFill>
                <a:latin typeface="Aptos"/>
              </a:rPr>
              <a:t>On a small dataset with a tight compute budget, freeze deep and fine-tune little.</a:t>
            </a:r>
          </a:p>
        </p:txBody>
      </p:sp>
      <p:cxnSp>
        <p:nvCxnSpPr>
          <p:cNvPr id="15" name="Connector 14"/>
          <p:cNvCxnSpPr/>
          <p:nvPr/>
        </p:nvCxnSpPr>
        <p:spPr>
          <a:xfrm>
            <a:off x="6784848" y="1975104"/>
            <a:ext cx="45658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784848" y="2048256"/>
            <a:ext cx="4565873"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Limitations</a:t>
            </a:r>
          </a:p>
        </p:txBody>
      </p:sp>
      <p:sp>
        <p:nvSpPr>
          <p:cNvPr id="17" name="TextBox 16"/>
          <p:cNvSpPr txBox="1"/>
          <p:nvPr/>
        </p:nvSpPr>
        <p:spPr>
          <a:xfrm>
            <a:off x="6784848" y="2432304"/>
            <a:ext cx="4565873" cy="237744"/>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One dataset, one architecture</a:t>
            </a:r>
          </a:p>
        </p:txBody>
      </p:sp>
      <p:sp>
        <p:nvSpPr>
          <p:cNvPr id="18" name="TextBox 17"/>
          <p:cNvSpPr txBox="1"/>
          <p:nvPr/>
        </p:nvSpPr>
        <p:spPr>
          <a:xfrm>
            <a:off x="6784848" y="2642616"/>
            <a:ext cx="4565873" cy="219456"/>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The 26.7-point figure is not claimed to generalize across domains.</a:t>
            </a:r>
          </a:p>
        </p:txBody>
      </p:sp>
      <p:sp>
        <p:nvSpPr>
          <p:cNvPr id="19" name="TextBox 18"/>
          <p:cNvSpPr txBox="1"/>
          <p:nvPr/>
        </p:nvSpPr>
        <p:spPr>
          <a:xfrm>
            <a:off x="6784848" y="2889504"/>
            <a:ext cx="4565873" cy="237744"/>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Three seeds, no significance test</a:t>
            </a:r>
          </a:p>
        </p:txBody>
      </p:sp>
      <p:sp>
        <p:nvSpPr>
          <p:cNvPr id="20" name="TextBox 19"/>
          <p:cNvSpPr txBox="1"/>
          <p:nvPr/>
        </p:nvSpPr>
        <p:spPr>
          <a:xfrm>
            <a:off x="6784848" y="3099816"/>
            <a:ext cx="4565873" cy="219456"/>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Gaps far exceed the within-condition spread, but no test is run.</a:t>
            </a:r>
          </a:p>
        </p:txBody>
      </p:sp>
      <p:sp>
        <p:nvSpPr>
          <p:cNvPr id="21" name="TextBox 20"/>
          <p:cNvSpPr txBox="1"/>
          <p:nvPr/>
        </p:nvSpPr>
        <p:spPr>
          <a:xfrm>
            <a:off x="6784848" y="3346704"/>
            <a:ext cx="4565873" cy="237744"/>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No data augmentation</a:t>
            </a:r>
          </a:p>
        </p:txBody>
      </p:sp>
      <p:sp>
        <p:nvSpPr>
          <p:cNvPr id="22" name="TextBox 21"/>
          <p:cNvSpPr txBox="1"/>
          <p:nvPr/>
        </p:nvSpPr>
        <p:spPr>
          <a:xfrm>
            <a:off x="6784848" y="3557016"/>
            <a:ext cx="4565873" cy="219456"/>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Omitted deliberately; absolute accuracies sit below tuned baselines.</a:t>
            </a:r>
          </a:p>
        </p:txBody>
      </p:sp>
      <p:sp>
        <p:nvSpPr>
          <p:cNvPr id="23" name="TextBox 22"/>
          <p:cNvSpPr txBox="1"/>
          <p:nvPr/>
        </p:nvSpPr>
        <p:spPr>
          <a:xfrm>
            <a:off x="6784848" y="3803904"/>
            <a:ext cx="4565873" cy="237744"/>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Ablation on a 40% subset</a:t>
            </a:r>
          </a:p>
        </p:txBody>
      </p:sp>
      <p:sp>
        <p:nvSpPr>
          <p:cNvPr id="24" name="TextBox 23"/>
          <p:cNvSpPr txBox="1"/>
          <p:nvPr/>
        </p:nvSpPr>
        <p:spPr>
          <a:xfrm>
            <a:off x="6784848" y="4014216"/>
            <a:ext cx="4565873" cy="219456"/>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Run on reduced data for tractability. Read the shape, not the values.</a:t>
            </a:r>
          </a:p>
        </p:txBody>
      </p:sp>
      <p:sp>
        <p:nvSpPr>
          <p:cNvPr id="25" name="TextBox 24"/>
          <p:cNvSpPr txBox="1"/>
          <p:nvPr/>
        </p:nvSpPr>
        <p:spPr>
          <a:xfrm>
            <a:off x="6784848" y="4261104"/>
            <a:ext cx="4565873" cy="237744"/>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Gabor bank untuned</a:t>
            </a:r>
          </a:p>
        </p:txBody>
      </p:sp>
      <p:sp>
        <p:nvSpPr>
          <p:cNvPr id="26" name="TextBox 25"/>
          <p:cNvSpPr txBox="1"/>
          <p:nvPr/>
        </p:nvSpPr>
        <p:spPr>
          <a:xfrm>
            <a:off x="6784848" y="4471416"/>
            <a:ext cx="4565873" cy="219456"/>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The 7-point residual is therefore an upper bound on the gap.</a:t>
            </a:r>
          </a:p>
        </p:txBody>
      </p:sp>
      <p:sp>
        <p:nvSpPr>
          <p:cNvPr id="27" name="TextBox 26"/>
          <p:cNvSpPr txBox="1"/>
          <p:nvPr/>
        </p:nvSpPr>
        <p:spPr>
          <a:xfrm>
            <a:off x="6784848" y="4718304"/>
            <a:ext cx="4565873" cy="237744"/>
          </a:xfrm>
          <a:prstGeom prst="rect">
            <a:avLst/>
          </a:prstGeom>
          <a:noFill/>
        </p:spPr>
        <p:txBody>
          <a:bodyPr wrap="square" lIns="0" rIns="0" tIns="0" bIns="0" anchor="t">
            <a:spAutoFit/>
          </a:bodyPr>
          <a:lstStyle/>
          <a:p>
            <a:pPr algn="l">
              <a:lnSpc>
                <a:spcPct val="100000"/>
              </a:lnSpc>
            </a:pPr>
            <a:r>
              <a:rPr sz="1250" b="0" i="0">
                <a:solidFill>
                  <a:srgbClr val="000000"/>
                </a:solidFill>
                <a:latin typeface="Aptos Display"/>
              </a:rPr>
              <a:t>The control is not a method</a:t>
            </a:r>
          </a:p>
        </p:txBody>
      </p:sp>
      <p:sp>
        <p:nvSpPr>
          <p:cNvPr id="28" name="TextBox 27"/>
          <p:cNvSpPr txBox="1"/>
          <p:nvPr/>
        </p:nvSpPr>
        <p:spPr>
          <a:xfrm>
            <a:off x="6784848" y="4928616"/>
            <a:ext cx="4565873" cy="219456"/>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Random-Frozen holds capacity fixed. It is not a way to train anything.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FINDINGS AND NEXT STEPS</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Conclusion and Future Work</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What the capacity-matched design establishes, and the four extensions it makes straightforward.</a:t>
            </a:r>
          </a:p>
        </p:txBody>
      </p:sp>
      <p:cxnSp>
        <p:nvCxnSpPr>
          <p:cNvPr id="5" name="Connector 4"/>
          <p:cNvCxnSpPr/>
          <p:nvPr/>
        </p:nvCxnSpPr>
        <p:spPr>
          <a:xfrm>
            <a:off x="841248" y="1975104"/>
            <a:ext cx="5852160"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2048256"/>
            <a:ext cx="5852160"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Conclusion</a:t>
            </a:r>
          </a:p>
        </p:txBody>
      </p:sp>
      <p:sp>
        <p:nvSpPr>
          <p:cNvPr id="7" name="TextBox 6"/>
          <p:cNvSpPr txBox="1"/>
          <p:nvPr/>
        </p:nvSpPr>
        <p:spPr>
          <a:xfrm>
            <a:off x="841248" y="2478024"/>
            <a:ext cx="411480" cy="292608"/>
          </a:xfrm>
          <a:prstGeom prst="rect">
            <a:avLst/>
          </a:prstGeom>
          <a:noFill/>
        </p:spPr>
        <p:txBody>
          <a:bodyPr wrap="square" lIns="0" rIns="0" tIns="0" bIns="0" anchor="t">
            <a:spAutoFit/>
          </a:bodyPr>
          <a:lstStyle/>
          <a:p>
            <a:pPr algn="l">
              <a:lnSpc>
                <a:spcPct val="100000"/>
              </a:lnSpc>
            </a:pPr>
            <a:r>
              <a:rPr sz="1400" b="0" i="1">
                <a:solidFill>
                  <a:srgbClr val="00696B"/>
                </a:solidFill>
                <a:latin typeface="Aptos Display"/>
              </a:rPr>
              <a:t>i.</a:t>
            </a:r>
          </a:p>
        </p:txBody>
      </p:sp>
      <p:sp>
        <p:nvSpPr>
          <p:cNvPr id="8" name="TextBox 7"/>
          <p:cNvSpPr txBox="1"/>
          <p:nvPr/>
        </p:nvSpPr>
        <p:spPr>
          <a:xfrm>
            <a:off x="1298448" y="2478024"/>
            <a:ext cx="5394960" cy="292608"/>
          </a:xfrm>
          <a:prstGeom prst="rect">
            <a:avLst/>
          </a:prstGeom>
          <a:noFill/>
        </p:spPr>
        <p:txBody>
          <a:bodyPr wrap="square" lIns="0" rIns="0" tIns="0" bIns="0" anchor="t">
            <a:spAutoFit/>
          </a:bodyPr>
          <a:lstStyle/>
          <a:p>
            <a:pPr algn="l">
              <a:lnSpc>
                <a:spcPct val="100000"/>
              </a:lnSpc>
            </a:pPr>
            <a:r>
              <a:rPr sz="1550" b="0" i="0">
                <a:solidFill>
                  <a:srgbClr val="000000"/>
                </a:solidFill>
                <a:latin typeface="Aptos Display"/>
              </a:rPr>
              <a:t>Pretraining is feature quality, not parameter count</a:t>
            </a:r>
          </a:p>
        </p:txBody>
      </p:sp>
      <p:sp>
        <p:nvSpPr>
          <p:cNvPr id="9" name="TextBox 8"/>
          <p:cNvSpPr txBox="1"/>
          <p:nvPr/>
        </p:nvSpPr>
        <p:spPr>
          <a:xfrm>
            <a:off x="1298448" y="2788920"/>
            <a:ext cx="5394960" cy="365760"/>
          </a:xfrm>
          <a:prstGeom prst="rect">
            <a:avLst/>
          </a:prstGeom>
          <a:noFill/>
        </p:spPr>
        <p:txBody>
          <a:bodyPr wrap="square" lIns="0" rIns="0" tIns="0" bIns="0" anchor="t">
            <a:spAutoFit/>
          </a:bodyPr>
          <a:lstStyle/>
          <a:p>
            <a:pPr algn="l">
              <a:lnSpc>
                <a:spcPct val="100000"/>
              </a:lnSpc>
            </a:pPr>
            <a:r>
              <a:rPr sz="1150" b="0" i="0">
                <a:solidFill>
                  <a:srgbClr val="595959"/>
                </a:solidFill>
                <a:latin typeface="Aptos"/>
              </a:rPr>
              <a:t>Capacity-matched, pretrained features are worth +26.7 points over random ones.</a:t>
            </a:r>
          </a:p>
        </p:txBody>
      </p:sp>
      <p:sp>
        <p:nvSpPr>
          <p:cNvPr id="10" name="TextBox 9"/>
          <p:cNvSpPr txBox="1"/>
          <p:nvPr/>
        </p:nvSpPr>
        <p:spPr>
          <a:xfrm>
            <a:off x="841248" y="3300984"/>
            <a:ext cx="411480" cy="292608"/>
          </a:xfrm>
          <a:prstGeom prst="rect">
            <a:avLst/>
          </a:prstGeom>
          <a:noFill/>
        </p:spPr>
        <p:txBody>
          <a:bodyPr wrap="square" lIns="0" rIns="0" tIns="0" bIns="0" anchor="t">
            <a:spAutoFit/>
          </a:bodyPr>
          <a:lstStyle/>
          <a:p>
            <a:pPr algn="l">
              <a:lnSpc>
                <a:spcPct val="100000"/>
              </a:lnSpc>
            </a:pPr>
            <a:r>
              <a:rPr sz="1400" b="0" i="1">
                <a:solidFill>
                  <a:srgbClr val="00696B"/>
                </a:solidFill>
                <a:latin typeface="Aptos Display"/>
              </a:rPr>
              <a:t>ii.</a:t>
            </a:r>
          </a:p>
        </p:txBody>
      </p:sp>
      <p:sp>
        <p:nvSpPr>
          <p:cNvPr id="11" name="TextBox 10"/>
          <p:cNvSpPr txBox="1"/>
          <p:nvPr/>
        </p:nvSpPr>
        <p:spPr>
          <a:xfrm>
            <a:off x="1298448" y="3300984"/>
            <a:ext cx="5394960" cy="292608"/>
          </a:xfrm>
          <a:prstGeom prst="rect">
            <a:avLst/>
          </a:prstGeom>
          <a:noFill/>
        </p:spPr>
        <p:txBody>
          <a:bodyPr wrap="square" lIns="0" rIns="0" tIns="0" bIns="0" anchor="t">
            <a:spAutoFit/>
          </a:bodyPr>
          <a:lstStyle/>
          <a:p>
            <a:pPr algn="l">
              <a:lnSpc>
                <a:spcPct val="100000"/>
              </a:lnSpc>
            </a:pPr>
            <a:r>
              <a:rPr sz="1550" b="0" i="0">
                <a:solidFill>
                  <a:srgbClr val="000000"/>
                </a:solidFill>
                <a:latin typeface="Aptos Display"/>
              </a:rPr>
              <a:t>Capacity helps, and cannot close the gap</a:t>
            </a:r>
          </a:p>
        </p:txBody>
      </p:sp>
      <p:sp>
        <p:nvSpPr>
          <p:cNvPr id="12" name="TextBox 11"/>
          <p:cNvSpPr txBox="1"/>
          <p:nvPr/>
        </p:nvSpPr>
        <p:spPr>
          <a:xfrm>
            <a:off x="1298448" y="3611879"/>
            <a:ext cx="5394960" cy="365760"/>
          </a:xfrm>
          <a:prstGeom prst="rect">
            <a:avLst/>
          </a:prstGeom>
          <a:noFill/>
        </p:spPr>
        <p:txBody>
          <a:bodyPr wrap="square" lIns="0" rIns="0" tIns="0" bIns="0" anchor="t">
            <a:spAutoFit/>
          </a:bodyPr>
          <a:lstStyle/>
          <a:p>
            <a:pPr algn="l">
              <a:lnSpc>
                <a:spcPct val="100000"/>
              </a:lnSpc>
            </a:pPr>
            <a:r>
              <a:rPr sz="1150" b="0" i="0">
                <a:solidFill>
                  <a:srgbClr val="595959"/>
                </a:solidFill>
                <a:latin typeface="Aptos"/>
              </a:rPr>
              <a:t>Full capacity from scratch reaches 84.7%: nine points short, at four times the compute.</a:t>
            </a:r>
          </a:p>
        </p:txBody>
      </p:sp>
      <p:sp>
        <p:nvSpPr>
          <p:cNvPr id="13" name="TextBox 12"/>
          <p:cNvSpPr txBox="1"/>
          <p:nvPr/>
        </p:nvSpPr>
        <p:spPr>
          <a:xfrm>
            <a:off x="841248" y="4123944"/>
            <a:ext cx="411480" cy="292608"/>
          </a:xfrm>
          <a:prstGeom prst="rect">
            <a:avLst/>
          </a:prstGeom>
          <a:noFill/>
        </p:spPr>
        <p:txBody>
          <a:bodyPr wrap="square" lIns="0" rIns="0" tIns="0" bIns="0" anchor="t">
            <a:spAutoFit/>
          </a:bodyPr>
          <a:lstStyle/>
          <a:p>
            <a:pPr algn="l">
              <a:lnSpc>
                <a:spcPct val="100000"/>
              </a:lnSpc>
            </a:pPr>
            <a:r>
              <a:rPr sz="1400" b="0" i="1">
                <a:solidFill>
                  <a:srgbClr val="00696B"/>
                </a:solidFill>
                <a:latin typeface="Aptos Display"/>
              </a:rPr>
              <a:t>iii.</a:t>
            </a:r>
          </a:p>
        </p:txBody>
      </p:sp>
      <p:sp>
        <p:nvSpPr>
          <p:cNvPr id="14" name="TextBox 13"/>
          <p:cNvSpPr txBox="1"/>
          <p:nvPr/>
        </p:nvSpPr>
        <p:spPr>
          <a:xfrm>
            <a:off x="1298448" y="4123944"/>
            <a:ext cx="5394960" cy="292608"/>
          </a:xfrm>
          <a:prstGeom prst="rect">
            <a:avLst/>
          </a:prstGeom>
          <a:noFill/>
        </p:spPr>
        <p:txBody>
          <a:bodyPr wrap="square" lIns="0" rIns="0" tIns="0" bIns="0" anchor="t">
            <a:spAutoFit/>
          </a:bodyPr>
          <a:lstStyle/>
          <a:p>
            <a:pPr algn="l">
              <a:lnSpc>
                <a:spcPct val="100000"/>
              </a:lnSpc>
            </a:pPr>
            <a:r>
              <a:rPr sz="1550" b="0" i="0">
                <a:solidFill>
                  <a:srgbClr val="000000"/>
                </a:solidFill>
                <a:latin typeface="Aptos Display"/>
              </a:rPr>
              <a:t>For small data, transfer learning wins outright</a:t>
            </a:r>
          </a:p>
        </p:txBody>
      </p:sp>
      <p:sp>
        <p:nvSpPr>
          <p:cNvPr id="15" name="TextBox 14"/>
          <p:cNvSpPr txBox="1"/>
          <p:nvPr/>
        </p:nvSpPr>
        <p:spPr>
          <a:xfrm>
            <a:off x="1298448" y="4434840"/>
            <a:ext cx="5394960" cy="365760"/>
          </a:xfrm>
          <a:prstGeom prst="rect">
            <a:avLst/>
          </a:prstGeom>
          <a:noFill/>
        </p:spPr>
        <p:txBody>
          <a:bodyPr wrap="square" lIns="0" rIns="0" tIns="0" bIns="0" anchor="t">
            <a:spAutoFit/>
          </a:bodyPr>
          <a:lstStyle/>
          <a:p>
            <a:pPr algn="l">
              <a:lnSpc>
                <a:spcPct val="100000"/>
              </a:lnSpc>
            </a:pPr>
            <a:r>
              <a:rPr sz="1150" b="0" i="0">
                <a:solidFill>
                  <a:srgbClr val="595959"/>
                </a:solidFill>
                <a:latin typeface="Aptos"/>
              </a:rPr>
              <a:t>Best accuracy and fastest convergence, and the ablation says minimal fine-tuning.</a:t>
            </a:r>
          </a:p>
        </p:txBody>
      </p:sp>
      <p:cxnSp>
        <p:nvCxnSpPr>
          <p:cNvPr id="16" name="Connector 15"/>
          <p:cNvCxnSpPr/>
          <p:nvPr/>
        </p:nvCxnSpPr>
        <p:spPr>
          <a:xfrm>
            <a:off x="841248" y="4892040"/>
            <a:ext cx="5852160" cy="0"/>
          </a:xfrm>
          <a:prstGeom prst="line">
            <a:avLst/>
          </a:prstGeom>
          <a:ln w="9525">
            <a:solidFill>
              <a:srgbClr val="E6E6E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1248" y="5020056"/>
            <a:ext cx="5852160" cy="548640"/>
          </a:xfrm>
          <a:prstGeom prst="rect">
            <a:avLst/>
          </a:prstGeom>
          <a:noFill/>
        </p:spPr>
        <p:txBody>
          <a:bodyPr wrap="square" lIns="0" rIns="0" tIns="0" bIns="0" anchor="t">
            <a:spAutoFit/>
          </a:bodyPr>
          <a:lstStyle/>
          <a:p>
            <a:pPr algn="l">
              <a:lnSpc>
                <a:spcPct val="120000"/>
              </a:lnSpc>
            </a:pPr>
            <a:r>
              <a:rPr sz="1300" b="0" i="1">
                <a:solidFill>
                  <a:srgbClr val="000000"/>
                </a:solidFill>
                <a:latin typeface="Aptos Display"/>
              </a:rPr>
              <a:t>The random-frozen control is what makes the first point a measurement rather than an impression.</a:t>
            </a:r>
          </a:p>
        </p:txBody>
      </p:sp>
      <p:cxnSp>
        <p:nvCxnSpPr>
          <p:cNvPr id="18" name="Connector 17"/>
          <p:cNvCxnSpPr/>
          <p:nvPr/>
        </p:nvCxnSpPr>
        <p:spPr>
          <a:xfrm>
            <a:off x="7150608" y="1975104"/>
            <a:ext cx="420011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50608" y="2048256"/>
            <a:ext cx="4200113"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Future work</a:t>
            </a:r>
          </a:p>
        </p:txBody>
      </p:sp>
      <p:sp>
        <p:nvSpPr>
          <p:cNvPr id="20" name="TextBox 19"/>
          <p:cNvSpPr txBox="1"/>
          <p:nvPr/>
        </p:nvSpPr>
        <p:spPr>
          <a:xfrm>
            <a:off x="7150608" y="2478024"/>
            <a:ext cx="4200113" cy="256032"/>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Test the ratio off-distribution</a:t>
            </a:r>
          </a:p>
        </p:txBody>
      </p:sp>
      <p:sp>
        <p:nvSpPr>
          <p:cNvPr id="21" name="TextBox 20"/>
          <p:cNvSpPr txBox="1"/>
          <p:nvPr/>
        </p:nvSpPr>
        <p:spPr>
          <a:xfrm>
            <a:off x="7150608" y="2715768"/>
            <a:ext cx="4200113" cy="402336"/>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Repeat the comparison on a domain far from ImageNet, where Raghu et al. found size dominating.</a:t>
            </a:r>
          </a:p>
        </p:txBody>
      </p:sp>
      <p:sp>
        <p:nvSpPr>
          <p:cNvPr id="22" name="TextBox 21"/>
          <p:cNvSpPr txBox="1"/>
          <p:nvPr/>
        </p:nvSpPr>
        <p:spPr>
          <a:xfrm>
            <a:off x="7150608" y="3191256"/>
            <a:ext cx="4200113" cy="256032"/>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Separate depth from capacity</a:t>
            </a:r>
          </a:p>
        </p:txBody>
      </p:sp>
      <p:sp>
        <p:nvSpPr>
          <p:cNvPr id="23" name="TextBox 22"/>
          <p:cNvSpPr txBox="1"/>
          <p:nvPr/>
        </p:nvSpPr>
        <p:spPr>
          <a:xfrm>
            <a:off x="7150608" y="3429000"/>
            <a:ext cx="4200113" cy="402336"/>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Replace the random control with a parameter-matched shallow network.</a:t>
            </a:r>
          </a:p>
        </p:txBody>
      </p:sp>
      <p:sp>
        <p:nvSpPr>
          <p:cNvPr id="24" name="TextBox 23"/>
          <p:cNvSpPr txBox="1"/>
          <p:nvPr/>
        </p:nvSpPr>
        <p:spPr>
          <a:xfrm>
            <a:off x="7150608" y="3904488"/>
            <a:ext cx="4200113" cy="256032"/>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Scale the pretraining set</a:t>
            </a:r>
          </a:p>
        </p:txBody>
      </p:sp>
      <p:sp>
        <p:nvSpPr>
          <p:cNvPr id="25" name="TextBox 24"/>
          <p:cNvSpPr txBox="1"/>
          <p:nvPr/>
        </p:nvSpPr>
        <p:spPr>
          <a:xfrm>
            <a:off x="7150608" y="4142232"/>
            <a:ext cx="4200113" cy="402336"/>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Sweep pretraining corpus size: does the 26.7-point gap grow or saturate?</a:t>
            </a:r>
          </a:p>
        </p:txBody>
      </p:sp>
      <p:sp>
        <p:nvSpPr>
          <p:cNvPr id="26" name="TextBox 25"/>
          <p:cNvSpPr txBox="1"/>
          <p:nvPr/>
        </p:nvSpPr>
        <p:spPr>
          <a:xfrm>
            <a:off x="7150608" y="4617720"/>
            <a:ext cx="4200113" cy="256032"/>
          </a:xfrm>
          <a:prstGeom prst="rect">
            <a:avLst/>
          </a:prstGeom>
          <a:noFill/>
        </p:spPr>
        <p:txBody>
          <a:bodyPr wrap="square" lIns="0" rIns="0" tIns="0" bIns="0" anchor="t">
            <a:spAutoFit/>
          </a:bodyPr>
          <a:lstStyle/>
          <a:p>
            <a:pPr algn="l">
              <a:lnSpc>
                <a:spcPct val="100000"/>
              </a:lnSpc>
            </a:pPr>
            <a:r>
              <a:rPr sz="1300" b="0" i="0">
                <a:solidFill>
                  <a:srgbClr val="000000"/>
                </a:solidFill>
                <a:latin typeface="Aptos Display"/>
              </a:rPr>
              <a:t>Push the reconstruction limit</a:t>
            </a:r>
          </a:p>
        </p:txBody>
      </p:sp>
      <p:sp>
        <p:nvSpPr>
          <p:cNvPr id="27" name="TextBox 26"/>
          <p:cNvSpPr txBox="1"/>
          <p:nvPr/>
        </p:nvSpPr>
        <p:spPr>
          <a:xfrm>
            <a:off x="7150608" y="4855464"/>
            <a:ext cx="4200113" cy="402336"/>
          </a:xfrm>
          <a:prstGeom prst="rect">
            <a:avLst/>
          </a:prstGeom>
          <a:noFill/>
        </p:spPr>
        <p:txBody>
          <a:bodyPr wrap="square" lIns="0" rIns="0" tIns="0" bIns="0" anchor="t">
            <a:spAutoFit/>
          </a:bodyPr>
          <a:lstStyle/>
          <a:p>
            <a:pPr algn="l">
              <a:lnSpc>
                <a:spcPct val="116000"/>
              </a:lnSpc>
            </a:pPr>
            <a:r>
              <a:rPr sz="1050" b="0" i="0">
                <a:solidFill>
                  <a:srgbClr val="595959"/>
                </a:solidFill>
                <a:latin typeface="Aptos"/>
              </a:rPr>
              <a:t>Tune the bank and try other fixed bases. Is the gap specific to Gabor?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896112"/>
            <a:ext cx="10509473" cy="201168"/>
          </a:xfrm>
          <a:prstGeom prst="rect">
            <a:avLst/>
          </a:prstGeom>
          <a:noFill/>
        </p:spPr>
        <p:txBody>
          <a:bodyPr wrap="square" lIns="0" rIns="0" tIns="0" bIns="0" anchor="ctr">
            <a:spAutoFit/>
          </a:bodyPr>
          <a:lstStyle/>
          <a:p>
            <a:pPr algn="l">
              <a:lnSpc>
                <a:spcPct val="100000"/>
              </a:lnSpc>
            </a:pPr>
            <a:r>
              <a:rPr sz="950" b="0" i="0" spc="140">
                <a:solidFill>
                  <a:srgbClr val="00696B"/>
                </a:solidFill>
                <a:latin typeface="Aptos"/>
              </a:rPr>
              <a:t>CREDITS AND BIBLIOGRAPHY</a:t>
            </a:r>
          </a:p>
        </p:txBody>
      </p:sp>
      <p:sp>
        <p:nvSpPr>
          <p:cNvPr id="3" name="TextBox 2"/>
          <p:cNvSpPr txBox="1"/>
          <p:nvPr/>
        </p:nvSpPr>
        <p:spPr>
          <a:xfrm>
            <a:off x="841248" y="1097280"/>
            <a:ext cx="10509473" cy="493776"/>
          </a:xfrm>
          <a:prstGeom prst="rect">
            <a:avLst/>
          </a:prstGeom>
          <a:noFill/>
        </p:spPr>
        <p:txBody>
          <a:bodyPr wrap="square" lIns="0" rIns="0" tIns="0" bIns="0" anchor="ctr">
            <a:spAutoFit/>
          </a:bodyPr>
          <a:lstStyle/>
          <a:p>
            <a:pPr algn="l">
              <a:lnSpc>
                <a:spcPct val="100000"/>
              </a:lnSpc>
            </a:pPr>
            <a:r>
              <a:rPr sz="2500" b="1" i="0">
                <a:solidFill>
                  <a:srgbClr val="000000"/>
                </a:solidFill>
                <a:latin typeface="Aptos Display"/>
              </a:rPr>
              <a:t>Acknowledgments and References</a:t>
            </a:r>
          </a:p>
        </p:txBody>
      </p:sp>
      <p:sp>
        <p:nvSpPr>
          <p:cNvPr id="4" name="TextBox 3"/>
          <p:cNvSpPr txBox="1"/>
          <p:nvPr/>
        </p:nvSpPr>
        <p:spPr>
          <a:xfrm>
            <a:off x="841248" y="1627632"/>
            <a:ext cx="9668715" cy="310896"/>
          </a:xfrm>
          <a:prstGeom prst="rect">
            <a:avLst/>
          </a:prstGeom>
          <a:noFill/>
        </p:spPr>
        <p:txBody>
          <a:bodyPr wrap="square" lIns="0" rIns="0" tIns="0" bIns="0" anchor="t">
            <a:spAutoFit/>
          </a:bodyPr>
          <a:lstStyle/>
          <a:p>
            <a:pPr algn="l">
              <a:lnSpc>
                <a:spcPct val="100000"/>
              </a:lnSpc>
            </a:pPr>
            <a:r>
              <a:rPr sz="1250" b="0" i="0">
                <a:solidFill>
                  <a:srgbClr val="595959"/>
                </a:solidFill>
                <a:latin typeface="Aptos"/>
              </a:rPr>
              <a:t>Peer-reviewed venues only.</a:t>
            </a:r>
          </a:p>
        </p:txBody>
      </p:sp>
      <p:cxnSp>
        <p:nvCxnSpPr>
          <p:cNvPr id="5" name="Connector 4"/>
          <p:cNvCxnSpPr/>
          <p:nvPr/>
        </p:nvCxnSpPr>
        <p:spPr>
          <a:xfrm>
            <a:off x="841248" y="1975104"/>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2048256"/>
            <a:ext cx="10509473" cy="274320"/>
          </a:xfrm>
          <a:prstGeom prst="rect">
            <a:avLst/>
          </a:prstGeom>
          <a:noFill/>
        </p:spPr>
        <p:txBody>
          <a:bodyPr wrap="square" lIns="0" rIns="0" tIns="0" bIns="0" anchor="ctr">
            <a:spAutoFit/>
          </a:bodyPr>
          <a:lstStyle/>
          <a:p>
            <a:pPr algn="l">
              <a:lnSpc>
                <a:spcPct val="100000"/>
              </a:lnSpc>
            </a:pPr>
            <a:r>
              <a:rPr sz="1500" b="0" i="0">
                <a:solidFill>
                  <a:srgbClr val="000000"/>
                </a:solidFill>
                <a:latin typeface="Aptos Display"/>
              </a:rPr>
              <a:t>Acknowledgments</a:t>
            </a:r>
          </a:p>
        </p:txBody>
      </p:sp>
      <p:sp>
        <p:nvSpPr>
          <p:cNvPr id="7" name="TextBox 6"/>
          <p:cNvSpPr txBox="1"/>
          <p:nvPr/>
        </p:nvSpPr>
        <p:spPr>
          <a:xfrm>
            <a:off x="841248" y="2377440"/>
            <a:ext cx="3017520" cy="237744"/>
          </a:xfrm>
          <a:prstGeom prst="rect">
            <a:avLst/>
          </a:prstGeom>
          <a:noFill/>
        </p:spPr>
        <p:txBody>
          <a:bodyPr wrap="square" lIns="0" rIns="0" tIns="0" bIns="0" anchor="t">
            <a:spAutoFit/>
          </a:bodyPr>
          <a:lstStyle/>
          <a:p>
            <a:pPr algn="l">
              <a:lnSpc>
                <a:spcPct val="100000"/>
              </a:lnSpc>
            </a:pPr>
            <a:r>
              <a:rPr sz="1200" b="0" i="0">
                <a:solidFill>
                  <a:srgbClr val="000000"/>
                </a:solidFill>
                <a:latin typeface="Aptos Display"/>
              </a:rPr>
              <a:t>Prof. Bruce Maxwell</a:t>
            </a:r>
          </a:p>
        </p:txBody>
      </p:sp>
      <p:sp>
        <p:nvSpPr>
          <p:cNvPr id="8" name="TextBox 7"/>
          <p:cNvSpPr txBox="1"/>
          <p:nvPr/>
        </p:nvSpPr>
        <p:spPr>
          <a:xfrm>
            <a:off x="3995928" y="2377440"/>
            <a:ext cx="6949440"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CS 5330, Khoury College. His question about how far the first layer’s influence reaches became the Gabor experiment in Results III.</a:t>
            </a:r>
          </a:p>
        </p:txBody>
      </p:sp>
      <p:sp>
        <p:nvSpPr>
          <p:cNvPr id="9" name="TextBox 8"/>
          <p:cNvSpPr txBox="1"/>
          <p:nvPr/>
        </p:nvSpPr>
        <p:spPr>
          <a:xfrm>
            <a:off x="841248" y="2670048"/>
            <a:ext cx="3017520" cy="237744"/>
          </a:xfrm>
          <a:prstGeom prst="rect">
            <a:avLst/>
          </a:prstGeom>
          <a:noFill/>
        </p:spPr>
        <p:txBody>
          <a:bodyPr wrap="square" lIns="0" rIns="0" tIns="0" bIns="0" anchor="t">
            <a:spAutoFit/>
          </a:bodyPr>
          <a:lstStyle/>
          <a:p>
            <a:pPr algn="l">
              <a:lnSpc>
                <a:spcPct val="100000"/>
              </a:lnSpc>
            </a:pPr>
            <a:r>
              <a:rPr sz="1200" b="0" i="0">
                <a:solidFill>
                  <a:srgbClr val="000000"/>
                </a:solidFill>
                <a:latin typeface="Aptos Display"/>
              </a:rPr>
              <a:t>Intel Image Classification dataset</a:t>
            </a:r>
          </a:p>
        </p:txBody>
      </p:sp>
      <p:sp>
        <p:nvSpPr>
          <p:cNvPr id="10" name="TextBox 9"/>
          <p:cNvSpPr txBox="1"/>
          <p:nvPr/>
        </p:nvSpPr>
        <p:spPr>
          <a:xfrm>
            <a:off x="3995928" y="2670048"/>
            <a:ext cx="6949440"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Natural scene imagery across six categories, distributed publicly via Kaggle.</a:t>
            </a:r>
          </a:p>
        </p:txBody>
      </p:sp>
      <p:sp>
        <p:nvSpPr>
          <p:cNvPr id="11" name="TextBox 10"/>
          <p:cNvSpPr txBox="1"/>
          <p:nvPr/>
        </p:nvSpPr>
        <p:spPr>
          <a:xfrm>
            <a:off x="841248" y="2962656"/>
            <a:ext cx="3017520" cy="237744"/>
          </a:xfrm>
          <a:prstGeom prst="rect">
            <a:avLst/>
          </a:prstGeom>
          <a:noFill/>
        </p:spPr>
        <p:txBody>
          <a:bodyPr wrap="square" lIns="0" rIns="0" tIns="0" bIns="0" anchor="t">
            <a:spAutoFit/>
          </a:bodyPr>
          <a:lstStyle/>
          <a:p>
            <a:pPr algn="l">
              <a:lnSpc>
                <a:spcPct val="100000"/>
              </a:lnSpc>
            </a:pPr>
            <a:r>
              <a:rPr sz="1200" b="0" i="0">
                <a:solidFill>
                  <a:srgbClr val="000000"/>
                </a:solidFill>
                <a:latin typeface="Aptos Display"/>
              </a:rPr>
              <a:t>PyTorch and torchvision</a:t>
            </a:r>
          </a:p>
        </p:txBody>
      </p:sp>
      <p:sp>
        <p:nvSpPr>
          <p:cNvPr id="12" name="TextBox 11"/>
          <p:cNvSpPr txBox="1"/>
          <p:nvPr/>
        </p:nvSpPr>
        <p:spPr>
          <a:xfrm>
            <a:off x="3995928" y="2962656"/>
            <a:ext cx="6949440" cy="237744"/>
          </a:xfrm>
          <a:prstGeom prst="rect">
            <a:avLst/>
          </a:prstGeom>
          <a:noFill/>
        </p:spPr>
        <p:txBody>
          <a:bodyPr wrap="square" lIns="0" rIns="0" tIns="0" bIns="0" anchor="t">
            <a:spAutoFit/>
          </a:bodyPr>
          <a:lstStyle/>
          <a:p>
            <a:pPr algn="l">
              <a:lnSpc>
                <a:spcPct val="100000"/>
              </a:lnSpc>
            </a:pPr>
            <a:r>
              <a:rPr sz="1050" b="0" i="0">
                <a:solidFill>
                  <a:srgbClr val="595959"/>
                </a:solidFill>
                <a:latin typeface="Aptos"/>
              </a:rPr>
              <a:t>ResNet-18 implementation and the ImageNet-pretrained weights used throughout.</a:t>
            </a:r>
          </a:p>
        </p:txBody>
      </p:sp>
      <p:cxnSp>
        <p:nvCxnSpPr>
          <p:cNvPr id="13" name="Connector 12"/>
          <p:cNvCxnSpPr/>
          <p:nvPr/>
        </p:nvCxnSpPr>
        <p:spPr>
          <a:xfrm>
            <a:off x="841248" y="3328415"/>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1248" y="3401568"/>
            <a:ext cx="10509473" cy="256032"/>
          </a:xfrm>
          <a:prstGeom prst="rect">
            <a:avLst/>
          </a:prstGeom>
          <a:noFill/>
        </p:spPr>
        <p:txBody>
          <a:bodyPr wrap="square" lIns="0" rIns="0" tIns="0" bIns="0" anchor="ctr">
            <a:spAutoFit/>
          </a:bodyPr>
          <a:lstStyle/>
          <a:p>
            <a:pPr algn="l">
              <a:lnSpc>
                <a:spcPct val="100000"/>
              </a:lnSpc>
            </a:pPr>
            <a:r>
              <a:rPr sz="1400" b="0" i="0">
                <a:solidFill>
                  <a:srgbClr val="000000"/>
                </a:solidFill>
                <a:latin typeface="Aptos Display"/>
              </a:rPr>
              <a:t>References</a:t>
            </a:r>
          </a:p>
        </p:txBody>
      </p:sp>
      <p:sp>
        <p:nvSpPr>
          <p:cNvPr id="15" name="TextBox 14"/>
          <p:cNvSpPr txBox="1"/>
          <p:nvPr/>
        </p:nvSpPr>
        <p:spPr>
          <a:xfrm>
            <a:off x="841248" y="3721607"/>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[1]</a:t>
            </a:r>
          </a:p>
        </p:txBody>
      </p:sp>
      <p:sp>
        <p:nvSpPr>
          <p:cNvPr id="16" name="TextBox 15"/>
          <p:cNvSpPr txBox="1"/>
          <p:nvPr/>
        </p:nvSpPr>
        <p:spPr>
          <a:xfrm>
            <a:off x="1225296" y="3712463"/>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J. Deng, W. Dong, R. Socher, L.-J. Li, K. Li and L. Fei-Fei. ImageNet: A Large-Scale Hierarchical Image Database. </a:t>
            </a:r>
            <a:r>
              <a:rPr sz="950" b="0" i="1">
                <a:solidFill>
                  <a:srgbClr val="595959"/>
                </a:solidFill>
                <a:latin typeface="Aptos"/>
              </a:rPr>
              <a:t>CVPR, 2009.</a:t>
            </a:r>
          </a:p>
        </p:txBody>
      </p:sp>
      <p:sp>
        <p:nvSpPr>
          <p:cNvPr id="17" name="TextBox 16"/>
          <p:cNvSpPr txBox="1"/>
          <p:nvPr/>
        </p:nvSpPr>
        <p:spPr>
          <a:xfrm>
            <a:off x="841248" y="3936491"/>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[2]</a:t>
            </a:r>
          </a:p>
        </p:txBody>
      </p:sp>
      <p:sp>
        <p:nvSpPr>
          <p:cNvPr id="18" name="TextBox 17"/>
          <p:cNvSpPr txBox="1"/>
          <p:nvPr/>
        </p:nvSpPr>
        <p:spPr>
          <a:xfrm>
            <a:off x="1225296" y="3927348"/>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K. Jarrett, K. Kavukcuoglu, M. Ranzato and Y. LeCun. What is the Best Multi-Stage Architecture for Object Recognition? </a:t>
            </a:r>
            <a:r>
              <a:rPr sz="950" b="0" i="1">
                <a:solidFill>
                  <a:srgbClr val="595959"/>
                </a:solidFill>
                <a:latin typeface="Aptos"/>
              </a:rPr>
              <a:t>ICCV, 2009.</a:t>
            </a:r>
          </a:p>
        </p:txBody>
      </p:sp>
      <p:sp>
        <p:nvSpPr>
          <p:cNvPr id="19" name="TextBox 18"/>
          <p:cNvSpPr txBox="1"/>
          <p:nvPr/>
        </p:nvSpPr>
        <p:spPr>
          <a:xfrm>
            <a:off x="841248" y="4151376"/>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[3]</a:t>
            </a:r>
          </a:p>
        </p:txBody>
      </p:sp>
      <p:sp>
        <p:nvSpPr>
          <p:cNvPr id="20" name="TextBox 19"/>
          <p:cNvSpPr txBox="1"/>
          <p:nvPr/>
        </p:nvSpPr>
        <p:spPr>
          <a:xfrm>
            <a:off x="1225296" y="4142232"/>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A. M. Saxe et al. On Random Weights and Unsupervised Feature Learning. </a:t>
            </a:r>
            <a:r>
              <a:rPr sz="950" b="0" i="1">
                <a:solidFill>
                  <a:srgbClr val="595959"/>
                </a:solidFill>
                <a:latin typeface="Aptos"/>
              </a:rPr>
              <a:t>ICML, 2011.</a:t>
            </a:r>
          </a:p>
        </p:txBody>
      </p:sp>
      <p:sp>
        <p:nvSpPr>
          <p:cNvPr id="21" name="TextBox 20"/>
          <p:cNvSpPr txBox="1"/>
          <p:nvPr/>
        </p:nvSpPr>
        <p:spPr>
          <a:xfrm>
            <a:off x="841248" y="4366260"/>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[4]</a:t>
            </a:r>
          </a:p>
        </p:txBody>
      </p:sp>
      <p:sp>
        <p:nvSpPr>
          <p:cNvPr id="22" name="TextBox 21"/>
          <p:cNvSpPr txBox="1"/>
          <p:nvPr/>
        </p:nvSpPr>
        <p:spPr>
          <a:xfrm>
            <a:off x="1225296" y="4357116"/>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A. S. Razavian, H. Azizpour, J. Sullivan and S. Carlsson. CNN Features Off-the-Shelf: An Astounding Baseline. </a:t>
            </a:r>
            <a:r>
              <a:rPr sz="950" b="0" i="1">
                <a:solidFill>
                  <a:srgbClr val="595959"/>
                </a:solidFill>
                <a:latin typeface="Aptos"/>
              </a:rPr>
              <a:t>CVPR Workshops, 2014.</a:t>
            </a:r>
          </a:p>
        </p:txBody>
      </p:sp>
      <p:sp>
        <p:nvSpPr>
          <p:cNvPr id="23" name="TextBox 22"/>
          <p:cNvSpPr txBox="1"/>
          <p:nvPr/>
        </p:nvSpPr>
        <p:spPr>
          <a:xfrm>
            <a:off x="841248" y="4581144"/>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[5]</a:t>
            </a:r>
          </a:p>
        </p:txBody>
      </p:sp>
      <p:sp>
        <p:nvSpPr>
          <p:cNvPr id="24" name="TextBox 23"/>
          <p:cNvSpPr txBox="1"/>
          <p:nvPr/>
        </p:nvSpPr>
        <p:spPr>
          <a:xfrm>
            <a:off x="1225296" y="4572000"/>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J. Yosinski, J. Clune, Y. Bengio and H. Lipson. How Transferable Are Features in Deep Neural Networks? </a:t>
            </a:r>
            <a:r>
              <a:rPr sz="950" b="0" i="1">
                <a:solidFill>
                  <a:srgbClr val="595959"/>
                </a:solidFill>
                <a:latin typeface="Aptos"/>
              </a:rPr>
              <a:t>NeurIPS, 2014.</a:t>
            </a:r>
          </a:p>
        </p:txBody>
      </p:sp>
      <p:sp>
        <p:nvSpPr>
          <p:cNvPr id="25" name="TextBox 24"/>
          <p:cNvSpPr txBox="1"/>
          <p:nvPr/>
        </p:nvSpPr>
        <p:spPr>
          <a:xfrm>
            <a:off x="841248" y="4796028"/>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[6]</a:t>
            </a:r>
          </a:p>
        </p:txBody>
      </p:sp>
      <p:sp>
        <p:nvSpPr>
          <p:cNvPr id="26" name="TextBox 25"/>
          <p:cNvSpPr txBox="1"/>
          <p:nvPr/>
        </p:nvSpPr>
        <p:spPr>
          <a:xfrm>
            <a:off x="1225296" y="4786884"/>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S. Ioffe and C. Szegedy. Batch Normalization: Accelerating Deep Network Training by Reducing Internal Covariate Shift. </a:t>
            </a:r>
            <a:r>
              <a:rPr sz="950" b="0" i="1">
                <a:solidFill>
                  <a:srgbClr val="595959"/>
                </a:solidFill>
                <a:latin typeface="Aptos"/>
              </a:rPr>
              <a:t>ICML, 2015.</a:t>
            </a:r>
          </a:p>
        </p:txBody>
      </p:sp>
      <p:sp>
        <p:nvSpPr>
          <p:cNvPr id="27" name="TextBox 26"/>
          <p:cNvSpPr txBox="1"/>
          <p:nvPr/>
        </p:nvSpPr>
        <p:spPr>
          <a:xfrm>
            <a:off x="841248" y="5010912"/>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[7]</a:t>
            </a:r>
          </a:p>
        </p:txBody>
      </p:sp>
      <p:sp>
        <p:nvSpPr>
          <p:cNvPr id="28" name="TextBox 27"/>
          <p:cNvSpPr txBox="1"/>
          <p:nvPr/>
        </p:nvSpPr>
        <p:spPr>
          <a:xfrm>
            <a:off x="1225296" y="5001768"/>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K. He, X. Zhang, S. Ren and J. Sun. Deep Residual Learning for Image Recognition. </a:t>
            </a:r>
            <a:r>
              <a:rPr sz="950" b="0" i="1">
                <a:solidFill>
                  <a:srgbClr val="595959"/>
                </a:solidFill>
                <a:latin typeface="Aptos"/>
              </a:rPr>
              <a:t>CVPR, 2016.</a:t>
            </a:r>
          </a:p>
        </p:txBody>
      </p:sp>
      <p:sp>
        <p:nvSpPr>
          <p:cNvPr id="29" name="TextBox 28"/>
          <p:cNvSpPr txBox="1"/>
          <p:nvPr/>
        </p:nvSpPr>
        <p:spPr>
          <a:xfrm>
            <a:off x="841248" y="5225796"/>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[8]</a:t>
            </a:r>
          </a:p>
        </p:txBody>
      </p:sp>
      <p:sp>
        <p:nvSpPr>
          <p:cNvPr id="30" name="TextBox 29"/>
          <p:cNvSpPr txBox="1"/>
          <p:nvPr/>
        </p:nvSpPr>
        <p:spPr>
          <a:xfrm>
            <a:off x="1225296" y="5216652"/>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S. Kornblith, J. Shlens and Q. V. Le. Do Better ImageNet Models Transfer Better? </a:t>
            </a:r>
            <a:r>
              <a:rPr sz="950" b="0" i="1">
                <a:solidFill>
                  <a:srgbClr val="595959"/>
                </a:solidFill>
                <a:latin typeface="Aptos"/>
              </a:rPr>
              <a:t>CVPR, 2019.</a:t>
            </a:r>
          </a:p>
        </p:txBody>
      </p:sp>
      <p:sp>
        <p:nvSpPr>
          <p:cNvPr id="31" name="TextBox 30"/>
          <p:cNvSpPr txBox="1"/>
          <p:nvPr/>
        </p:nvSpPr>
        <p:spPr>
          <a:xfrm>
            <a:off x="841248" y="5440680"/>
            <a:ext cx="365760" cy="219456"/>
          </a:xfrm>
          <a:prstGeom prst="rect">
            <a:avLst/>
          </a:prstGeom>
          <a:noFill/>
        </p:spPr>
        <p:txBody>
          <a:bodyPr wrap="square" lIns="0" rIns="0" tIns="0" bIns="0" anchor="t">
            <a:spAutoFit/>
          </a:bodyPr>
          <a:lstStyle/>
          <a:p>
            <a:pPr algn="l">
              <a:lnSpc>
                <a:spcPct val="100000"/>
              </a:lnSpc>
            </a:pPr>
            <a:r>
              <a:rPr sz="900" b="0" i="0">
                <a:solidFill>
                  <a:srgbClr val="00696B"/>
                </a:solidFill>
                <a:latin typeface="Aptos Display"/>
              </a:rPr>
              <a:t>[9]</a:t>
            </a:r>
          </a:p>
        </p:txBody>
      </p:sp>
      <p:sp>
        <p:nvSpPr>
          <p:cNvPr id="32" name="TextBox 31"/>
          <p:cNvSpPr txBox="1"/>
          <p:nvPr/>
        </p:nvSpPr>
        <p:spPr>
          <a:xfrm>
            <a:off x="1225296" y="5431536"/>
            <a:ext cx="9326880" cy="237744"/>
          </a:xfrm>
          <a:prstGeom prst="rect">
            <a:avLst/>
          </a:prstGeom>
          <a:noFill/>
        </p:spPr>
        <p:txBody>
          <a:bodyPr wrap="square" lIns="0" rIns="0" tIns="0" bIns="0" anchor="t">
            <a:spAutoFit/>
          </a:bodyPr>
          <a:lstStyle/>
          <a:p>
            <a:pPr algn="l">
              <a:lnSpc>
                <a:spcPct val="105000"/>
              </a:lnSpc>
            </a:pPr>
            <a:r>
              <a:rPr sz="950" b="0" i="0">
                <a:solidFill>
                  <a:srgbClr val="262626"/>
                </a:solidFill>
                <a:latin typeface="Aptos"/>
              </a:rPr>
              <a:t>M. Raghu, C. Zhang, J. Kleinberg and S. Bengio. Transfusion: Understanding Transfer Learning for Medical Imaging. </a:t>
            </a:r>
            <a:r>
              <a:rPr sz="950" b="0" i="1">
                <a:solidFill>
                  <a:srgbClr val="595959"/>
                </a:solidFill>
                <a:latin typeface="Aptos"/>
              </a:rPr>
              <a:t>NeurIPS, 2019.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1248" y="1737360"/>
            <a:ext cx="10509473" cy="274320"/>
          </a:xfrm>
          <a:prstGeom prst="rect">
            <a:avLst/>
          </a:prstGeom>
          <a:noFill/>
        </p:spPr>
        <p:txBody>
          <a:bodyPr wrap="square" lIns="0" rIns="0" tIns="0" bIns="0" anchor="ctr">
            <a:spAutoFit/>
          </a:bodyPr>
          <a:lstStyle/>
          <a:p>
            <a:pPr algn="l">
              <a:lnSpc>
                <a:spcPct val="100000"/>
              </a:lnSpc>
            </a:pPr>
            <a:r>
              <a:rPr sz="1100" b="0" i="0" spc="200">
                <a:solidFill>
                  <a:srgbClr val="00696B"/>
                </a:solidFill>
                <a:latin typeface="Aptos"/>
              </a:rPr>
              <a:t>QUESTIONS</a:t>
            </a:r>
          </a:p>
        </p:txBody>
      </p:sp>
      <p:sp>
        <p:nvSpPr>
          <p:cNvPr id="3" name="TextBox 2"/>
          <p:cNvSpPr txBox="1"/>
          <p:nvPr/>
        </p:nvSpPr>
        <p:spPr>
          <a:xfrm>
            <a:off x="841248" y="2103120"/>
            <a:ext cx="10509473" cy="914400"/>
          </a:xfrm>
          <a:prstGeom prst="rect">
            <a:avLst/>
          </a:prstGeom>
          <a:noFill/>
        </p:spPr>
        <p:txBody>
          <a:bodyPr wrap="square" lIns="0" rIns="0" tIns="0" bIns="0" anchor="t">
            <a:spAutoFit/>
          </a:bodyPr>
          <a:lstStyle/>
          <a:p>
            <a:pPr algn="l">
              <a:lnSpc>
                <a:spcPct val="100000"/>
              </a:lnSpc>
            </a:pPr>
            <a:r>
              <a:rPr sz="4400" b="1" i="0">
                <a:solidFill>
                  <a:srgbClr val="000000"/>
                </a:solidFill>
                <a:latin typeface="Aptos Display"/>
              </a:rPr>
              <a:t>Thank you</a:t>
            </a:r>
          </a:p>
        </p:txBody>
      </p:sp>
      <p:cxnSp>
        <p:nvCxnSpPr>
          <p:cNvPr id="4" name="Connector 3"/>
          <p:cNvCxnSpPr/>
          <p:nvPr/>
        </p:nvCxnSpPr>
        <p:spPr>
          <a:xfrm>
            <a:off x="841248" y="3200400"/>
            <a:ext cx="10509473" cy="0"/>
          </a:xfrm>
          <a:prstGeom prst="line">
            <a:avLst/>
          </a:prstGeom>
          <a:ln w="15875">
            <a:solidFill>
              <a:srgbClr val="0000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41248" y="3383280"/>
            <a:ext cx="8407578" cy="731520"/>
          </a:xfrm>
          <a:prstGeom prst="rect">
            <a:avLst/>
          </a:prstGeom>
          <a:noFill/>
        </p:spPr>
        <p:txBody>
          <a:bodyPr wrap="square" lIns="0" rIns="0" tIns="0" bIns="0" anchor="t">
            <a:spAutoFit/>
          </a:bodyPr>
          <a:lstStyle/>
          <a:p>
            <a:pPr algn="l">
              <a:lnSpc>
                <a:spcPct val="120000"/>
              </a:lnSpc>
            </a:pPr>
            <a:r>
              <a:rPr sz="1700" b="0" i="1">
                <a:solidFill>
                  <a:srgbClr val="000000"/>
                </a:solidFill>
                <a:latin typeface="Aptos Display"/>
              </a:rPr>
              <a:t>Capacity-matched, pretrained features are worth 26.7 accuracy points. The control that establishes it is a model nobody would ever deploy.</a:t>
            </a:r>
          </a:p>
        </p:txBody>
      </p:sp>
      <p:sp>
        <p:nvSpPr>
          <p:cNvPr id="6" name="TextBox 5"/>
          <p:cNvSpPr txBox="1"/>
          <p:nvPr/>
        </p:nvSpPr>
        <p:spPr>
          <a:xfrm>
            <a:off x="841248" y="4572000"/>
            <a:ext cx="3228837" cy="201168"/>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PRESENTER</a:t>
            </a:r>
          </a:p>
        </p:txBody>
      </p:sp>
      <p:sp>
        <p:nvSpPr>
          <p:cNvPr id="7" name="TextBox 6"/>
          <p:cNvSpPr txBox="1"/>
          <p:nvPr/>
        </p:nvSpPr>
        <p:spPr>
          <a:xfrm>
            <a:off x="841248" y="4791456"/>
            <a:ext cx="3228837" cy="274320"/>
          </a:xfrm>
          <a:prstGeom prst="rect">
            <a:avLst/>
          </a:prstGeom>
          <a:noFill/>
        </p:spPr>
        <p:txBody>
          <a:bodyPr wrap="square" lIns="0" rIns="0" tIns="0" bIns="0" anchor="ctr">
            <a:spAutoFit/>
          </a:bodyPr>
          <a:lstStyle/>
          <a:p>
            <a:pPr algn="l">
              <a:lnSpc>
                <a:spcPct val="100000"/>
              </a:lnSpc>
            </a:pPr>
            <a:r>
              <a:rPr sz="1200" b="0" i="0">
                <a:solidFill>
                  <a:srgbClr val="262626"/>
                </a:solidFill>
                <a:latin typeface="Aptos"/>
              </a:rPr>
              <a:t>Shriman Raghav Srinivasan</a:t>
            </a:r>
          </a:p>
        </p:txBody>
      </p:sp>
      <p:sp>
        <p:nvSpPr>
          <p:cNvPr id="8" name="TextBox 7"/>
          <p:cNvSpPr txBox="1"/>
          <p:nvPr/>
        </p:nvSpPr>
        <p:spPr>
          <a:xfrm>
            <a:off x="4344405" y="4572000"/>
            <a:ext cx="3228837" cy="201168"/>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COURSE</a:t>
            </a:r>
          </a:p>
        </p:txBody>
      </p:sp>
      <p:sp>
        <p:nvSpPr>
          <p:cNvPr id="9" name="TextBox 8"/>
          <p:cNvSpPr txBox="1"/>
          <p:nvPr/>
        </p:nvSpPr>
        <p:spPr>
          <a:xfrm>
            <a:off x="4344405" y="4791456"/>
            <a:ext cx="3228837" cy="274320"/>
          </a:xfrm>
          <a:prstGeom prst="rect">
            <a:avLst/>
          </a:prstGeom>
          <a:noFill/>
        </p:spPr>
        <p:txBody>
          <a:bodyPr wrap="square" lIns="0" rIns="0" tIns="0" bIns="0" anchor="ctr">
            <a:spAutoFit/>
          </a:bodyPr>
          <a:lstStyle/>
          <a:p>
            <a:pPr algn="l">
              <a:lnSpc>
                <a:spcPct val="100000"/>
              </a:lnSpc>
            </a:pPr>
            <a:r>
              <a:rPr sz="1200" b="0" i="0">
                <a:solidFill>
                  <a:srgbClr val="262626"/>
                </a:solidFill>
                <a:latin typeface="Aptos"/>
              </a:rPr>
              <a:t>CS 5330  ·  Prof. Bruce Maxwell</a:t>
            </a:r>
          </a:p>
        </p:txBody>
      </p:sp>
      <p:sp>
        <p:nvSpPr>
          <p:cNvPr id="10" name="TextBox 9"/>
          <p:cNvSpPr txBox="1"/>
          <p:nvPr/>
        </p:nvSpPr>
        <p:spPr>
          <a:xfrm>
            <a:off x="7847563" y="4572000"/>
            <a:ext cx="3228837" cy="201168"/>
          </a:xfrm>
          <a:prstGeom prst="rect">
            <a:avLst/>
          </a:prstGeom>
          <a:noFill/>
        </p:spPr>
        <p:txBody>
          <a:bodyPr wrap="square" lIns="0" rIns="0" tIns="0" bIns="0" anchor="ctr">
            <a:spAutoFit/>
          </a:bodyPr>
          <a:lstStyle/>
          <a:p>
            <a:pPr algn="l">
              <a:lnSpc>
                <a:spcPct val="100000"/>
              </a:lnSpc>
            </a:pPr>
            <a:r>
              <a:rPr sz="850" b="0" i="0" spc="130">
                <a:solidFill>
                  <a:srgbClr val="8C8C8C"/>
                </a:solidFill>
                <a:latin typeface="Aptos"/>
              </a:rPr>
              <a:t>INSTITUTION</a:t>
            </a:r>
          </a:p>
        </p:txBody>
      </p:sp>
      <p:sp>
        <p:nvSpPr>
          <p:cNvPr id="11" name="TextBox 10"/>
          <p:cNvSpPr txBox="1"/>
          <p:nvPr/>
        </p:nvSpPr>
        <p:spPr>
          <a:xfrm>
            <a:off x="7847563" y="4791456"/>
            <a:ext cx="3228837" cy="274320"/>
          </a:xfrm>
          <a:prstGeom prst="rect">
            <a:avLst/>
          </a:prstGeom>
          <a:noFill/>
        </p:spPr>
        <p:txBody>
          <a:bodyPr wrap="square" lIns="0" rIns="0" tIns="0" bIns="0" anchor="ctr">
            <a:spAutoFit/>
          </a:bodyPr>
          <a:lstStyle/>
          <a:p>
            <a:pPr algn="l">
              <a:lnSpc>
                <a:spcPct val="100000"/>
              </a:lnSpc>
            </a:pPr>
            <a:r>
              <a:rPr sz="1200" b="0" i="0">
                <a:solidFill>
                  <a:srgbClr val="262626"/>
                </a:solidFill>
                <a:latin typeface="Aptos"/>
              </a:rPr>
              <a:t>Khoury College, Northeastern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otalTime>0</TotalTime>
  <Words>20</Words>
  <Application>Microsoft Macintosh PowerPoint</Application>
  <PresentationFormat>Widescreen</PresentationFormat>
  <Paragraphs>5</Paragraphs>
  <Slides>3</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vt:i4>
      </vt:variant>
    </vt:vector>
  </HeadingPairs>
  <TitlesOfParts>
    <vt:vector size="10" baseType="lpstr">
      <vt:lpstr>Aptos</vt:lpstr>
      <vt:lpstr>Aptos Display</vt:lpstr>
      <vt:lpstr>Arial</vt:lpstr>
      <vt:lpstr>Calibri</vt:lpstr>
      <vt:lpstr>Cambria</vt:lpstr>
      <vt:lpstr>Office Theme</vt:lpstr>
      <vt:lpstr>1_Office Theme</vt:lpstr>
      <vt:lpstr>NeuFlow v3: Queryable optical flow with calibrated uncertainty</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Adarsh Salagame</dc:creator>
  <cp:lastModifiedBy>Shriman Raghav Srinivasan</cp:lastModifiedBy>
  <cp:revision>527</cp:revision>
  <dcterms:created xsi:type="dcterms:W3CDTF">2025-04-09T17:55:39Z</dcterms:created>
  <dcterms:modified xsi:type="dcterms:W3CDTF">2026-08-09T05:26:16Z</dcterms:modified>
</cp:coreProperties>
</file>