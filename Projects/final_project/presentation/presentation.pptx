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280160"/>
            <a:ext cx="9418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F46E5"/>
                </a:solidFill>
                <a:latin typeface="Calibri"/>
              </a:defRPr>
            </a:pPr>
            <a:r>
              <a:t>CS 5330  ·  PATTERN RECOGNITION &amp; COMPUTER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0F172A"/>
                </a:solidFill>
                <a:latin typeface="Calibri"/>
              </a:defRPr>
            </a:pPr>
            <a:r>
              <a:t>Transfer Learning vs.</a:t>
            </a:r>
            <a:br/>
            <a:r>
              <a:t>Training from Scratch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23560" y="3291840"/>
            <a:ext cx="914400" cy="381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356616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475569"/>
                </a:solidFill>
                <a:latin typeface="Calibri"/>
              </a:defRPr>
            </a:pPr>
            <a:r>
              <a:t>A Capacity-Matched Empirical Study Using ResNet-18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57200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Shrirag Trolihal Santhosh</a:t>
            </a:r>
            <a:br/>
            <a:r>
              <a:t>Northeastern University  ·  Khoury College of Computer Sciences  ·  Summer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F46E5"/>
                </a:solidFill>
                <a:latin typeface="Calibri"/>
              </a:defRPr>
            </a:pPr>
            <a: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548640" cy="381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Calibri"/>
              </a:defRPr>
            </a:pPr>
            <a:r>
              <a:t>Does transfer learning outperform training from scratch because of better features, or simply because it has more trainable parameters?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75569"/>
                </a:solidFill>
                <a:latin typeface="Calibri"/>
              </a:defRPr>
            </a:pPr>
            <a:r>
              <a:t>Standard comparisons confound two factors: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Quality of pretrained representations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Reduced trainable capacity from layer freezing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800" b="0">
                <a:solidFill>
                  <a:srgbClr val="475569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spcAft>
                <a:spcPts val="2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We design a three-condition experiment to isolate each factor independently.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303520" cy="1097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50800" cy="10972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Pretrained-Frozen (PT-F)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87451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ImageNet weights · Early layers frozen · Only layer4 + fc trained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743200"/>
            <a:ext cx="5303520" cy="1097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2743200"/>
            <a:ext cx="50800" cy="10972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8346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Random-Frozen (R-F)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154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Random weights · Early layers frozen · Same capacity as PT-F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23360"/>
            <a:ext cx="5303520" cy="1097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4023360"/>
            <a:ext cx="50800" cy="1097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1148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Random-Full (R-FL)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434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Random weights · All layers trainable · Full-scratch baseline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F46E5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Intel Image Classification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548640" cy="381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28016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F46E5"/>
                </a:solidFill>
                <a:latin typeface="Calibri"/>
              </a:defRPr>
            </a:pPr>
            <a:r>
              <a:t>14,034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94A3B8"/>
                </a:solidFill>
                <a:latin typeface="Calibri"/>
              </a:defRPr>
            </a:pPr>
            <a:r>
              <a:t>Train Images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1463040"/>
            <a:ext cx="128016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0" y="1508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F46E5"/>
                </a:solidFill>
                <a:latin typeface="Calibri"/>
              </a:defRPr>
            </a:pPr>
            <a:r>
              <a:t>3,000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18745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94A3B8"/>
                </a:solidFill>
                <a:latin typeface="Calibri"/>
              </a:defRPr>
            </a:pPr>
            <a:r>
              <a:t>Test Images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463040"/>
            <a:ext cx="128016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508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F46E5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8745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94A3B8"/>
                </a:solidFill>
                <a:latin typeface="Calibri"/>
              </a:defRPr>
            </a:pPr>
            <a:r>
              <a:t>Classes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60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Calibri"/>
              </a:defRPr>
            </a:pPr>
            <a:r>
              <a:t>Classes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8346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Calibri"/>
              </a:defRPr>
            </a:pPr>
            <a:r>
              <a:t>Buildings · Forest · Glacier · Mountain · Sea · Street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91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Calibri"/>
              </a:defRPr>
            </a:pPr>
            <a:r>
              <a:t>Preprocessing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6616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Resize shorter side → 224 px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Center crop to 224 × 224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ImageNet mean/std normalization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Stratified 90/10 train-val split</a:t>
            </a:r>
          </a:p>
        </p:txBody>
      </p:sp>
      <p:pic>
        <p:nvPicPr>
          <p:cNvPr id="18" name="Picture 17" descr="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583680" cy="229051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F46E5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ResNet-18 Layer Partitioning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548640" cy="381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280160" cy="8229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conv1</a:t>
            </a:r>
            <a:br/>
            <a:r>
              <a:t>bn1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1554480"/>
            <a:ext cx="914400" cy="8229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layer1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554480"/>
            <a:ext cx="914400" cy="8229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layer2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554480"/>
            <a:ext cx="914400" cy="8229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layer3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554480"/>
            <a:ext cx="1097280" cy="82296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layer4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1554480"/>
            <a:ext cx="822960" cy="82296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avgpool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1554480"/>
            <a:ext cx="914400" cy="82296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fc (6)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7373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17373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7373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17373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7373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7373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■ Frozen θf — 2,782,784 params          ■ Trainable θt — 8,396,806 params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17520"/>
            <a:ext cx="10881360" cy="640080"/>
          </a:xfrm>
          <a:prstGeom prst="round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017520"/>
            <a:ext cx="38100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10896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Calibri"/>
              </a:defRPr>
            </a:pPr>
            <a:r>
              <a:t>BN Handling: All Batch Normalization layers in θf are locked in eval() mode during training to prevent running statistics from drifting.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40080" y="4023360"/>
          <a:ext cx="6400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94560"/>
                <a:gridCol w="219456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Comparison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Controls for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Isolates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PT-F  vs  R-F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Same trainable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Feature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R-F  vs  R-FL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Same initialization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Model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PT-F  vs  R-FL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Overall: transfer vs scratch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F46E5"/>
                </a:solidFill>
                <a:latin typeface="Calibri"/>
              </a:defRPr>
            </a:pPr>
            <a:r>
              <a:t>EXPERIMENTS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Experimental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548640" cy="381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6032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SGD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Learning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1 × 10⁻³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Momentum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0.9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Weight Decay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1 × 10⁻⁴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Patience = 5 (val loss)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Seeds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42, 100, 2026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Hardware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NVIDIA RTX 4060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0" y="1371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Calibri"/>
              </a:defRPr>
            </a:pPr>
            <a:r>
              <a:t>Pipeline Overview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737360"/>
            <a:ext cx="5943600" cy="411480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t>Intel Dataset (14,034 images)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1031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2377439"/>
            <a:ext cx="5943600" cy="411480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t>Resize → Center Crop → Normalize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7431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3017520"/>
            <a:ext cx="5943600" cy="411480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t>Stratified 90/10 Split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840479"/>
            <a:ext cx="1828800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PT-F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53528" y="3840479"/>
            <a:ext cx="1828800" cy="36576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R-F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37776" y="3840479"/>
            <a:ext cx="1828800" cy="36576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R-FL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4297679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↓  × 3 seeds each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571999"/>
            <a:ext cx="5943600" cy="411480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t>SGD + Early Stopping → Best Checkpoint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93775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5212079"/>
            <a:ext cx="5943600" cy="411480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t>Test Evaluation (3,000 images)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F46E5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Test Accuracy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548640" cy="381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1097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4F46E5"/>
                </a:solidFill>
                <a:latin typeface="Calibri"/>
              </a:defRPr>
            </a:pPr>
            <a:r>
              <a:t>93.3%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4A3B8"/>
                </a:solidFill>
                <a:latin typeface="Calibri"/>
              </a:defRPr>
            </a:pPr>
            <a:r>
              <a:t>Pretrained-Frozen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194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±0.23%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1874520"/>
            <a:ext cx="1828800" cy="274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0" y="1874520"/>
            <a:ext cx="1706270" cy="2743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926080"/>
            <a:ext cx="5029200" cy="1097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175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59669"/>
                </a:solidFill>
                <a:latin typeface="Calibri"/>
              </a:defRPr>
            </a:pPr>
            <a:r>
              <a:t>84.7%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4A3B8"/>
                </a:solidFill>
                <a:latin typeface="Calibri"/>
              </a:defRPr>
            </a:pPr>
            <a:r>
              <a:t>Random-Full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566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±1.87%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3246120"/>
            <a:ext cx="1828800" cy="274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0" y="3246120"/>
            <a:ext cx="1548993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4297680"/>
            <a:ext cx="5029200" cy="1097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89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D97706"/>
                </a:solidFill>
                <a:latin typeface="Calibri"/>
              </a:defRPr>
            </a:pPr>
            <a:r>
              <a:t>66.5%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37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4A3B8"/>
                </a:solidFill>
                <a:latin typeface="Calibri"/>
              </a:defRPr>
            </a:pPr>
            <a:r>
              <a:t>Random-Frozen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937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±4.04%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4617720"/>
            <a:ext cx="1828800" cy="274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0" y="4617720"/>
            <a:ext cx="1216152" cy="2743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486400" cy="340910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F46E5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Training Dynamics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548640" cy="381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10881360" cy="366722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5120640"/>
            <a:ext cx="3474720" cy="731520"/>
          </a:xfrm>
          <a:prstGeom prst="round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5120640"/>
            <a:ext cx="38100" cy="7315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166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F172A"/>
                </a:solidFill>
                <a:latin typeface="Calibri"/>
              </a:defRPr>
            </a:pPr>
            <a:r>
              <a:t>PT-F: Starts high, converges in ~3 epochs.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5120640"/>
            <a:ext cx="3474720" cy="731520"/>
          </a:xfrm>
          <a:prstGeom prst="round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5120640"/>
            <a:ext cx="38100" cy="7315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5166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F172A"/>
                </a:solidFill>
                <a:latin typeface="Calibri"/>
              </a:defRPr>
            </a:pPr>
            <a:r>
              <a:t>R-F: Stagnates — random frozen features bottleneck.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5120640"/>
            <a:ext cx="3474720" cy="731520"/>
          </a:xfrm>
          <a:prstGeom prst="round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59" y="5120640"/>
            <a:ext cx="38100" cy="7315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19" y="5166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F172A"/>
                </a:solidFill>
                <a:latin typeface="Calibri"/>
              </a:defRPr>
            </a:pPr>
            <a:r>
              <a:t>R-FL: Steady climb over 12+ epochs. Needs 2× time.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F46E5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Convergence Speed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548640" cy="381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858000" cy="2720801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589520" y="1645920"/>
          <a:ext cx="4114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8700"/>
                <a:gridCol w="1028700"/>
                <a:gridCol w="1028700"/>
                <a:gridCol w="102870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Condition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Epochs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Time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Best Val Acc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PT-F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1.7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93.8%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R-F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8.7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1.9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67.8%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R-FL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15.0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7.1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75569"/>
                          </a:solidFill>
                          <a:latin typeface="Calibri"/>
                        </a:defRPr>
                      </a:pPr>
                      <a:r>
                        <a:t>86.3%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9520" y="3657600"/>
            <a:ext cx="4114800" cy="640080"/>
          </a:xfrm>
          <a:prstGeom prst="round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0" y="3657600"/>
            <a:ext cx="38100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3749039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Calibri"/>
              </a:defRPr>
            </a:pPr>
            <a:r>
              <a:t>Transfer learning achieves higher accuracy in 4× less time than training from scratch.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F46E5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Confusion Matrices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548640" cy="381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33494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5303520"/>
            <a:ext cx="5303520" cy="640080"/>
          </a:xfrm>
          <a:prstGeom prst="round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5303520"/>
            <a:ext cx="38100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3492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F172A"/>
                </a:solidFill>
                <a:latin typeface="Calibri"/>
              </a:defRPr>
            </a:pPr>
            <a:r>
              <a:t>Primary confusions: Glacier ↔ Mountain and Buildings ↔ Street across all conditions.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5303520"/>
            <a:ext cx="5394960" cy="640080"/>
          </a:xfrm>
          <a:prstGeom prst="round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5303520"/>
            <a:ext cx="3810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F172A"/>
                </a:solidFill>
                <a:latin typeface="Calibri"/>
              </a:defRPr>
            </a:pPr>
            <a:r>
              <a:t>PT-F dramatically reduces off-diagonal errors even for visually similar classes.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F46E5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Per-Class F1 Scores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548640" cy="381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30077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645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Calibri"/>
              </a:defRPr>
            </a:pPr>
            <a:r>
              <a:t>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2103120"/>
            <a:ext cx="3840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Forest has the highest F1 across all conditions — strong texture cues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Glacier and Mountain show lowest F1 — visually similar terrain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PT-F achieves &gt;90% F1 on 5/6 classes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475569"/>
                </a:solidFill>
                <a:latin typeface="Calibri"/>
              </a:defRPr>
            </a:pPr>
            <a:r>
              <a:t>•  R-F struggles most on Sea and Street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F46E5"/>
                </a:solidFill>
                <a:latin typeface="Calibri"/>
              </a:defRPr>
            </a:pPr>
            <a:r>
              <a:t>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548640" cy="381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3474720" cy="3108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0800" cy="31089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1. Feature Quality Dominates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PT-F vs R-F (same capacity)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4F46E5"/>
                </a:solidFill>
                <a:latin typeface="Calibri"/>
              </a:defRPr>
            </a:pPr>
            <a:r>
              <a:t>+26.7%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Pretrained features provide rich, transferable representations. Random frozen features are noise-like.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463040"/>
            <a:ext cx="3474720" cy="3108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463040"/>
            <a:ext cx="50800" cy="3108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5544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2. Capacity Helps, But Less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874519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R-F vs R-FL (same init)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240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59669"/>
                </a:solidFill>
                <a:latin typeface="Calibri"/>
              </a:defRPr>
            </a:pPr>
            <a:r>
              <a:t>+18.2%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346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Unlocking all parameters helps, but needs 2× longer and falls 8.6% short of PT-F.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63040"/>
            <a:ext cx="3474720" cy="3108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59" y="1463040"/>
            <a:ext cx="50800" cy="31089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9" y="15544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3. Transfer Wins Overall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39" y="1874519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PT-F vs R-FL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39" y="2240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7C3AED"/>
                </a:solidFill>
                <a:latin typeface="Calibri"/>
              </a:defRPr>
            </a:pPr>
            <a:r>
              <a:t>+8.6% · 4× faster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39" y="28346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Pretrained features &gt; more parameters, especially under limited data and compute.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846320"/>
            <a:ext cx="10881360" cy="640080"/>
          </a:xfrm>
          <a:prstGeom prst="round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846320"/>
            <a:ext cx="38100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92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Conclusion: The performance gap is driven primarily by feature quality, not model capacity. Our capacity-matched control (R-F) proves this rigorously.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F46E5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548640" cy="381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881360" cy="731520"/>
          </a:xfrm>
          <a:prstGeom prst="round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38100" cy="7315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0876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Calibri"/>
              </a:defRPr>
            </a:pPr>
            <a:r>
              <a:t>Pretrained feature quality — not model capacity — is the primary driver of transfer learning's superiority in scene classification under limited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Calibri"/>
              </a:defRPr>
            </a:pPr>
            <a:r>
              <a:t>Future Directions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530352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Vary the partition 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290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Freeze only layer1-2 instead of layer1-3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3017520"/>
            <a:ext cx="530352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1089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Extend to larger backbones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4290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ResNet-50, Vision Transformer (ViT)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06240"/>
            <a:ext cx="530352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976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Progressive unfreezing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617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Gradually unlock layers with learning rate warmup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206240"/>
            <a:ext cx="530352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2976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Data augmentation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617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Apply augmentations to narrow the scratch training gap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Shrirag Trolihal Santhosh  ·  Northeastern University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