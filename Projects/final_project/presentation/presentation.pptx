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CS 5330 — Computer Vision — Final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8813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800" b="1">
                <a:solidFill>
                  <a:srgbClr val="0F172A"/>
                </a:solidFill>
                <a:latin typeface="Georgia"/>
              </a:defRPr>
            </a:pPr>
            <a:r>
              <a:t>Key Insights on Transfer Learning</a:t>
            </a:r>
            <a:br/>
            <a:r>
              <a:t>vs. Training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931920"/>
            <a:ext cx="2560320" cy="381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0">
                <a:solidFill>
                  <a:srgbClr val="334155"/>
                </a:solidFill>
                <a:latin typeface="Calibri"/>
              </a:defRPr>
            </a:pPr>
            <a:r>
              <a:t>A Capacity-Matched Empirical Evaluation using ResNet-18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Shriman Raghav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01    </a:t>
            </a:r>
            <a:r>
              <a:rPr sz="2400" b="1">
                <a:solidFill>
                  <a:srgbClr val="0F172A"/>
                </a:solidFill>
                <a:latin typeface="Georgia"/>
              </a:rPr>
              <a:t>Where this sits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You already have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Transfer learning advantage.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It consistently outperforms scratch training, but naively comparing a partially frozen model to a full model changes two variables at once.</a:t>
            </a:r>
          </a:p>
          <a:p>
            <a:pPr>
              <a:spcBef>
                <a:spcPts val="1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Trainable capacity confound.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Does the improvement stem from the high quality of pretrained weights, or is it due to having a restricted subset of parameters to optimize?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The question for today</a:t>
            </a:r>
          </a:p>
          <a:p>
            <a:pPr>
              <a:spcBef>
                <a:spcPts val="800"/>
              </a:spcBef>
              <a:defRPr sz="1600" b="1" i="1">
                <a:solidFill>
                  <a:srgbClr val="991B1B"/>
                </a:solidFill>
              </a:defRPr>
            </a:pPr>
            <a:r>
              <a:t>How do we isolate pretrained feature quality?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1    </a:t>
            </a:r>
            <a:r>
              <a:rPr sz="1400" b="1">
                <a:solidFill>
                  <a:srgbClr val="0F172A"/>
                </a:solidFill>
                <a:latin typeface="Calibri"/>
              </a:rPr>
              <a:t>Pretrained-Frozen (PT-F)</a:t>
            </a:r>
            <a:r>
              <a:rPr sz="1300">
                <a:solidFill>
                  <a:srgbClr val="334155"/>
                </a:solidFill>
                <a:latin typeface="Calibri"/>
              </a:rPr>
              <a:t> — Early layers frozen with ImageNet weights. Only layer4 + fc learn.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2    </a:t>
            </a:r>
            <a:r>
              <a:rPr sz="1400" b="1">
                <a:solidFill>
                  <a:srgbClr val="0F172A"/>
                </a:solidFill>
                <a:latin typeface="Calibri"/>
              </a:rPr>
              <a:t>Random-Frozen (R-F)</a:t>
            </a:r>
            <a:r>
              <a:rPr sz="1300">
                <a:solidFill>
                  <a:srgbClr val="334155"/>
                </a:solidFill>
                <a:latin typeface="Calibri"/>
              </a:rPr>
              <a:t> — Early layers frozen with random weights. Identical capacity to PT-F.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3    </a:t>
            </a:r>
            <a:r>
              <a:rPr sz="1400" b="1">
                <a:solidFill>
                  <a:srgbClr val="0F172A"/>
                </a:solidFill>
                <a:latin typeface="Calibri"/>
              </a:rPr>
              <a:t>Random-Full (R-FL)</a:t>
            </a:r>
            <a:r>
              <a:rPr sz="1300">
                <a:solidFill>
                  <a:srgbClr val="334155"/>
                </a:solidFill>
                <a:latin typeface="Calibri"/>
              </a:rPr>
              <a:t> — All layers trainable from random init. Standard scratch training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02    </a:t>
            </a:r>
            <a:r>
              <a:rPr sz="2400" b="1">
                <a:solidFill>
                  <a:srgbClr val="0F172A"/>
                </a:solidFill>
                <a:latin typeface="Georgia"/>
              </a:rPr>
              <a:t>Dataset &amp; Partitioning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The dataset as a unit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Intel Image Classification dataset.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6 scene categories: buildings, forest, glacier, mountain, sea, and street.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Standard splits.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14,034 training images (carved into 90% train, 10% stratified val) and 3,000 held-out test images.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Identical preprocessing.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Images are resized to 224px, center cropped to 224×224, and normalized using ImageNet channel mean and std.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Network partitioning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1    </a:t>
            </a:r>
            <a:r>
              <a:rPr sz="1400" b="1">
                <a:solidFill>
                  <a:srgbClr val="0F172A"/>
                </a:solidFill>
                <a:latin typeface="Calibri"/>
              </a:rPr>
              <a:t>Frozen Subset (θf)</a:t>
            </a:r>
            <a:r>
              <a:rPr sz="1300">
                <a:solidFill>
                  <a:srgbClr val="334155"/>
                </a:solidFill>
                <a:latin typeface="Calibri"/>
              </a:rPr>
              <a:t> — conv1, bn1, layer1, layer2, layer3 (2.78M params).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2    </a:t>
            </a:r>
            <a:r>
              <a:rPr sz="1400" b="1">
                <a:solidFill>
                  <a:srgbClr val="0F172A"/>
                </a:solidFill>
                <a:latin typeface="Calibri"/>
              </a:rPr>
              <a:t>Trainable Subset (θt)</a:t>
            </a:r>
            <a:r>
              <a:rPr sz="1300">
                <a:solidFill>
                  <a:srgbClr val="334155"/>
                </a:solidFill>
                <a:latin typeface="Calibri"/>
              </a:rPr>
              <a:t> — layer4 and classification head fc (8.40M params).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3    </a:t>
            </a:r>
            <a:r>
              <a:rPr sz="1400" b="1">
                <a:solidFill>
                  <a:srgbClr val="0F172A"/>
                </a:solidFill>
                <a:latin typeface="Calibri"/>
              </a:rPr>
              <a:t>Batch Normalization handling</a:t>
            </a:r>
            <a:r>
              <a:rPr sz="1300">
                <a:solidFill>
                  <a:srgbClr val="334155"/>
                </a:solidFill>
                <a:latin typeface="Calibri"/>
              </a:rPr>
              <a:t> — BN layers in θf are explicitly locked in eval() mode. Crucial to prevent statistics drift when weights are frozen.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03    </a:t>
            </a:r>
            <a:r>
              <a:rPr sz="2400" b="1">
                <a:solidFill>
                  <a:srgbClr val="0F172A"/>
                </a:solidFill>
                <a:latin typeface="Georgia"/>
              </a:rPr>
              <a:t>Test Accuracy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Performance summary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Pretrained-Frozen (PT-F) is the clear winner.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Achieves a mean test accuracy of 93.27% ± 0.23% across all random seeds.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Random-Full (R-FL) scratch baseline.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Achieves a mean test accuracy of 84.69% ± 1.87% when all layers are trained.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Random-Frozen (R-F) capacity control.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Achieves only 66.54% ± 4.04%, stagnating early due to arbitrary frozen feature space.</a:t>
            </a:r>
          </a:p>
          <a:p>
            <a:pPr>
              <a:spcBef>
                <a:spcPts val="1400"/>
              </a:spcBef>
              <a:defRPr sz="1200" b="1">
                <a:solidFill>
                  <a:srgbClr val="991B1B"/>
                </a:solidFill>
              </a:defRPr>
            </a:pPr>
            <a:r>
              <a:t>Matched capacity gap: +26.73% accuracy purely due to pretrained weight quality (PT-F vs. R-F).</a:t>
            </a:r>
          </a:p>
        </p:txBody>
      </p:sp>
      <p:pic>
        <p:nvPicPr>
          <p:cNvPr id="5" name="Picture 4" descr="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303520" cy="32954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04    </a:t>
            </a:r>
            <a:r>
              <a:rPr sz="2400" b="1">
                <a:solidFill>
                  <a:srgbClr val="0F172A"/>
                </a:solidFill>
                <a:latin typeface="Georgia"/>
              </a:rPr>
              <a:t>Training Dynamics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217920" cy="20955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Convergence &amp; speed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Pretraining yields instant start.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PT-F begins above 90% validation accuracy at epoch 1 and converges rapidly (mean: 8.0 epochs / 1.7 minutes).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Scratch is slow and expensive.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R-FL requires a mean of 15.0 epochs / 7.1 minutes to converge — twice as many epochs and 4× more training time.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Random-frozen bottleneck.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R-F plateaus quickly (mean: 8.7 epochs / 1.9 minutes) because learning cannot progress beyond arbitrary linear layers.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05    </a:t>
            </a:r>
            <a:r>
              <a:rPr sz="2400" b="1">
                <a:solidFill>
                  <a:srgbClr val="0F172A"/>
                </a:solidFill>
                <a:latin typeface="Georgia"/>
              </a:rPr>
              <a:t>Confusion &amp; Class F1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217920" cy="1793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Per-class findings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Glacier vs. Mountain confusion.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Shared visual signatures (snow, rock textures) lead to major mutual confusion in all conditions.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Buildings vs. Street confusion.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Urban context overlap makes these classes prone to mutual misclassifications.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Distinct classes excel.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Forest consistently achieves the highest F1 score due to strong, uniform color and texture cues.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06    </a:t>
            </a:r>
            <a:r>
              <a:rPr sz="2400" b="1">
                <a:solidFill>
                  <a:srgbClr val="0F172A"/>
                </a:solidFill>
                <a:latin typeface="Georgia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Conclusions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Pretrained features drive transfer success.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The capacity control (R-F) confirms that restricting trainable parameter space is not what makes transfer learning succeed. Pretrained feature quality is the primary driver.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Resource efficiency.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Transfer learning yields +8.58% higher accuracy compared to training from scratch (R-FL) while converging in nearly 4× less compute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Future directions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1    </a:t>
            </a:r>
            <a:r>
              <a:rPr sz="1400" b="1">
                <a:solidFill>
                  <a:srgbClr val="0F172A"/>
                </a:solidFill>
                <a:latin typeface="Calibri"/>
              </a:rPr>
              <a:t>Vary frozen boundary</a:t>
            </a:r>
            <a:r>
              <a:rPr sz="1300">
                <a:solidFill>
                  <a:srgbClr val="334155"/>
                </a:solidFill>
                <a:latin typeface="Calibri"/>
              </a:rPr>
              <a:t> — Test fine-tuning with fewer or more frozen layers (e.g. freeze only layer1-2).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2    </a:t>
            </a:r>
            <a:r>
              <a:rPr sz="1400" b="1">
                <a:solidFill>
                  <a:srgbClr val="0F172A"/>
                </a:solidFill>
                <a:latin typeface="Calibri"/>
              </a:rPr>
              <a:t>Scale model scale</a:t>
            </a:r>
            <a:r>
              <a:rPr sz="1300">
                <a:solidFill>
                  <a:srgbClr val="334155"/>
                </a:solidFill>
                <a:latin typeface="Calibri"/>
              </a:rPr>
              <a:t> — Evaluate capacity-matched controls on deeper networks (ResNet-50) or ViT backbones.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3    </a:t>
            </a:r>
            <a:r>
              <a:rPr sz="1400" b="1">
                <a:solidFill>
                  <a:srgbClr val="0F172A"/>
                </a:solidFill>
                <a:latin typeface="Calibri"/>
              </a:rPr>
              <a:t>Progressive unfreezing</a:t>
            </a:r>
            <a:r>
              <a:rPr sz="1300">
                <a:solidFill>
                  <a:srgbClr val="334155"/>
                </a:solidFill>
                <a:latin typeface="Calibri"/>
              </a:rPr>
              <a:t> — Gradually unfreeze earlier layers with a smaller learning rate as training progresses.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4    </a:t>
            </a:r>
            <a:r>
              <a:rPr sz="1400" b="1">
                <a:solidFill>
                  <a:srgbClr val="0F172A"/>
                </a:solidFill>
                <a:latin typeface="Calibri"/>
              </a:rPr>
              <a:t>Data augmentation</a:t>
            </a:r>
            <a:r>
              <a:rPr sz="1300">
                <a:solidFill>
                  <a:srgbClr val="334155"/>
                </a:solidFill>
                <a:latin typeface="Calibri"/>
              </a:rPr>
              <a:t> — Investigate if heavy augmentations can close the scratch training accuracy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