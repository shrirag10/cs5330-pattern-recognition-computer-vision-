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991B1B"/>
                </a:solidFill>
                <a:latin typeface="Calibri"/>
              </a:rPr>
              <a:t>CS 5330 ·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4173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5000" b="1" i="0">
                <a:solidFill>
                  <a:srgbClr val="1E293B"/>
                </a:solidFill>
                <a:latin typeface="Georgia"/>
              </a:rPr>
              <a:t>Transfer Learning vs.</a:t>
            </a: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5000" b="1" i="0">
                <a:solidFill>
                  <a:srgbClr val="991B1B"/>
                </a:solidFill>
                <a:latin typeface="Georgia"/>
              </a:rPr>
              <a:t>Random Initialization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06324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900" b="0" i="1">
                <a:solidFill>
                  <a:srgbClr val="475569"/>
                </a:solidFill>
                <a:latin typeface="Georgia"/>
              </a:rPr>
              <a:t>“How much of transfer learning’s advantage is the pretrained features — and how much is just fewer knobs to turn?”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422452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F7ECEC"/>
          </a:solidFill>
          <a:ln w="1524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4402836"/>
            <a:ext cx="118872" cy="118872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4224528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Pretrained-Frozen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4224528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 w="1524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48456" y="4402836"/>
            <a:ext cx="118872" cy="1188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4224528"/>
            <a:ext cx="1691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475569"/>
                </a:solidFill>
                <a:latin typeface="Calibri"/>
              </a:rPr>
              <a:t>Random-Frozen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4224528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 w="1524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0176" y="4402836"/>
            <a:ext cx="118872" cy="1188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4224528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475569"/>
                </a:solidFill>
                <a:latin typeface="Calibri"/>
              </a:rPr>
              <a:t>Random-Full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74920"/>
            <a:ext cx="104241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PRESENTER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2297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1E293B"/>
                </a:solidFill>
                <a:latin typeface="Calibri"/>
              </a:rPr>
              <a:t>Shriman Raghav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5230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552297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1E293B"/>
                </a:solidFill>
                <a:latin typeface="Calibri"/>
              </a:rPr>
              <a:t>Intel Image Classification · 6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5230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BACKBONE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552297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1E293B"/>
                </a:solidFill>
                <a:latin typeface="Calibri"/>
              </a:rPr>
              <a:t>ResNet-18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Northeastern University · Khoury College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One comparison, two hidden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The usual move: take an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ImageNet-pretrained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network, freeze the early layers, fine-tune the rest.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It beats training from scratch — but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why?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Freezing changes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two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things at once: the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quality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of the frozen features and the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number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of trainable parameters.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A naive pretrained-vs-scratch test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confounds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them — you can’t tell which one earned the 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011680"/>
            <a:ext cx="4800600" cy="123444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270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223113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991B1B"/>
                </a:solidFill>
                <a:latin typeface="Calibri"/>
              </a:rPr>
              <a:t>FACTOR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52374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E293B"/>
                </a:solidFill>
                <a:latin typeface="Georgia"/>
              </a:rPr>
              <a:t>Feature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76148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7A3A3A"/>
                </a:solidFill>
                <a:latin typeface="Calibri"/>
              </a:rPr>
              <a:t>Pretrained weights encode edges, textures, shapes learned from a million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383280"/>
            <a:ext cx="480060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360273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991B1B"/>
                </a:solidFill>
                <a:latin typeface="Calibri"/>
              </a:rPr>
              <a:t>FACTOR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89534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E293B"/>
                </a:solidFill>
                <a:latin typeface="Georgia"/>
              </a:rPr>
              <a:t>Trainable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4133087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475569"/>
                </a:solidFill>
                <a:latin typeface="Calibri"/>
              </a:rPr>
              <a:t>Freezing early layers also shrinks how many parameters the optimizer can move.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800600"/>
            <a:ext cx="4800600" cy="731520"/>
          </a:xfrm>
          <a:prstGeom prst="roundRect">
            <a:avLst>
              <a:gd name="adj" fmla="val 5000"/>
            </a:avLst>
          </a:prstGeom>
          <a:solidFill>
            <a:srgbClr val="F7ECEC"/>
          </a:solidFill>
          <a:ln w="1270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4800600"/>
            <a:ext cx="64008" cy="73152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800600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50" b="1" i="0">
                <a:solidFill>
                  <a:srgbClr val="991B1B"/>
                </a:solidFill>
                <a:latin typeface="Calibri"/>
              </a:rPr>
              <a:t>Goal:  </a:t>
            </a:r>
            <a:r>
              <a:rPr sz="1450" b="0" i="0">
                <a:solidFill>
                  <a:srgbClr val="7A3A3A"/>
                </a:solidFill>
                <a:latin typeface="Calibri"/>
              </a:rPr>
              <a:t>a design that isolates Factor A from Factor 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Transfer Learning vs. Random 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Three conditions, one controlled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834640" y="2811779"/>
            <a:ext cx="2103120" cy="1143001"/>
          </a:xfrm>
          <a:prstGeom prst="line">
            <a:avLst/>
          </a:prstGeom>
          <a:ln w="2032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34640" y="3954780"/>
            <a:ext cx="2103120" cy="0"/>
          </a:xfrm>
          <a:prstGeom prst="line">
            <a:avLst/>
          </a:prstGeom>
          <a:ln w="2032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40" y="3954780"/>
            <a:ext cx="2103120" cy="1143000"/>
          </a:xfrm>
          <a:prstGeom prst="line">
            <a:avLst/>
          </a:prstGeom>
          <a:ln w="2032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8680" y="3337560"/>
            <a:ext cx="1965960" cy="123444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0215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ResNet-18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59352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0" i="0">
                <a:solidFill>
                  <a:srgbClr val="CBD5E1"/>
                </a:solidFill>
                <a:latin typeface="Calibri"/>
              </a:rPr>
              <a:t>split into early θf + late θt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31720"/>
            <a:ext cx="6035040" cy="960120"/>
          </a:xfrm>
          <a:prstGeom prst="roundRect">
            <a:avLst>
              <a:gd name="adj" fmla="val 9000"/>
            </a:avLst>
          </a:prstGeom>
          <a:solidFill>
            <a:srgbClr val="F7ECEC"/>
          </a:solidFill>
          <a:ln w="1905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49631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991B1B"/>
                </a:solidFill>
                <a:latin typeface="Georgia"/>
              </a:rPr>
              <a:t>Pretrained-Frozen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8036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7A3A3A"/>
                </a:solidFill>
                <a:latin typeface="Calibri"/>
              </a:rPr>
              <a:t>θf = ImageNet weights, frozen · train θt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474720"/>
            <a:ext cx="6035040" cy="960120"/>
          </a:xfrm>
          <a:prstGeom prst="roundRect">
            <a:avLst>
              <a:gd name="adj" fmla="val 9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63931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475569"/>
                </a:solidFill>
                <a:latin typeface="Georgia"/>
              </a:rPr>
              <a:t>Random-Frozen</a:t>
            </a:r>
            <a:r>
              <a:rPr sz="1100" b="1" i="0">
                <a:solidFill>
                  <a:srgbClr val="475569"/>
                </a:solidFill>
                <a:latin typeface="Calibri"/>
              </a:rPr>
              <a:t>   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023359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Calibri"/>
              </a:rPr>
              <a:t>θf = random weights, frozen · train θt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617720"/>
            <a:ext cx="6035040" cy="960120"/>
          </a:xfrm>
          <a:prstGeom prst="roundRect">
            <a:avLst>
              <a:gd name="adj" fmla="val 9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78231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334155"/>
                </a:solidFill>
                <a:latin typeface="Georgia"/>
              </a:rPr>
              <a:t>Random-Full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166359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Calibri"/>
              </a:rPr>
              <a:t>everything random · train all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742432"/>
            <a:ext cx="104698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704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1" i="0">
                <a:solidFill>
                  <a:srgbClr val="991B1B"/>
                </a:solidFill>
                <a:latin typeface="Calibri"/>
              </a:rPr>
              <a:t>PT-F </a:t>
            </a:r>
            <a:r>
              <a:rPr sz="1350" b="1" i="0">
                <a:solidFill>
                  <a:srgbClr val="475569"/>
                </a:solidFill>
                <a:latin typeface="Calibri"/>
              </a:rPr>
              <a:t>vs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R-F  →  isolates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feature quality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(capacity matched)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8704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1" i="0">
                <a:solidFill>
                  <a:srgbClr val="991B1B"/>
                </a:solidFill>
                <a:latin typeface="Calibri"/>
              </a:rPr>
              <a:t>R-F </a:t>
            </a:r>
            <a:r>
              <a:rPr sz="1350" b="1" i="0">
                <a:solidFill>
                  <a:srgbClr val="475569"/>
                </a:solidFill>
                <a:latin typeface="Calibri"/>
              </a:rPr>
              <a:t>vs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R-FL  →  isolates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trainable capacity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(both random)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Transfer Learning vs. Random Init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Where the network is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Freeze the generic early layers; train only the task-specific tail. PT-F and R-F share the </a:t>
            </a:r>
            <a:r>
              <a:rPr sz="1600" b="1" i="0">
                <a:solidFill>
                  <a:srgbClr val="1E293B"/>
                </a:solidFill>
                <a:latin typeface="Calibri"/>
              </a:rPr>
              <a:t>exact same</a:t>
            </a:r>
            <a:r>
              <a:rPr sz="1600" b="0" i="0">
                <a:solidFill>
                  <a:srgbClr val="64748B"/>
                </a:solidFill>
                <a:latin typeface="Calibri"/>
              </a:rPr>
              <a:t> trainable count — that’s what makes them a fair fight.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475569"/>
                </a:solidFill>
                <a:latin typeface="Georgia"/>
              </a:rPr>
              <a:t>conv1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4748B"/>
                </a:solidFill>
                <a:latin typeface="Calibri"/>
              </a:rPr>
              <a:t>+bn1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1176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1176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475569"/>
                </a:solidFill>
                <a:latin typeface="Georgia"/>
              </a:rPr>
              <a:t>layer1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475569"/>
                </a:solidFill>
                <a:latin typeface="Georgia"/>
              </a:rPr>
              <a:t>layer2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8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905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475569"/>
                </a:solidFill>
                <a:latin typeface="Georgia"/>
              </a:rPr>
              <a:t>layer3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35824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F7ECEC"/>
          </a:solidFill>
          <a:ln w="1905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991B1B"/>
                </a:solidFill>
                <a:latin typeface="Georgia"/>
              </a:rPr>
              <a:t>layer4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697480"/>
            <a:ext cx="1673352" cy="1051560"/>
          </a:xfrm>
          <a:prstGeom prst="roundRect">
            <a:avLst>
              <a:gd name="adj" fmla="val 8000"/>
            </a:avLst>
          </a:prstGeom>
          <a:solidFill>
            <a:srgbClr val="F7ECEC"/>
          </a:solidFill>
          <a:ln w="1905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953512"/>
            <a:ext cx="1673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991B1B"/>
                </a:solidFill>
                <a:latin typeface="Georgia"/>
              </a:rPr>
              <a:t>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319272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7A3A3A"/>
                </a:solidFill>
                <a:latin typeface="Calibri"/>
              </a:rPr>
              <a:t>6-class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50208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D6DE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0208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475569"/>
                </a:solidFill>
                <a:latin typeface="Georgia"/>
              </a:rPr>
              <a:t>θf · frozen 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2,782,784 params · BN forced to eval()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3950208"/>
            <a:ext cx="3547872" cy="457200"/>
          </a:xfrm>
          <a:prstGeom prst="roundRect">
            <a:avLst>
              <a:gd name="adj" fmla="val 15000"/>
            </a:avLst>
          </a:prstGeom>
          <a:solidFill>
            <a:srgbClr val="F7ECEC"/>
          </a:solidFill>
          <a:ln w="12700">
            <a:solidFill>
              <a:srgbClr val="E3C9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395020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991B1B"/>
                </a:solidFill>
                <a:latin typeface="Georgia"/>
              </a:rPr>
              <a:t>θt · trainable   </a:t>
            </a:r>
            <a:r>
              <a:rPr sz="1300" b="0" i="0">
                <a:solidFill>
                  <a:srgbClr val="7A3A3A"/>
                </a:solidFill>
                <a:latin typeface="Calibri"/>
              </a:rPr>
              <a:t>8,396,806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F7ECEC"/>
          </a:solidFill>
          <a:ln w="1270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800600"/>
            <a:ext cx="64008" cy="12344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100126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50" b="1" i="0">
                <a:solidFill>
                  <a:srgbClr val="991B1B"/>
                </a:solidFill>
                <a:latin typeface="Calibri"/>
              </a:rPr>
              <a:t>The subtle bug I avoided:  </a:t>
            </a:r>
            <a:r>
              <a:rPr sz="1450" b="0" i="0">
                <a:solidFill>
                  <a:srgbClr val="7A3A3A"/>
                </a:solidFill>
                <a:latin typeface="Calibri"/>
              </a:rPr>
              <a:t>if frozen BatchNorm layers keep updating their running stats, the representation drifts and training collapses. In both frozen conditions BN stays in eval mode. In Random-Full nothing is frozen, so BN updates normally — different by design, not by accident.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Transfer Learning vs. Random Init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Same data, same recipe, three seeds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64992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22576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991B1B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15184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E293B"/>
                </a:solidFill>
                <a:latin typeface="Georgia"/>
              </a:rPr>
              <a:t>Intel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88950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6 classes: buildings, forest, glacier, mountain, sea, street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12,631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train /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1,403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val /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3,000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test (held out)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Resize 224, center-crop, ImageNet normalize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103120"/>
            <a:ext cx="3364992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22576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991B1B"/>
                </a:solidFill>
                <a:latin typeface="Calibri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15184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E293B"/>
                </a:solidFill>
                <a:latin typeface="Georgia"/>
              </a:rPr>
              <a:t>Identical for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72384"/>
            <a:ext cx="288950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SGD · lr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1e-3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· momentum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0.9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· wd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1e-4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Batch 32 · cross-entropy on θt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Early stop on val loss, patience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16" y="2103120"/>
            <a:ext cx="3364992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322576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991B1B"/>
                </a:solidFill>
                <a:latin typeface="Calibri"/>
              </a:rPr>
              <a:t>RIGOR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15184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E293B"/>
                </a:solidFill>
                <a:latin typeface="Georgia"/>
              </a:rPr>
              <a:t>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072384"/>
            <a:ext cx="288950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3 seeds: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42, 100, 2026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Test split touched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only once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, after model selection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Report mean ± std, not single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Transfer Learning vs. Random 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Pretrained wins — on accuracy and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TEST ACCURACY  ·  mean of 3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E293B"/>
                </a:solidFill>
                <a:latin typeface="Georgia"/>
              </a:rPr>
              <a:t>PT-F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487168"/>
            <a:ext cx="4160520" cy="548640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2487168"/>
            <a:ext cx="3881765" cy="548640"/>
          </a:xfrm>
          <a:prstGeom prst="roundRect">
            <a:avLst>
              <a:gd name="adj" fmla="val 3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0485" y="2487168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93.3%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E293B"/>
                </a:solidFill>
                <a:latin typeface="Georgia"/>
              </a:rPr>
              <a:t>R-FL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291840"/>
            <a:ext cx="4160520" cy="548640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3291840"/>
            <a:ext cx="3523960" cy="548640"/>
          </a:xfrm>
          <a:prstGeom prst="roundRect">
            <a:avLst>
              <a:gd name="adj" fmla="val 3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680" y="3291840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84.7%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E293B"/>
                </a:solidFill>
                <a:latin typeface="Georgia"/>
              </a:rPr>
              <a:t>R-F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096512"/>
            <a:ext cx="4160520" cy="548640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4096512"/>
            <a:ext cx="2766745" cy="54864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5465" y="4096512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66.5%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286000"/>
            <a:ext cx="4434840" cy="212140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2505456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91B1B"/>
                </a:solidFill>
                <a:latin typeface="Calibri"/>
              </a:rPr>
              <a:t>CONVERGENCE &amp;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8895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Calibri"/>
              </a:rPr>
              <a:t>Pretrained-Frozen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89504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991B1B"/>
                </a:solidFill>
                <a:latin typeface="Calibri"/>
              </a:rPr>
              <a:t>8.0 epochs · ~103s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2735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Calibri"/>
              </a:rPr>
              <a:t>Random-Frozen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475569"/>
                </a:solidFill>
                <a:latin typeface="Calibri"/>
              </a:rPr>
              <a:t>8.7 epochs · ~113s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36576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Calibri"/>
              </a:rPr>
              <a:t>Random-Full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475569"/>
                </a:solidFill>
                <a:latin typeface="Calibri"/>
              </a:rPr>
              <a:t>15.0 epochs · ~426s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407822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Calibri"/>
              </a:rPr>
              <a:t>Training from scratch pays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~4× the wall-clock.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93776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7ECEC"/>
          </a:solidFill>
          <a:ln w="12700">
            <a:solidFill>
              <a:srgbClr val="E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937760"/>
            <a:ext cx="64008" cy="105156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10012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50" b="1" i="0">
                <a:solidFill>
                  <a:srgbClr val="991B1B"/>
                </a:solidFill>
                <a:latin typeface="Calibri"/>
              </a:rPr>
              <a:t>Capacity-matched gap: +26.7 points.  </a:t>
            </a:r>
            <a:r>
              <a:rPr sz="1450" b="0" i="0">
                <a:solidFill>
                  <a:srgbClr val="7A3A3A"/>
                </a:solidFill>
                <a:latin typeface="Calibri"/>
              </a:rPr>
              <a:t>PT-F vs R-F — identical trainable parameters and recipe, the only difference is pretrained vs random frozen features. That gap is pretraining, cleanly isolated. Unfreezing everything (R-FL) recovers accuracy but never reaches the pretrained ceiling.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Mean test accuracy over 3 seeds · std ≤ 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Pretrained converges instantly; scratch crawls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642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64748B"/>
                </a:solidFill>
                <a:latin typeface="Calibri"/>
              </a:rPr>
              <a:t>Pretrained-frozen starts near its ceiling and flatlines in ~4 epochs; random-full climbs for 12–17 epochs; random-frozen is noisy and low.</a:t>
            </a:r>
          </a:p>
        </p:txBody>
      </p:sp>
      <p:pic>
        <p:nvPicPr>
          <p:cNvPr id="5" name="Picture 4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2331720"/>
            <a:ext cx="10332720" cy="379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Per-epoch validation metrics · 3 seeds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Pretrained features are already separable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642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64748B"/>
                </a:solidFill>
                <a:latin typeface="Calibri"/>
              </a:rPr>
              <a:t>PCA of the 512-d penultimate features: pretrained-frozen splits the classes (overlaps match the confusion matrix); random-frozen stays entangled.</a:t>
            </a:r>
          </a:p>
        </p:txBody>
      </p:sp>
      <p:pic>
        <p:nvPicPr>
          <p:cNvPr id="5" name="Picture 4" descr="feature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2286000"/>
            <a:ext cx="9052560" cy="39342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Test split · seed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How much fine-tuning do you actually need?</a:t>
            </a:r>
          </a:p>
        </p:txBody>
      </p:sp>
      <p:pic>
        <p:nvPicPr>
          <p:cNvPr id="4" name="Picture 3" descr="abl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583680" cy="3495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2331720"/>
            <a:ext cx="3794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A bare linear probe already hits </a:t>
            </a:r>
            <a:r>
              <a:rPr sz="1400" b="1" i="0">
                <a:solidFill>
                  <a:srgbClr val="991B1B"/>
                </a:solidFill>
                <a:latin typeface="Calibri"/>
              </a:rPr>
              <a:t>91.3%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 — frozen ImageNet features are nearly linearly separable.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Unfreezing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layer4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 adds ~1.6 pts: the boundary used in the main experiments.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layer3, layer2, full fine-tune: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flat at 92.8%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 — 3.6× the params, no gain.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Most of pretraining’s value needs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almost no fine-tuning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Pretrained ResNet-18 · 40% train subset · seed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How far up does the first layer reach?</a:t>
            </a:r>
          </a:p>
        </p:txBody>
      </p:sp>
      <p:pic>
        <p:nvPicPr>
          <p:cNvPr id="4" name="Picture 3" descr="gabo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6766560" cy="3478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2468880"/>
            <a:ext cx="3886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Swap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conv1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for a fixed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Gabor bank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(8 orientations × 4 freqs × 2 phases), freeze it, then unfreeze deeper stages one at a time.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Gabor read-out: </a:t>
            </a:r>
            <a:r>
              <a:rPr sz="1350" b="1" i="0">
                <a:solidFill>
                  <a:srgbClr val="991B1B"/>
                </a:solidFill>
                <a:latin typeface="Calibri"/>
              </a:rPr>
              <a:t>81.1%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— about 10 pts below the learned first layer.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Unfreezing just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layer1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recovers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+5 pts to 86.1%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; layer2–4 add almost nothing.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First-layer influence reaches </a:t>
            </a:r>
            <a:r>
              <a:rPr sz="1350" b="1" i="0">
                <a:solidFill>
                  <a:srgbClr val="991B1B"/>
                </a:solidFill>
                <a:latin typeface="Calibri"/>
              </a:rPr>
              <a:t>~one stage up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. A ~7-pt gap to learned features never closes, even fully trainable.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Gabor vs. learned conv1 · full data · seed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The mistakes are the dataset’s, not the method’s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305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Georgia"/>
              </a:rPr>
              <a:t>Pretrained-Frozen · test confusion (seed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3936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9424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496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" y="2898648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3936" y="28986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936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9424" y="28986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9424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28986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8986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2898648"/>
            <a:ext cx="475488" cy="475488"/>
          </a:xfrm>
          <a:prstGeom prst="rect">
            <a:avLst/>
          </a:prstGeom>
          <a:solidFill>
            <a:srgbClr val="F3D9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28986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91B1B"/>
                </a:solidFill>
                <a:latin typeface="Calibri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74136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33741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73936" y="3374136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9424" y="33741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9424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4912" y="33741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3741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5887" y="33741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5887" y="33741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849624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8448" y="384962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98448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73936" y="384962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3936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9424" y="3849624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9424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24912" y="3849624"/>
            <a:ext cx="475488" cy="475488"/>
          </a:xfrm>
          <a:prstGeom prst="rect">
            <a:avLst/>
          </a:prstGeom>
          <a:solidFill>
            <a:srgbClr val="F3D9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4912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91B1B"/>
                </a:solidFill>
                <a:latin typeface="Calibri"/>
              </a:rPr>
              <a:t>71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84962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75887" y="384962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5887" y="384962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325112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8448" y="432511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98448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73936" y="432511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73936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432511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49424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24912" y="4325112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24912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484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432511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75887" y="432511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75887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4800600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98448" y="4800600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98448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73936" y="4800600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73936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9424" y="4800600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49424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24912" y="4800600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24912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4800600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0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503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75887" y="4800600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75887" y="48006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" y="5276088"/>
            <a:ext cx="384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4748B"/>
                </a:solidFill>
                <a:latin typeface="Calibri"/>
              </a:rPr>
              <a:t>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98448" y="5276088"/>
            <a:ext cx="475488" cy="475488"/>
          </a:xfrm>
          <a:prstGeom prst="rect">
            <a:avLst/>
          </a:prstGeom>
          <a:solidFill>
            <a:srgbClr val="F3D9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98448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91B1B"/>
                </a:solidFill>
                <a:latin typeface="Calibri"/>
              </a:rPr>
              <a:t>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73936" y="527608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73936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49424" y="527608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49424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24912" y="527608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4912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0" y="527608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0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75887" y="5276088"/>
            <a:ext cx="475488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75887" y="52760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473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0" y="2697480"/>
            <a:ext cx="4480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Glacier ↔ Mountain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(71 errors): shared snow, ridges, rock texture — genuinely ambiguous.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Buildings ↔ Street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(26–28): streets contain buildings and vice-versa.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The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same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confusions appear in all three conditions — just far larger for random init.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991B1B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Errors track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visual overlap in the data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, not a broken training setup.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B buildings · F forest · G glacier · M mountain · Se sea · St street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991B1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1E293B"/>
                </a:solidFill>
                <a:latin typeface="Georgia"/>
              </a:rPr>
              <a:t>What the control actually 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755648"/>
            <a:ext cx="566928" cy="4114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E3C9C9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945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1E293B"/>
                </a:solidFill>
                <a:latin typeface="Georgia"/>
              </a:rPr>
              <a:t>Pretraining is the feature quality, not the parameter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633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475569"/>
                </a:solidFill>
                <a:latin typeface="Calibri"/>
              </a:rPr>
              <a:t>Capacity-matched, pretrained features add </a:t>
            </a:r>
            <a:r>
              <a:rPr sz="1450" b="1" i="0">
                <a:solidFill>
                  <a:srgbClr val="991B1B"/>
                </a:solidFill>
                <a:latin typeface="Calibri"/>
              </a:rPr>
              <a:t>+26.7 points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 over random frozen features. The win is the representations themselves.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E3C9C9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520439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1E293B"/>
                </a:solidFill>
                <a:latin typeface="Georgia"/>
              </a:rPr>
              <a:t>Capacity helps, but can’t close 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95935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475569"/>
                </a:solidFill>
                <a:latin typeface="Calibri"/>
              </a:rPr>
              <a:t>Unfreezing everything (Random-Full) recovers to 84.7% — better than random-frozen, yet still ~9 points short of pretraining, at ~4× the compute.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E3C9C9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1E293B"/>
                </a:solidFill>
                <a:latin typeface="Georgia"/>
              </a:rPr>
              <a:t>For small data + tight budgets, transfer learning wins outright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285231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475569"/>
                </a:solidFill>
                <a:latin typeface="Calibri"/>
              </a:rPr>
              <a:t>Best accuracy and fastest convergence. The random-frozen control is what lets me say that with confidence.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Thank you · Questions 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