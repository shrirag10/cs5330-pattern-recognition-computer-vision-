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45920"/>
            <a:ext cx="108813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CS 5330 — Computer Vision — Final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011680"/>
            <a:ext cx="1088136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3800" b="1">
                <a:solidFill>
                  <a:srgbClr val="0F172A"/>
                </a:solidFill>
                <a:latin typeface="Georgia"/>
              </a:defRPr>
            </a:pPr>
            <a:r>
              <a:t>Transfer Learning vs.</a:t>
            </a:r>
            <a:br/>
            <a:r>
              <a:t>Training from Scratch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474720"/>
            <a:ext cx="2560320" cy="3810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3840480"/>
            <a:ext cx="108813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500" b="0">
                <a:solidFill>
                  <a:srgbClr val="334155"/>
                </a:solidFill>
                <a:latin typeface="Calibri"/>
              </a:defRPr>
            </a:pPr>
            <a:r>
              <a:t>A Capacity-Matched Empirical Evaluation using ResNet-18 on the Intel Image Dataset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88136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Calibri"/>
              </a:defRPr>
            </a:pPr>
            <a:r>
              <a:t>Author: Shriman Raghav Srinivasan</a:t>
            </a:r>
            <a:br/>
            <a:r>
              <a:t>Northeastern University  ·  Khoury College of Computer Sciences</a:t>
            </a:r>
            <a:br/>
            <a:r>
              <a:t>Advisors: CS 5330 Computer Vision Instruction Team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2179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100" b="0">
                <a:solidFill>
                  <a:srgbClr val="94A3B8"/>
                </a:solidFill>
                <a:latin typeface="Calibri"/>
              </a:defRPr>
            </a:pPr>
            <a:r>
              <a:t>1 / 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1153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>
                <a:solidFill>
                  <a:srgbClr val="991B1B"/>
                </a:solidFill>
                <a:latin typeface="Georgia"/>
              </a:rPr>
              <a:t>01    </a:t>
            </a:r>
            <a:r>
              <a:rPr sz="2400" b="1">
                <a:solidFill>
                  <a:srgbClr val="0F172A"/>
                </a:solidFill>
                <a:latin typeface="Georgia"/>
              </a:rPr>
              <a:t>The Confound &amp; Experimental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05840"/>
            <a:ext cx="10911535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50292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500" b="1">
                <a:solidFill>
                  <a:srgbClr val="94A3B8"/>
                </a:solidFill>
                <a:latin typeface="Calibri"/>
              </a:defRPr>
            </a:pPr>
            <a:r>
              <a:t>Motivation &amp; Formulation</a:t>
            </a:r>
          </a:p>
          <a:p>
            <a:pPr>
              <a:spcBef>
                <a:spcPts val="800"/>
              </a:spcBef>
              <a:defRPr sz="1400" b="1">
                <a:solidFill>
                  <a:srgbClr val="0F172A"/>
                </a:solidFill>
                <a:latin typeface="Calibri"/>
              </a:defRPr>
            </a:pPr>
            <a:r>
              <a:t>The Core Confound in Transfer Comparisons</a:t>
            </a:r>
          </a:p>
          <a:p>
            <a:pPr>
              <a:spcBef>
                <a:spcPts val="200"/>
              </a:spcBef>
              <a:defRPr sz="1300" b="0">
                <a:solidFill>
                  <a:srgbClr val="334155"/>
                </a:solidFill>
                <a:latin typeface="Calibri"/>
              </a:defRPr>
            </a:pPr>
            <a:r>
              <a:t>Standard evaluations contrast a partially frozen, pre-trained network with a fully trained network from scratch. This confounds weight initialization quality with model trainable capacity (parameter count).</a:t>
            </a:r>
          </a:p>
          <a:p>
            <a:pPr>
              <a:spcBef>
                <a:spcPts val="1400"/>
              </a:spcBef>
              <a:defRPr sz="1400" b="1">
                <a:solidFill>
                  <a:srgbClr val="0F172A"/>
                </a:solidFill>
                <a:latin typeface="Calibri"/>
              </a:defRPr>
            </a:pPr>
            <a:r>
              <a:t>Mathematical Optimization Objective</a:t>
            </a:r>
          </a:p>
          <a:p>
            <a:pPr>
              <a:spcBef>
                <a:spcPts val="200"/>
              </a:spcBef>
              <a:defRPr sz="1300" b="0">
                <a:solidFill>
                  <a:srgbClr val="334155"/>
                </a:solidFill>
                <a:latin typeface="Calibri"/>
              </a:defRPr>
            </a:pPr>
            <a:r>
              <a:t>Let the network parameters θ be split into frozen θf and trainable θt. For all conditions, we optimize θt to minimize cross-entropy loss over N samples: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300" b="1">
                <a:solidFill>
                  <a:srgbClr val="991B1B"/>
                </a:solidFill>
                <a:latin typeface="Georgia"/>
              </a:defRPr>
            </a:pPr>
            <a:r>
              <a:t>   L(θt) = – (1/N) * Σ [ log p_θ(yi | xi) ]</a:t>
            </a:r>
          </a:p>
          <a:p>
            <a:pPr>
              <a:spcBef>
                <a:spcPts val="800"/>
              </a:spcBef>
              <a:defRPr sz="1300" b="1">
                <a:solidFill>
                  <a:srgbClr val="0F172A"/>
                </a:solidFill>
                <a:latin typeface="Calibri"/>
              </a:defRPr>
            </a:pPr>
            <a:r>
              <a:t>Isolating Feature Quality</a:t>
            </a:r>
          </a:p>
          <a:p>
            <a:pPr>
              <a:spcBef>
                <a:spcPts val="200"/>
              </a:spcBef>
              <a:defRPr sz="1200" b="0">
                <a:solidFill>
                  <a:srgbClr val="334155"/>
                </a:solidFill>
                <a:latin typeface="Calibri"/>
              </a:defRPr>
            </a:pPr>
            <a:r>
              <a:t>We hold trainable capacity constant and vary weight initialization to measure the exact contribution of pre-training features.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463040"/>
            <a:ext cx="530352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500" b="1">
                <a:solidFill>
                  <a:srgbClr val="94A3B8"/>
                </a:solidFill>
                <a:latin typeface="Calibri"/>
              </a:defRPr>
            </a:pPr>
            <a:r>
              <a:t>Three Training Conditions</a:t>
            </a:r>
          </a:p>
          <a:p>
            <a:pPr>
              <a:spcBef>
                <a:spcPts val="1400"/>
              </a:spcBef>
              <a:spcAft>
                <a:spcPts val="200"/>
              </a:spcAft>
            </a:pPr>
            <a:r>
              <a:rPr sz="1400" b="1">
                <a:solidFill>
                  <a:srgbClr val="991B1B"/>
                </a:solidFill>
                <a:latin typeface="Georgia"/>
              </a:rPr>
              <a:t>1    </a:t>
            </a:r>
            <a:r>
              <a:rPr sz="1400" b="1">
                <a:solidFill>
                  <a:srgbClr val="0F172A"/>
                </a:solidFill>
                <a:latin typeface="Calibri"/>
              </a:rPr>
              <a:t>Pretrained-Frozen (PT-F)</a:t>
            </a:r>
            <a:r>
              <a:rPr sz="1300" b="0">
                <a:solidFill>
                  <a:srgbClr val="334155"/>
                </a:solidFill>
                <a:latin typeface="Calibri"/>
              </a:rPr>
              <a:t> — Initialized with ImageNet weights. Early layers (θf) frozen; only the final residual stage (layer4) and classification head (fc) are trainable (θt).</a:t>
            </a:r>
          </a:p>
          <a:p>
            <a:pPr>
              <a:spcBef>
                <a:spcPts val="1400"/>
              </a:spcBef>
              <a:spcAft>
                <a:spcPts val="200"/>
              </a:spcAft>
            </a:pPr>
            <a:r>
              <a:rPr sz="1400" b="1">
                <a:solidFill>
                  <a:srgbClr val="991B1B"/>
                </a:solidFill>
                <a:latin typeface="Georgia"/>
              </a:rPr>
              <a:t>2    </a:t>
            </a:r>
            <a:r>
              <a:rPr sz="1400" b="1">
                <a:solidFill>
                  <a:srgbClr val="0F172A"/>
                </a:solidFill>
                <a:latin typeface="Calibri"/>
              </a:rPr>
              <a:t>Random-Frozen (R-F)</a:t>
            </a:r>
            <a:r>
              <a:rPr sz="1300" b="0">
                <a:solidFill>
                  <a:srgbClr val="334155"/>
                </a:solidFill>
                <a:latin typeface="Calibri"/>
              </a:rPr>
              <a:t> — Early layers (θf) randomly initialized and frozen. Uses the exact same trainable capacity (θt) as PT-F. Acts as the capacity-matched control.</a:t>
            </a:r>
          </a:p>
          <a:p>
            <a:pPr>
              <a:spcBef>
                <a:spcPts val="1400"/>
              </a:spcBef>
              <a:spcAft>
                <a:spcPts val="200"/>
              </a:spcAft>
            </a:pPr>
            <a:r>
              <a:rPr sz="1400" b="1">
                <a:solidFill>
                  <a:srgbClr val="991B1B"/>
                </a:solidFill>
                <a:latin typeface="Georgia"/>
              </a:rPr>
              <a:t>3    </a:t>
            </a:r>
            <a:r>
              <a:rPr sz="1400" b="1">
                <a:solidFill>
                  <a:srgbClr val="0F172A"/>
                </a:solidFill>
                <a:latin typeface="Calibri"/>
              </a:rPr>
              <a:t>Random-Full (R-FL)</a:t>
            </a:r>
            <a:r>
              <a:rPr sz="1300" b="0">
                <a:solidFill>
                  <a:srgbClr val="334155"/>
                </a:solidFill>
                <a:latin typeface="Calibri"/>
              </a:rPr>
              <a:t> — Fully trained from scratch. All parameters (both θf and θt) are trainable from random initialization. Serves as the classic capacity baseline.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37215" y="62179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100" b="0">
                <a:solidFill>
                  <a:srgbClr val="94A3B8"/>
                </a:solidFill>
                <a:latin typeface="Calibri"/>
              </a:defRPr>
            </a:pPr>
            <a:r>
              <a:t>2 /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1153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>
                <a:solidFill>
                  <a:srgbClr val="991B1B"/>
                </a:solidFill>
                <a:latin typeface="Georgia"/>
              </a:rPr>
              <a:t>02    </a:t>
            </a:r>
            <a:r>
              <a:rPr sz="2400" b="1">
                <a:solidFill>
                  <a:srgbClr val="0F172A"/>
                </a:solidFill>
                <a:latin typeface="Georgia"/>
              </a:rPr>
              <a:t>Dataset &amp; ResNet-18 Partitioning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05840"/>
            <a:ext cx="10911535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50292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500" b="1">
                <a:solidFill>
                  <a:srgbClr val="94A3B8"/>
                </a:solidFill>
                <a:latin typeface="Calibri"/>
              </a:defRPr>
            </a:pPr>
            <a:r>
              <a:t>Intel Dataset &amp; Preprocessing</a:t>
            </a:r>
          </a:p>
          <a:p>
            <a:pPr>
              <a:spcBef>
                <a:spcPts val="800"/>
              </a:spcBef>
              <a:defRPr sz="1400" b="1">
                <a:solidFill>
                  <a:srgbClr val="0F172A"/>
                </a:solidFill>
                <a:latin typeface="Calibri"/>
              </a:defRPr>
            </a:pPr>
            <a:r>
              <a:t>Data Distribution &amp; Splits</a:t>
            </a:r>
          </a:p>
          <a:p>
            <a:pPr>
              <a:spcBef>
                <a:spcPts val="200"/>
              </a:spcBef>
              <a:defRPr sz="1300" b="0">
                <a:solidFill>
                  <a:srgbClr val="334155"/>
                </a:solidFill>
                <a:latin typeface="Calibri"/>
              </a:defRPr>
            </a:pPr>
            <a:r>
              <a:t>Intel Image Classification dataset contains 150×150 px natural scene images across 6 classes: buildings, forest, glacier, mountain, sea, street. Standard training split (14,034 images) is divided into 12,631 train (90%) and 1,403 validation (10%) via class-stratified sampling. Held-out test set contains 3,000 images.</a:t>
            </a:r>
          </a:p>
          <a:p>
            <a:pPr>
              <a:spcBef>
                <a:spcPts val="1400"/>
              </a:spcBef>
              <a:defRPr sz="1400" b="1">
                <a:solidFill>
                  <a:srgbClr val="0F172A"/>
                </a:solidFill>
                <a:latin typeface="Calibri"/>
              </a:defRPr>
            </a:pPr>
            <a:r>
              <a:t>Strict Preprocessing Pipeline</a:t>
            </a:r>
          </a:p>
          <a:p>
            <a:pPr>
              <a:spcBef>
                <a:spcPts val="200"/>
              </a:spcBef>
              <a:defRPr sz="1300" b="0">
                <a:solidFill>
                  <a:srgbClr val="334155"/>
                </a:solidFill>
                <a:latin typeface="Calibri"/>
              </a:defRPr>
            </a:pPr>
            <a:r>
              <a:t>To match the model architecture requirements and maintain domain consistency:</a:t>
            </a:r>
            <a:br/>
            <a:r>
              <a:t>• Resize shorter side to 224px (bilinear interpolation)</a:t>
            </a:r>
            <a:br/>
            <a:r>
              <a:t>• Center-crop to 224 × 224 pixels</a:t>
            </a:r>
            <a:br/>
            <a:r>
              <a:t>• Per-channel ImageNet normalize: μ = [0.485, 0.456, 0.406], σ = [0.229, 0.224, 0.225]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463040"/>
            <a:ext cx="530352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500" b="1">
                <a:solidFill>
                  <a:srgbClr val="94A3B8"/>
                </a:solidFill>
                <a:latin typeface="Calibri"/>
              </a:defRPr>
            </a:pPr>
            <a:r>
              <a:t>ResNet-18 Partition Boundaries</a:t>
            </a:r>
          </a:p>
          <a:p>
            <a:pPr>
              <a:spcBef>
                <a:spcPts val="1400"/>
              </a:spcBef>
              <a:spcAft>
                <a:spcPts val="200"/>
              </a:spcAft>
            </a:pPr>
            <a:r>
              <a:rPr sz="1400" b="1">
                <a:solidFill>
                  <a:srgbClr val="991B1B"/>
                </a:solidFill>
                <a:latin typeface="Georgia"/>
              </a:rPr>
              <a:t>1    </a:t>
            </a:r>
            <a:r>
              <a:rPr sz="1400" b="1">
                <a:solidFill>
                  <a:srgbClr val="0F172A"/>
                </a:solidFill>
                <a:latin typeface="Calibri"/>
              </a:rPr>
              <a:t>Frozen Parameters Block (θf)</a:t>
            </a:r>
            <a:r>
              <a:rPr sz="1300" b="0">
                <a:solidFill>
                  <a:srgbClr val="334155"/>
                </a:solidFill>
                <a:latin typeface="Calibri"/>
              </a:rPr>
              <a:t> — Input convolution (conv1), first batchnorm (bn1), and residual stages layer1, layer2, and layer3. Total parameter count is 2,782,784 (frozen).</a:t>
            </a:r>
          </a:p>
          <a:p>
            <a:pPr>
              <a:spcBef>
                <a:spcPts val="1400"/>
              </a:spcBef>
              <a:spcAft>
                <a:spcPts val="200"/>
              </a:spcAft>
            </a:pPr>
            <a:r>
              <a:rPr sz="1400" b="1">
                <a:solidFill>
                  <a:srgbClr val="991B1B"/>
                </a:solidFill>
                <a:latin typeface="Georgia"/>
              </a:rPr>
              <a:t>2    </a:t>
            </a:r>
            <a:r>
              <a:rPr sz="1400" b="1">
                <a:solidFill>
                  <a:srgbClr val="0F172A"/>
                </a:solidFill>
                <a:latin typeface="Calibri"/>
              </a:rPr>
              <a:t>Trainable Parameters Block (θt)</a:t>
            </a:r>
            <a:r>
              <a:rPr sz="1300" b="0">
                <a:solidFill>
                  <a:srgbClr val="334155"/>
                </a:solidFill>
                <a:latin typeface="Calibri"/>
              </a:rPr>
              <a:t> — Final residual stage (layer4) and 6-class output fully-connected layer (fc). Total parameter count is 8,396,806 (optimized).</a:t>
            </a:r>
          </a:p>
          <a:p>
            <a:pPr>
              <a:spcBef>
                <a:spcPts val="1400"/>
              </a:spcBef>
              <a:spcAft>
                <a:spcPts val="200"/>
              </a:spcAft>
            </a:pPr>
            <a:r>
              <a:rPr sz="1400" b="1">
                <a:solidFill>
                  <a:srgbClr val="991B1B"/>
                </a:solidFill>
                <a:latin typeface="Georgia"/>
              </a:rPr>
              <a:t>3    </a:t>
            </a:r>
            <a:r>
              <a:rPr sz="1400" b="1">
                <a:solidFill>
                  <a:srgbClr val="0F172A"/>
                </a:solidFill>
                <a:latin typeface="Calibri"/>
              </a:rPr>
              <a:t>Locked Batch Normalization Rule</a:t>
            </a:r>
            <a:r>
              <a:rPr sz="1300" b="0">
                <a:solidFill>
                  <a:srgbClr val="334155"/>
                </a:solidFill>
                <a:latin typeface="Calibri"/>
              </a:rPr>
              <a:t> — BN layers in θf are forced into eval() mode during training. This locks their running mean and variance, preventing update updates from corrupting representation statistics.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37215" y="62179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100" b="0">
                <a:solidFill>
                  <a:srgbClr val="94A3B8"/>
                </a:solidFill>
                <a:latin typeface="Calibri"/>
              </a:defRPr>
            </a:pPr>
            <a:r>
              <a:t>3 /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1153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>
                <a:solidFill>
                  <a:srgbClr val="991B1B"/>
                </a:solidFill>
                <a:latin typeface="Georgia"/>
              </a:rPr>
              <a:t>03    </a:t>
            </a:r>
            <a:r>
              <a:rPr sz="2400" b="1">
                <a:solidFill>
                  <a:srgbClr val="0F172A"/>
                </a:solidFill>
                <a:latin typeface="Georgia"/>
              </a:rPr>
              <a:t>Test Performance &amp; Statistics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05840"/>
            <a:ext cx="10911535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50292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500" b="1">
                <a:solidFill>
                  <a:srgbClr val="94A3B8"/>
                </a:solidFill>
                <a:latin typeface="Calibri"/>
              </a:defRPr>
            </a:pPr>
            <a:r>
              <a:t>Experimental Metrics</a:t>
            </a:r>
          </a:p>
          <a:p>
            <a:pPr>
              <a:spcBef>
                <a:spcPts val="800"/>
              </a:spcBef>
              <a:defRPr sz="1400" b="1">
                <a:solidFill>
                  <a:srgbClr val="0F172A"/>
                </a:solidFill>
                <a:latin typeface="Calibri"/>
              </a:defRPr>
            </a:pPr>
            <a:r>
              <a:t>Empirical Test Results (Mean ± Std Dev)</a:t>
            </a:r>
          </a:p>
          <a:p>
            <a:pPr>
              <a:spcBef>
                <a:spcPts val="200"/>
              </a:spcBef>
              <a:defRPr sz="1300" b="0">
                <a:solidFill>
                  <a:srgbClr val="334155"/>
                </a:solidFill>
                <a:latin typeface="Calibri"/>
              </a:defRPr>
            </a:pPr>
            <a:r>
              <a:t>Evaluated on the held-out test split of 3,000 images across 3 random seeds (42, 100, 2026):</a:t>
            </a:r>
          </a:p>
          <a:p>
            <a:pPr>
              <a:spcBef>
                <a:spcPts val="8640"/>
              </a:spcBef>
              <a:defRPr sz="1300" b="1">
                <a:solidFill>
                  <a:srgbClr val="0F172A"/>
                </a:solidFill>
                <a:latin typeface="Calibri"/>
              </a:defRPr>
            </a:pPr>
            <a:r>
              <a:t>Key Statistical Takeaway</a:t>
            </a:r>
          </a:p>
          <a:p>
            <a:pPr>
              <a:spcBef>
                <a:spcPts val="200"/>
              </a:spcBef>
              <a:defRPr sz="1200" b="0">
                <a:solidFill>
                  <a:srgbClr val="334155"/>
                </a:solidFill>
                <a:latin typeface="Calibri"/>
              </a:defRPr>
            </a:pPr>
            <a:r>
              <a:t>PT-F outperforms R-F by 26.73% absolute accuracy, isolating the vast superiority of ImageNet weights under identical model capacity. PT-F also beats R-FL (fully trainable scratch baseline) by 8.58%, illustrating that pre-training functions as a stronger regularizer than network scale alone.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468880"/>
          <a:ext cx="502920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1463040"/>
                <a:gridCol w="1463040"/>
              </a:tblGrid>
              <a:tr h="32004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</a:defRPr>
                      </a:pPr>
                      <a:r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</a:defRPr>
                      </a:pPr>
                      <a:r>
                        <a:t>Mean Test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</a:defRPr>
                      </a:pPr>
                      <a:r>
                        <a:t>Std Dev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Pretrained-Frozen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91B1B"/>
                          </a:solidFill>
                        </a:defRPr>
                      </a:pPr>
                      <a:r>
                        <a:t>93.27%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±0.23%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Random-Full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</a:defRPr>
                      </a:pPr>
                      <a:r>
                        <a:t>84.69%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±1.87%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Random-Frozen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</a:defRPr>
                      </a:pPr>
                      <a:r>
                        <a:t>66.54%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±4.04%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6" name="Picture 5" descr="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463040"/>
            <a:ext cx="5303520" cy="329546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637215" y="62179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100" b="0">
                <a:solidFill>
                  <a:srgbClr val="94A3B8"/>
                </a:solidFill>
                <a:latin typeface="Calibri"/>
              </a:defRPr>
            </a:pPr>
            <a:r>
              <a:t>4 /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1153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>
                <a:solidFill>
                  <a:srgbClr val="991B1B"/>
                </a:solidFill>
                <a:latin typeface="Georgia"/>
              </a:rPr>
              <a:t>04    </a:t>
            </a:r>
            <a:r>
              <a:rPr sz="2400" b="1">
                <a:solidFill>
                  <a:srgbClr val="0F172A"/>
                </a:solidFill>
                <a:latin typeface="Georgia"/>
              </a:rPr>
              <a:t>Training Dynamics &amp; Optimization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05840"/>
            <a:ext cx="10911535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63040"/>
            <a:ext cx="6217920" cy="209555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0" y="1463040"/>
            <a:ext cx="420624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500" b="1">
                <a:solidFill>
                  <a:srgbClr val="94A3B8"/>
                </a:solidFill>
                <a:latin typeface="Calibri"/>
              </a:defRPr>
            </a:pPr>
            <a:r>
              <a:t>Optimization &amp; Speed</a:t>
            </a:r>
          </a:p>
          <a:p>
            <a:pPr>
              <a:spcBef>
                <a:spcPts val="800"/>
              </a:spcBef>
              <a:defRPr sz="1300" b="1">
                <a:solidFill>
                  <a:srgbClr val="0F172A"/>
                </a:solidFill>
                <a:latin typeface="Calibri"/>
              </a:defRPr>
            </a:pPr>
            <a:r>
              <a:t>Training Hyperparameters</a:t>
            </a:r>
          </a:p>
          <a:p>
            <a:pPr>
              <a:spcBef>
                <a:spcPts val="200"/>
              </a:spcBef>
              <a:defRPr sz="1200" b="0">
                <a:solidFill>
                  <a:srgbClr val="334155"/>
                </a:solidFill>
                <a:latin typeface="Calibri"/>
              </a:defRPr>
            </a:pPr>
            <a:r>
              <a:t>• Optimizer: SGD with momentum = 0.9</a:t>
            </a:r>
            <a:br/>
            <a:r>
              <a:t>• Weight Decay: 1 × 10⁻⁴ | Learning Rate: 1 × 10⁻³</a:t>
            </a:r>
            <a:br/>
            <a:r>
              <a:t>• Batch Size: 32 | Validation patience = 5 epochs</a:t>
            </a:r>
          </a:p>
          <a:p>
            <a:pPr>
              <a:spcBef>
                <a:spcPts val="1200"/>
              </a:spcBef>
              <a:defRPr sz="1300" b="1">
                <a:solidFill>
                  <a:srgbClr val="0F172A"/>
                </a:solidFill>
                <a:latin typeface="Calibri"/>
              </a:defRPr>
            </a:pPr>
            <a:r>
              <a:t>Convergence Epochs &amp; Compute Duration</a:t>
            </a:r>
          </a:p>
          <a:p>
            <a:pPr>
              <a:spcBef>
                <a:spcPts val="200"/>
              </a:spcBef>
              <a:defRPr sz="1200" b="0">
                <a:solidFill>
                  <a:srgbClr val="334155"/>
                </a:solidFill>
                <a:latin typeface="Calibri"/>
              </a:defRPr>
            </a:pPr>
            <a:r>
              <a:t>• PT-Frozen: Converges in 8.0 epochs mean (102.5s duration). Starts immediately at high val accuracy (&gt;90% in epoch 1).</a:t>
            </a:r>
            <a:br/>
            <a:r>
              <a:t>• Random-Frozen: Converges in 8.7 epochs mean (112.8s duration) but plateaus at low validation accuracy (67.8%).</a:t>
            </a:r>
            <a:br/>
            <a:r>
              <a:t>• Random-Full: Requires 15.0 epochs mean (425.7s duration). Needs nearly twice as many epochs and 4× more compute time.</a:t>
            </a:r>
          </a:p>
          <a:p>
            <a:pPr>
              <a:spcBef>
                <a:spcPts val="1200"/>
              </a:spcBef>
              <a:defRPr sz="1300" b="1">
                <a:solidFill>
                  <a:srgbClr val="0F172A"/>
                </a:solidFill>
                <a:latin typeface="Calibri"/>
              </a:defRPr>
            </a:pPr>
            <a:r>
              <a:t>Early Stopping Behavior</a:t>
            </a:r>
          </a:p>
          <a:p>
            <a:pPr>
              <a:spcBef>
                <a:spcPts val="200"/>
              </a:spcBef>
              <a:defRPr sz="1200" b="0">
                <a:solidFill>
                  <a:srgbClr val="334155"/>
                </a:solidFill>
                <a:latin typeface="Calibri"/>
              </a:defRPr>
            </a:pPr>
            <a:r>
              <a:t>Early stopping on validation loss successfully prevents overfitting. R-FL continues to improve steadily but exhibits high seed variance, whereas PT-F converges to a flat validation trajectory immediately.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37215" y="62179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100" b="0">
                <a:solidFill>
                  <a:srgbClr val="94A3B8"/>
                </a:solidFill>
                <a:latin typeface="Calibri"/>
              </a:defRPr>
            </a:pPr>
            <a:r>
              <a:t>5 /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1153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>
                <a:solidFill>
                  <a:srgbClr val="991B1B"/>
                </a:solidFill>
                <a:latin typeface="Georgia"/>
              </a:rPr>
              <a:t>05    </a:t>
            </a:r>
            <a:r>
              <a:rPr sz="2400" b="1">
                <a:solidFill>
                  <a:srgbClr val="0F172A"/>
                </a:solidFill>
                <a:latin typeface="Georgia"/>
              </a:rPr>
              <a:t>Confusion &amp; Class F1 Analysis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05840"/>
            <a:ext cx="10911535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n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63040"/>
            <a:ext cx="6217920" cy="17934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0" y="1463040"/>
            <a:ext cx="420624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500" b="1">
                <a:solidFill>
                  <a:srgbClr val="94A3B8"/>
                </a:solidFill>
                <a:latin typeface="Calibri"/>
              </a:defRPr>
            </a:pPr>
            <a:r>
              <a:t>Per-class Findings</a:t>
            </a:r>
          </a:p>
          <a:p>
            <a:pPr>
              <a:spcBef>
                <a:spcPts val="800"/>
              </a:spcBef>
              <a:defRPr sz="1300" b="1">
                <a:solidFill>
                  <a:srgbClr val="0F172A"/>
                </a:solidFill>
                <a:latin typeface="Calibri"/>
              </a:defRPr>
            </a:pPr>
            <a:r>
              <a:t>Glacier vs. Mountain Confusion</a:t>
            </a:r>
          </a:p>
          <a:p>
            <a:pPr>
              <a:spcBef>
                <a:spcPts val="200"/>
              </a:spcBef>
              <a:defRPr sz="1200" b="0">
                <a:solidFill>
                  <a:srgbClr val="334155"/>
                </a:solidFill>
                <a:latin typeface="Calibri"/>
              </a:defRPr>
            </a:pPr>
            <a:r>
              <a:t>Glaciers and mountains exhibit high visual similarity (white snow, jagged grey rock textures), causing major mutual confusion across all conditions. Representative PT-F seed misclassifies 41 mountain images as glacier and 55 glacier images as mountain.</a:t>
            </a:r>
          </a:p>
          <a:p>
            <a:pPr>
              <a:spcBef>
                <a:spcPts val="1200"/>
              </a:spcBef>
              <a:defRPr sz="1300" b="1">
                <a:solidFill>
                  <a:srgbClr val="0F172A"/>
                </a:solidFill>
                <a:latin typeface="Calibri"/>
              </a:defRPr>
            </a:pPr>
            <a:r>
              <a:t>Buildings vs. Street Confusion</a:t>
            </a:r>
          </a:p>
          <a:p>
            <a:pPr>
              <a:spcBef>
                <a:spcPts val="200"/>
              </a:spcBef>
              <a:defRPr sz="1200" b="0">
                <a:solidFill>
                  <a:srgbClr val="334155"/>
                </a:solidFill>
                <a:latin typeface="Calibri"/>
              </a:defRPr>
            </a:pPr>
            <a:r>
              <a:t>Urban images frequently co-occur (streets contain buildings in the background), leading to high confusion rates (29 street images classified as buildings).</a:t>
            </a:r>
          </a:p>
          <a:p>
            <a:pPr>
              <a:spcBef>
                <a:spcPts val="1200"/>
              </a:spcBef>
              <a:defRPr sz="1300" b="1">
                <a:solidFill>
                  <a:srgbClr val="0F172A"/>
                </a:solidFill>
                <a:latin typeface="Calibri"/>
              </a:defRPr>
            </a:pPr>
            <a:r>
              <a:t>Strongest Categories</a:t>
            </a:r>
          </a:p>
          <a:p>
            <a:pPr>
              <a:spcBef>
                <a:spcPts val="200"/>
              </a:spcBef>
              <a:defRPr sz="1200" b="0">
                <a:solidFill>
                  <a:srgbClr val="334155"/>
                </a:solidFill>
                <a:latin typeface="Calibri"/>
              </a:defRPr>
            </a:pPr>
            <a:r>
              <a:t>Forest has the highest F1 score (PT-F: 99.8%) due to distinct green hue and texture patterns. Sea achieves excellent F1 (96.5%).</a:t>
            </a:r>
          </a:p>
          <a:p>
            <a:pPr>
              <a:spcBef>
                <a:spcPts val="1200"/>
              </a:spcBef>
              <a:defRPr sz="1300" b="1">
                <a:solidFill>
                  <a:srgbClr val="0F172A"/>
                </a:solidFill>
                <a:latin typeface="Calibri"/>
              </a:defRPr>
            </a:pPr>
            <a:r>
              <a:t>Scratch training F1 drop</a:t>
            </a:r>
          </a:p>
          <a:p>
            <a:pPr>
              <a:spcBef>
                <a:spcPts val="200"/>
              </a:spcBef>
              <a:defRPr sz="1200" b="0">
                <a:solidFill>
                  <a:srgbClr val="334155"/>
                </a:solidFill>
                <a:latin typeface="Calibri"/>
              </a:defRPr>
            </a:pPr>
            <a:r>
              <a:t>R-FL achieves lower F1 scores across the board (Forest: 94.8%, Glacier: 73.5%, Mountain: 78.3%), proving that scratch features struggle with subtle boundary details.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37215" y="62179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100" b="0">
                <a:solidFill>
                  <a:srgbClr val="94A3B8"/>
                </a:solidFill>
                <a:latin typeface="Calibri"/>
              </a:defRPr>
            </a:pPr>
            <a:r>
              <a:t>6 /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1153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>
                <a:solidFill>
                  <a:srgbClr val="991B1B"/>
                </a:solidFill>
                <a:latin typeface="Georgia"/>
              </a:rPr>
              <a:t>06    </a:t>
            </a:r>
            <a:r>
              <a:rPr sz="2400" b="1">
                <a:solidFill>
                  <a:srgbClr val="0F172A"/>
                </a:solidFill>
                <a:latin typeface="Georgia"/>
              </a:rPr>
              <a:t>Discussion &amp; Conclusions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05840"/>
            <a:ext cx="10911535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50292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500" b="1">
                <a:solidFill>
                  <a:srgbClr val="94A3B8"/>
                </a:solidFill>
                <a:latin typeface="Calibri"/>
              </a:defRPr>
            </a:pPr>
            <a:r>
              <a:t>Scientific Discussion</a:t>
            </a:r>
          </a:p>
          <a:p>
            <a:pPr>
              <a:spcBef>
                <a:spcPts val="800"/>
              </a:spcBef>
              <a:defRPr sz="1400" b="1">
                <a:solidFill>
                  <a:srgbClr val="0F172A"/>
                </a:solidFill>
                <a:latin typeface="Calibri"/>
              </a:defRPr>
            </a:pPr>
            <a:r>
              <a:t>Pretraining Quality vs. Trainable Capacity</a:t>
            </a:r>
          </a:p>
          <a:p>
            <a:pPr>
              <a:spcBef>
                <a:spcPts val="200"/>
              </a:spcBef>
              <a:defRPr sz="1300" b="0">
                <a:solidFill>
                  <a:srgbClr val="334155"/>
                </a:solidFill>
                <a:latin typeface="Calibri"/>
              </a:defRPr>
            </a:pPr>
            <a:r>
              <a:t>The capacity control (R-F) establishes that freezing early layers restricts trainable capacity, leading to poor scratch performance (+26.73% accuracy gap). In contrast, pre-trained weights (PT-F) furnish structured, highly generalizable features (edges, textures, shapes) that adapt seamlessly.</a:t>
            </a:r>
          </a:p>
          <a:p>
            <a:pPr>
              <a:spcBef>
                <a:spcPts val="1400"/>
              </a:spcBef>
              <a:defRPr sz="1400" b="1">
                <a:solidFill>
                  <a:srgbClr val="0F172A"/>
                </a:solidFill>
                <a:latin typeface="Calibri"/>
              </a:defRPr>
            </a:pPr>
            <a:r>
              <a:t>Revisiting Literature (He et al. 2019)</a:t>
            </a:r>
          </a:p>
          <a:p>
            <a:pPr>
              <a:spcBef>
                <a:spcPts val="200"/>
              </a:spcBef>
              <a:defRPr sz="1300" b="0">
                <a:solidFill>
                  <a:srgbClr val="334155"/>
                </a:solidFill>
                <a:latin typeface="Calibri"/>
              </a:defRPr>
            </a:pPr>
            <a:r>
              <a:t>He et al. showed that training from scratch can match pre-training with enough time and data. Our results confirm that under a tight training patience budget and modest target data size, transfer learning is highly essential, outperforming scratch by 8.58% in 4× less time.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463040"/>
            <a:ext cx="530352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500" b="1">
                <a:solidFill>
                  <a:srgbClr val="94A3B8"/>
                </a:solidFill>
                <a:latin typeface="Calibri"/>
              </a:defRPr>
            </a:pPr>
            <a:r>
              <a:t>Future Work &amp; Summary</a:t>
            </a:r>
          </a:p>
          <a:p>
            <a:pPr>
              <a:spcBef>
                <a:spcPts val="1400"/>
              </a:spcBef>
              <a:spcAft>
                <a:spcPts val="200"/>
              </a:spcAft>
            </a:pPr>
            <a:r>
              <a:rPr sz="1400" b="1">
                <a:solidFill>
                  <a:srgbClr val="991B1B"/>
                </a:solidFill>
                <a:latin typeface="Georgia"/>
              </a:rPr>
              <a:t>1    </a:t>
            </a:r>
            <a:r>
              <a:rPr sz="1400" b="1">
                <a:solidFill>
                  <a:srgbClr val="0F172A"/>
                </a:solidFill>
                <a:latin typeface="Calibri"/>
              </a:rPr>
              <a:t>Vary the frozen boundary</a:t>
            </a:r>
            <a:r>
              <a:rPr sz="1300" b="0">
                <a:solidFill>
                  <a:srgbClr val="334155"/>
                </a:solidFill>
                <a:latin typeface="Calibri"/>
              </a:rPr>
              <a:t> — Test fine-tuning with fewer/more frozen layers (e.g. freeze layer1-2) to investigate where task-specific representations begin.</a:t>
            </a:r>
          </a:p>
          <a:p>
            <a:pPr>
              <a:spcBef>
                <a:spcPts val="1400"/>
              </a:spcBef>
              <a:spcAft>
                <a:spcPts val="200"/>
              </a:spcAft>
            </a:pPr>
            <a:r>
              <a:rPr sz="1400" b="1">
                <a:solidFill>
                  <a:srgbClr val="991B1B"/>
                </a:solidFill>
                <a:latin typeface="Georgia"/>
              </a:rPr>
              <a:t>2    </a:t>
            </a:r>
            <a:r>
              <a:rPr sz="1400" b="1">
                <a:solidFill>
                  <a:srgbClr val="0F172A"/>
                </a:solidFill>
                <a:latin typeface="Calibri"/>
              </a:rPr>
              <a:t>Evaluate larger backbones</a:t>
            </a:r>
            <a:r>
              <a:rPr sz="1300" b="0">
                <a:solidFill>
                  <a:srgbClr val="334155"/>
                </a:solidFill>
                <a:latin typeface="Calibri"/>
              </a:rPr>
              <a:t> — Extend this capacity-matched analysis to deeper models (ResNet-50) or non-convolutional backbones (Vision Transformers).</a:t>
            </a:r>
          </a:p>
          <a:p>
            <a:pPr>
              <a:spcBef>
                <a:spcPts val="1400"/>
              </a:spcBef>
              <a:spcAft>
                <a:spcPts val="200"/>
              </a:spcAft>
            </a:pPr>
            <a:r>
              <a:rPr sz="1400" b="1">
                <a:solidFill>
                  <a:srgbClr val="991B1B"/>
                </a:solidFill>
                <a:latin typeface="Georgia"/>
              </a:rPr>
              <a:t>3    </a:t>
            </a:r>
            <a:r>
              <a:rPr sz="1400" b="1">
                <a:solidFill>
                  <a:srgbClr val="0F172A"/>
                </a:solidFill>
                <a:latin typeface="Calibri"/>
              </a:rPr>
              <a:t>Progressive unfreezing</a:t>
            </a:r>
            <a:r>
              <a:rPr sz="1300" b="0">
                <a:solidFill>
                  <a:srgbClr val="334155"/>
                </a:solidFill>
                <a:latin typeface="Calibri"/>
              </a:rPr>
              <a:t> — Apply learning rate warmup and gradually unlock layers from back to front during training to avoid representation collapse.</a:t>
            </a:r>
          </a:p>
          <a:p>
            <a:pPr>
              <a:spcBef>
                <a:spcPts val="1400"/>
              </a:spcBef>
              <a:spcAft>
                <a:spcPts val="200"/>
              </a:spcAft>
            </a:pPr>
            <a:r>
              <a:rPr sz="1400" b="1">
                <a:solidFill>
                  <a:srgbClr val="991B1B"/>
                </a:solidFill>
                <a:latin typeface="Georgia"/>
              </a:rPr>
              <a:t>4    </a:t>
            </a:r>
            <a:r>
              <a:rPr sz="1400" b="1">
                <a:solidFill>
                  <a:srgbClr val="0F172A"/>
                </a:solidFill>
                <a:latin typeface="Calibri"/>
              </a:rPr>
              <a:t>Advanced augmentations</a:t>
            </a:r>
            <a:r>
              <a:rPr sz="1300" b="0">
                <a:solidFill>
                  <a:srgbClr val="334155"/>
                </a:solidFill>
                <a:latin typeface="Calibri"/>
              </a:rPr>
              <a:t> — Examine if severe augmentations (MixUp, RandAugment) can help scratch models (R-FL) close the generalization gap.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37215" y="62179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100" b="0">
                <a:solidFill>
                  <a:srgbClr val="94A3B8"/>
                </a:solidFill>
                <a:latin typeface="Calibri"/>
              </a:defRPr>
            </a:pPr>
            <a:r>
              <a:t>7 /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